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48"/>
  </p:notesMasterIdLst>
  <p:sldIdLst>
    <p:sldId id="256" r:id="rId2"/>
    <p:sldId id="264" r:id="rId3"/>
    <p:sldId id="265" r:id="rId4"/>
    <p:sldId id="267" r:id="rId5"/>
    <p:sldId id="266" r:id="rId6"/>
    <p:sldId id="303" r:id="rId7"/>
    <p:sldId id="268" r:id="rId8"/>
    <p:sldId id="269" r:id="rId9"/>
    <p:sldId id="270" r:id="rId10"/>
    <p:sldId id="273" r:id="rId11"/>
    <p:sldId id="274" r:id="rId12"/>
    <p:sldId id="275" r:id="rId13"/>
    <p:sldId id="271" r:id="rId14"/>
    <p:sldId id="276" r:id="rId15"/>
    <p:sldId id="277" r:id="rId16"/>
    <p:sldId id="278" r:id="rId17"/>
    <p:sldId id="279" r:id="rId18"/>
    <p:sldId id="280" r:id="rId19"/>
    <p:sldId id="281" r:id="rId20"/>
    <p:sldId id="282" r:id="rId21"/>
    <p:sldId id="283" r:id="rId22"/>
    <p:sldId id="284" r:id="rId23"/>
    <p:sldId id="285" r:id="rId24"/>
    <p:sldId id="286" r:id="rId25"/>
    <p:sldId id="304" r:id="rId26"/>
    <p:sldId id="305" r:id="rId27"/>
    <p:sldId id="306" r:id="rId28"/>
    <p:sldId id="307" r:id="rId29"/>
    <p:sldId id="308" r:id="rId30"/>
    <p:sldId id="287" r:id="rId31"/>
    <p:sldId id="288" r:id="rId32"/>
    <p:sldId id="289" r:id="rId33"/>
    <p:sldId id="272" r:id="rId34"/>
    <p:sldId id="290" r:id="rId35"/>
    <p:sldId id="291" r:id="rId36"/>
    <p:sldId id="292" r:id="rId37"/>
    <p:sldId id="293" r:id="rId38"/>
    <p:sldId id="294" r:id="rId39"/>
    <p:sldId id="295" r:id="rId40"/>
    <p:sldId id="296" r:id="rId41"/>
    <p:sldId id="297" r:id="rId42"/>
    <p:sldId id="298" r:id="rId43"/>
    <p:sldId id="299" r:id="rId44"/>
    <p:sldId id="300" r:id="rId45"/>
    <p:sldId id="302" r:id="rId46"/>
    <p:sldId id="301" r:id="rId47"/>
  </p:sldIdLst>
  <p:sldSz cx="14630400" cy="8229600"/>
  <p:notesSz cx="8229600" cy="14630400"/>
  <p:embeddedFontLst>
    <p:embeddedFont>
      <p:font typeface="Gill Sans MT" panose="020B0502020104020203" pitchFamily="34" charset="0"/>
      <p:regular r:id="rId49"/>
      <p:bold r:id="rId50"/>
      <p:italic r:id="rId51"/>
      <p:boldItalic r:id="rId52"/>
    </p:embeddedFont>
    <p:embeddedFont>
      <p:font typeface="Tw Cen MT" panose="020B0602020104020603" pitchFamily="34" charset="0"/>
      <p:regular r:id="rId53"/>
      <p:bold r:id="rId54"/>
      <p:italic r:id="rId55"/>
      <p:boldItalic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8CF1F9-9920-D447-9B0B-1EAE50F7A698}" v="16" dt="2026-06-19T12:46:31.7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9"/>
  </p:normalViewPr>
  <p:slideViewPr>
    <p:cSldViewPr snapToGrid="0" showGuides="1">
      <p:cViewPr varScale="1">
        <p:scale>
          <a:sx n="62" d="100"/>
          <a:sy n="62" d="100"/>
        </p:scale>
        <p:origin x="9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Debasish Gomes" userId="31aaee4c-98db-411b-a50d-36f441627d61" providerId="ADAL" clId="{56E0B299-8CE6-5BD4-A261-5D5D22B7F92F}"/>
    <pc:docChg chg="addSld delSld modSld">
      <pc:chgData name="Anthony Debasish Gomes" userId="31aaee4c-98db-411b-a50d-36f441627d61" providerId="ADAL" clId="{56E0B299-8CE6-5BD4-A261-5D5D22B7F92F}" dt="2026-06-19T15:43:49.655" v="7" actId="2696"/>
      <pc:docMkLst>
        <pc:docMk/>
      </pc:docMkLst>
      <pc:sldChg chg="modSp mod">
        <pc:chgData name="Anthony Debasish Gomes" userId="31aaee4c-98db-411b-a50d-36f441627d61" providerId="ADAL" clId="{56E0B299-8CE6-5BD4-A261-5D5D22B7F92F}" dt="2026-06-19T13:12:18.683" v="5" actId="122"/>
        <pc:sldMkLst>
          <pc:docMk/>
          <pc:sldMk cId="0" sldId="260"/>
        </pc:sldMkLst>
        <pc:spChg chg="mod">
          <ac:chgData name="Anthony Debasish Gomes" userId="31aaee4c-98db-411b-a50d-36f441627d61" providerId="ADAL" clId="{56E0B299-8CE6-5BD4-A261-5D5D22B7F92F}" dt="2026-06-19T13:12:18.683" v="5" actId="122"/>
          <ac:spMkLst>
            <pc:docMk/>
            <pc:sldMk cId="0" sldId="260"/>
            <ac:spMk id="12" creationId="{94C5531D-B93E-0AD7-8FD1-32CEC6A17544}"/>
          </ac:spMkLst>
        </pc:spChg>
      </pc:sldChg>
      <pc:sldChg chg="modSp mod">
        <pc:chgData name="Anthony Debasish Gomes" userId="31aaee4c-98db-411b-a50d-36f441627d61" providerId="ADAL" clId="{56E0B299-8CE6-5BD4-A261-5D5D22B7F92F}" dt="2026-06-19T13:11:43.840" v="3" actId="122"/>
        <pc:sldMkLst>
          <pc:docMk/>
          <pc:sldMk cId="0" sldId="264"/>
        </pc:sldMkLst>
        <pc:spChg chg="mod">
          <ac:chgData name="Anthony Debasish Gomes" userId="31aaee4c-98db-411b-a50d-36f441627d61" providerId="ADAL" clId="{56E0B299-8CE6-5BD4-A261-5D5D22B7F92F}" dt="2026-06-19T13:11:43.840" v="3" actId="122"/>
          <ac:spMkLst>
            <pc:docMk/>
            <pc:sldMk cId="0" sldId="264"/>
            <ac:spMk id="26" creationId="{3BC58CA6-744E-67A6-DD7F-C56F8537A1FE}"/>
          </ac:spMkLst>
        </pc:spChg>
      </pc:sldChg>
      <pc:sldChg chg="new del">
        <pc:chgData name="Anthony Debasish Gomes" userId="31aaee4c-98db-411b-a50d-36f441627d61" providerId="ADAL" clId="{56E0B299-8CE6-5BD4-A261-5D5D22B7F92F}" dt="2026-06-19T15:43:49.655" v="7" actId="2696"/>
        <pc:sldMkLst>
          <pc:docMk/>
          <pc:sldMk cId="2187359385" sldId="265"/>
        </pc:sldMkLst>
      </pc:sldChg>
    </pc:docChg>
  </pc:docChgLst>
  <pc:docChgLst>
    <pc:chgData name="Ravi Raman" userId="fac1b39d-4d67-4397-97d6-0a8a0df8cde0" providerId="ADAL" clId="{EA8CF1F9-9920-D447-9B0B-1EAE50F7A698}"/>
    <pc:docChg chg="undo custSel modSld modMainMaster">
      <pc:chgData name="Ravi Raman" userId="fac1b39d-4d67-4397-97d6-0a8a0df8cde0" providerId="ADAL" clId="{EA8CF1F9-9920-D447-9B0B-1EAE50F7A698}" dt="2026-06-19T12:47:54.258" v="125" actId="113"/>
      <pc:docMkLst>
        <pc:docMk/>
      </pc:docMkLst>
      <pc:sldChg chg="modSp mod">
        <pc:chgData name="Ravi Raman" userId="fac1b39d-4d67-4397-97d6-0a8a0df8cde0" providerId="ADAL" clId="{EA8CF1F9-9920-D447-9B0B-1EAE50F7A698}" dt="2026-06-18T07:24:50.416" v="21" actId="2711"/>
        <pc:sldMkLst>
          <pc:docMk/>
          <pc:sldMk cId="0" sldId="256"/>
        </pc:sldMkLst>
        <pc:spChg chg="mod">
          <ac:chgData name="Ravi Raman" userId="fac1b39d-4d67-4397-97d6-0a8a0df8cde0" providerId="ADAL" clId="{EA8CF1F9-9920-D447-9B0B-1EAE50F7A698}" dt="2026-06-18T07:24:50.416" v="21" actId="2711"/>
          <ac:spMkLst>
            <pc:docMk/>
            <pc:sldMk cId="0" sldId="256"/>
            <ac:spMk id="2" creationId="{00000000-0000-0000-0000-000000000000}"/>
          </ac:spMkLst>
        </pc:spChg>
        <pc:spChg chg="mod">
          <ac:chgData name="Ravi Raman" userId="fac1b39d-4d67-4397-97d6-0a8a0df8cde0" providerId="ADAL" clId="{EA8CF1F9-9920-D447-9B0B-1EAE50F7A698}" dt="2026-06-18T07:24:50.416" v="21" actId="2711"/>
          <ac:spMkLst>
            <pc:docMk/>
            <pc:sldMk cId="0" sldId="256"/>
            <ac:spMk id="3" creationId="{00000000-0000-0000-0000-000000000000}"/>
          </ac:spMkLst>
        </pc:spChg>
      </pc:sldChg>
      <pc:sldChg chg="addSp modSp mod">
        <pc:chgData name="Ravi Raman" userId="fac1b39d-4d67-4397-97d6-0a8a0df8cde0" providerId="ADAL" clId="{EA8CF1F9-9920-D447-9B0B-1EAE50F7A698}" dt="2026-06-19T12:47:54.258" v="125" actId="113"/>
        <pc:sldMkLst>
          <pc:docMk/>
          <pc:sldMk cId="0" sldId="260"/>
        </pc:sldMkLst>
        <pc:spChg chg="mod">
          <ac:chgData name="Ravi Raman" userId="fac1b39d-4d67-4397-97d6-0a8a0df8cde0" providerId="ADAL" clId="{EA8CF1F9-9920-D447-9B0B-1EAE50F7A698}" dt="2026-06-18T07:25:06.056" v="23" actId="403"/>
          <ac:spMkLst>
            <pc:docMk/>
            <pc:sldMk cId="0" sldId="260"/>
            <ac:spMk id="2" creationId="{00000000-0000-0000-0000-000000000000}"/>
          </ac:spMkLst>
        </pc:spChg>
        <pc:spChg chg="mod">
          <ac:chgData name="Ravi Raman" userId="fac1b39d-4d67-4397-97d6-0a8a0df8cde0" providerId="ADAL" clId="{EA8CF1F9-9920-D447-9B0B-1EAE50F7A698}" dt="2026-06-18T07:25:06.056" v="23" actId="403"/>
          <ac:spMkLst>
            <pc:docMk/>
            <pc:sldMk cId="0" sldId="260"/>
            <ac:spMk id="3" creationId="{00000000-0000-0000-0000-000000000000}"/>
          </ac:spMkLst>
        </pc:spChg>
        <pc:spChg chg="mod">
          <ac:chgData name="Ravi Raman" userId="fac1b39d-4d67-4397-97d6-0a8a0df8cde0" providerId="ADAL" clId="{EA8CF1F9-9920-D447-9B0B-1EAE50F7A698}" dt="2026-06-18T07:25:06.056" v="23" actId="403"/>
          <ac:spMkLst>
            <pc:docMk/>
            <pc:sldMk cId="0" sldId="260"/>
            <ac:spMk id="4" creationId="{00000000-0000-0000-0000-000000000000}"/>
          </ac:spMkLst>
        </pc:spChg>
        <pc:spChg chg="mod">
          <ac:chgData name="Ravi Raman" userId="fac1b39d-4d67-4397-97d6-0a8a0df8cde0" providerId="ADAL" clId="{EA8CF1F9-9920-D447-9B0B-1EAE50F7A698}" dt="2026-06-18T07:23:24.715" v="0" actId="2711"/>
          <ac:spMkLst>
            <pc:docMk/>
            <pc:sldMk cId="0" sldId="260"/>
            <ac:spMk id="5" creationId="{00000000-0000-0000-0000-000000000000}"/>
          </ac:spMkLst>
        </pc:spChg>
        <pc:spChg chg="mod">
          <ac:chgData name="Ravi Raman" userId="fac1b39d-4d67-4397-97d6-0a8a0df8cde0" providerId="ADAL" clId="{EA8CF1F9-9920-D447-9B0B-1EAE50F7A698}" dt="2026-06-18T07:23:24.715" v="0" actId="2711"/>
          <ac:spMkLst>
            <pc:docMk/>
            <pc:sldMk cId="0" sldId="260"/>
            <ac:spMk id="6" creationId="{00000000-0000-0000-0000-000000000000}"/>
          </ac:spMkLst>
        </pc:spChg>
        <pc:spChg chg="mod">
          <ac:chgData name="Ravi Raman" userId="fac1b39d-4d67-4397-97d6-0a8a0df8cde0" providerId="ADAL" clId="{EA8CF1F9-9920-D447-9B0B-1EAE50F7A698}" dt="2026-06-18T07:23:24.715" v="0" actId="2711"/>
          <ac:spMkLst>
            <pc:docMk/>
            <pc:sldMk cId="0" sldId="260"/>
            <ac:spMk id="7" creationId="{00000000-0000-0000-0000-000000000000}"/>
          </ac:spMkLst>
        </pc:spChg>
        <pc:spChg chg="mod">
          <ac:chgData name="Ravi Raman" userId="fac1b39d-4d67-4397-97d6-0a8a0df8cde0" providerId="ADAL" clId="{EA8CF1F9-9920-D447-9B0B-1EAE50F7A698}" dt="2026-06-18T07:23:24.715" v="0" actId="2711"/>
          <ac:spMkLst>
            <pc:docMk/>
            <pc:sldMk cId="0" sldId="260"/>
            <ac:spMk id="8" creationId="{00000000-0000-0000-0000-000000000000}"/>
          </ac:spMkLst>
        </pc:spChg>
        <pc:spChg chg="mod">
          <ac:chgData name="Ravi Raman" userId="fac1b39d-4d67-4397-97d6-0a8a0df8cde0" providerId="ADAL" clId="{EA8CF1F9-9920-D447-9B0B-1EAE50F7A698}" dt="2026-06-18T07:23:24.715" v="0" actId="2711"/>
          <ac:spMkLst>
            <pc:docMk/>
            <pc:sldMk cId="0" sldId="260"/>
            <ac:spMk id="9" creationId="{00000000-0000-0000-0000-000000000000}"/>
          </ac:spMkLst>
        </pc:spChg>
        <pc:spChg chg="mod">
          <ac:chgData name="Ravi Raman" userId="fac1b39d-4d67-4397-97d6-0a8a0df8cde0" providerId="ADAL" clId="{EA8CF1F9-9920-D447-9B0B-1EAE50F7A698}" dt="2026-06-18T07:23:24.715" v="0" actId="2711"/>
          <ac:spMkLst>
            <pc:docMk/>
            <pc:sldMk cId="0" sldId="260"/>
            <ac:spMk id="10" creationId="{00000000-0000-0000-0000-000000000000}"/>
          </ac:spMkLst>
        </pc:spChg>
        <pc:spChg chg="add mod">
          <ac:chgData name="Ravi Raman" userId="fac1b39d-4d67-4397-97d6-0a8a0df8cde0" providerId="ADAL" clId="{EA8CF1F9-9920-D447-9B0B-1EAE50F7A698}" dt="2026-06-19T12:47:54.258" v="125" actId="113"/>
          <ac:spMkLst>
            <pc:docMk/>
            <pc:sldMk cId="0" sldId="260"/>
            <ac:spMk id="12" creationId="{94C5531D-B93E-0AD7-8FD1-32CEC6A17544}"/>
          </ac:spMkLst>
        </pc:spChg>
      </pc:sldChg>
      <pc:sldChg chg="addSp modSp mod">
        <pc:chgData name="Ravi Raman" userId="fac1b39d-4d67-4397-97d6-0a8a0df8cde0" providerId="ADAL" clId="{EA8CF1F9-9920-D447-9B0B-1EAE50F7A698}" dt="2026-06-19T12:47:38.572" v="121" actId="113"/>
        <pc:sldMkLst>
          <pc:docMk/>
          <pc:sldMk cId="0" sldId="264"/>
        </pc:sldMkLst>
        <pc:spChg chg="mod">
          <ac:chgData name="Ravi Raman" userId="fac1b39d-4d67-4397-97d6-0a8a0df8cde0" providerId="ADAL" clId="{EA8CF1F9-9920-D447-9B0B-1EAE50F7A698}" dt="2026-06-18T12:27:12.494" v="85" actId="1035"/>
          <ac:spMkLst>
            <pc:docMk/>
            <pc:sldMk cId="0" sldId="264"/>
            <ac:spMk id="2" creationId="{00000000-0000-0000-0000-000000000000}"/>
          </ac:spMkLst>
        </pc:spChg>
        <pc:spChg chg="mod">
          <ac:chgData name="Ravi Raman" userId="fac1b39d-4d67-4397-97d6-0a8a0df8cde0" providerId="ADAL" clId="{EA8CF1F9-9920-D447-9B0B-1EAE50F7A698}" dt="2026-06-18T12:27:12.494" v="85" actId="1035"/>
          <ac:spMkLst>
            <pc:docMk/>
            <pc:sldMk cId="0" sldId="264"/>
            <ac:spMk id="3" creationId="{00000000-0000-0000-0000-000000000000}"/>
          </ac:spMkLst>
        </pc:spChg>
        <pc:spChg chg="mod">
          <ac:chgData name="Ravi Raman" userId="fac1b39d-4d67-4397-97d6-0a8a0df8cde0" providerId="ADAL" clId="{EA8CF1F9-9920-D447-9B0B-1EAE50F7A698}" dt="2026-06-18T07:23:30.133" v="1" actId="2711"/>
          <ac:spMkLst>
            <pc:docMk/>
            <pc:sldMk cId="0" sldId="264"/>
            <ac:spMk id="5" creationId="{00000000-0000-0000-0000-000000000000}"/>
          </ac:spMkLst>
        </pc:spChg>
        <pc:spChg chg="mod">
          <ac:chgData name="Ravi Raman" userId="fac1b39d-4d67-4397-97d6-0a8a0df8cde0" providerId="ADAL" clId="{EA8CF1F9-9920-D447-9B0B-1EAE50F7A698}" dt="2026-06-18T12:27:23.587" v="94" actId="1035"/>
          <ac:spMkLst>
            <pc:docMk/>
            <pc:sldMk cId="0" sldId="264"/>
            <ac:spMk id="6" creationId="{00000000-0000-0000-0000-000000000000}"/>
          </ac:spMkLst>
        </pc:spChg>
        <pc:spChg chg="mod">
          <ac:chgData name="Ravi Raman" userId="fac1b39d-4d67-4397-97d6-0a8a0df8cde0" providerId="ADAL" clId="{EA8CF1F9-9920-D447-9B0B-1EAE50F7A698}" dt="2026-06-18T12:27:23.587" v="94" actId="1035"/>
          <ac:spMkLst>
            <pc:docMk/>
            <pc:sldMk cId="0" sldId="264"/>
            <ac:spMk id="7" creationId="{00000000-0000-0000-0000-000000000000}"/>
          </ac:spMkLst>
        </pc:spChg>
        <pc:spChg chg="mod">
          <ac:chgData name="Ravi Raman" userId="fac1b39d-4d67-4397-97d6-0a8a0df8cde0" providerId="ADAL" clId="{EA8CF1F9-9920-D447-9B0B-1EAE50F7A698}" dt="2026-06-18T07:23:30.133" v="1" actId="2711"/>
          <ac:spMkLst>
            <pc:docMk/>
            <pc:sldMk cId="0" sldId="264"/>
            <ac:spMk id="8" creationId="{00000000-0000-0000-0000-000000000000}"/>
          </ac:spMkLst>
        </pc:spChg>
        <pc:spChg chg="mod">
          <ac:chgData name="Ravi Raman" userId="fac1b39d-4d67-4397-97d6-0a8a0df8cde0" providerId="ADAL" clId="{EA8CF1F9-9920-D447-9B0B-1EAE50F7A698}" dt="2026-06-18T07:23:30.133" v="1" actId="2711"/>
          <ac:spMkLst>
            <pc:docMk/>
            <pc:sldMk cId="0" sldId="264"/>
            <ac:spMk id="10" creationId="{00000000-0000-0000-0000-000000000000}"/>
          </ac:spMkLst>
        </pc:spChg>
        <pc:spChg chg="mod">
          <ac:chgData name="Ravi Raman" userId="fac1b39d-4d67-4397-97d6-0a8a0df8cde0" providerId="ADAL" clId="{EA8CF1F9-9920-D447-9B0B-1EAE50F7A698}" dt="2026-06-18T12:27:23.587" v="94" actId="1035"/>
          <ac:spMkLst>
            <pc:docMk/>
            <pc:sldMk cId="0" sldId="264"/>
            <ac:spMk id="11" creationId="{00000000-0000-0000-0000-000000000000}"/>
          </ac:spMkLst>
        </pc:spChg>
        <pc:spChg chg="mod">
          <ac:chgData name="Ravi Raman" userId="fac1b39d-4d67-4397-97d6-0a8a0df8cde0" providerId="ADAL" clId="{EA8CF1F9-9920-D447-9B0B-1EAE50F7A698}" dt="2026-06-18T12:27:23.587" v="94" actId="1035"/>
          <ac:spMkLst>
            <pc:docMk/>
            <pc:sldMk cId="0" sldId="264"/>
            <ac:spMk id="12" creationId="{00000000-0000-0000-0000-000000000000}"/>
          </ac:spMkLst>
        </pc:spChg>
        <pc:spChg chg="mod">
          <ac:chgData name="Ravi Raman" userId="fac1b39d-4d67-4397-97d6-0a8a0df8cde0" providerId="ADAL" clId="{EA8CF1F9-9920-D447-9B0B-1EAE50F7A698}" dt="2026-06-18T07:23:30.133" v="1" actId="2711"/>
          <ac:spMkLst>
            <pc:docMk/>
            <pc:sldMk cId="0" sldId="264"/>
            <ac:spMk id="15" creationId="{00000000-0000-0000-0000-000000000000}"/>
          </ac:spMkLst>
        </pc:spChg>
        <pc:spChg chg="mod">
          <ac:chgData name="Ravi Raman" userId="fac1b39d-4d67-4397-97d6-0a8a0df8cde0" providerId="ADAL" clId="{EA8CF1F9-9920-D447-9B0B-1EAE50F7A698}" dt="2026-06-18T12:27:23.587" v="94" actId="1035"/>
          <ac:spMkLst>
            <pc:docMk/>
            <pc:sldMk cId="0" sldId="264"/>
            <ac:spMk id="16" creationId="{00000000-0000-0000-0000-000000000000}"/>
          </ac:spMkLst>
        </pc:spChg>
        <pc:spChg chg="mod">
          <ac:chgData name="Ravi Raman" userId="fac1b39d-4d67-4397-97d6-0a8a0df8cde0" providerId="ADAL" clId="{EA8CF1F9-9920-D447-9B0B-1EAE50F7A698}" dt="2026-06-18T12:27:23.587" v="94" actId="1035"/>
          <ac:spMkLst>
            <pc:docMk/>
            <pc:sldMk cId="0" sldId="264"/>
            <ac:spMk id="17" creationId="{00000000-0000-0000-0000-000000000000}"/>
          </ac:spMkLst>
        </pc:spChg>
        <pc:spChg chg="mod">
          <ac:chgData name="Ravi Raman" userId="fac1b39d-4d67-4397-97d6-0a8a0df8cde0" providerId="ADAL" clId="{EA8CF1F9-9920-D447-9B0B-1EAE50F7A698}" dt="2026-06-18T12:26:56.432" v="52" actId="164"/>
          <ac:spMkLst>
            <pc:docMk/>
            <pc:sldMk cId="0" sldId="264"/>
            <ac:spMk id="18" creationId="{00000000-0000-0000-0000-000000000000}"/>
          </ac:spMkLst>
        </pc:spChg>
        <pc:spChg chg="mod">
          <ac:chgData name="Ravi Raman" userId="fac1b39d-4d67-4397-97d6-0a8a0df8cde0" providerId="ADAL" clId="{EA8CF1F9-9920-D447-9B0B-1EAE50F7A698}" dt="2026-06-18T12:26:56.432" v="52" actId="164"/>
          <ac:spMkLst>
            <pc:docMk/>
            <pc:sldMk cId="0" sldId="264"/>
            <ac:spMk id="20" creationId="{00000000-0000-0000-0000-000000000000}"/>
          </ac:spMkLst>
        </pc:spChg>
        <pc:spChg chg="mod">
          <ac:chgData name="Ravi Raman" userId="fac1b39d-4d67-4397-97d6-0a8a0df8cde0" providerId="ADAL" clId="{EA8CF1F9-9920-D447-9B0B-1EAE50F7A698}" dt="2026-06-18T12:26:56.432" v="52" actId="164"/>
          <ac:spMkLst>
            <pc:docMk/>
            <pc:sldMk cId="0" sldId="264"/>
            <ac:spMk id="21" creationId="{00000000-0000-0000-0000-000000000000}"/>
          </ac:spMkLst>
        </pc:spChg>
        <pc:spChg chg="mod">
          <ac:chgData name="Ravi Raman" userId="fac1b39d-4d67-4397-97d6-0a8a0df8cde0" providerId="ADAL" clId="{EA8CF1F9-9920-D447-9B0B-1EAE50F7A698}" dt="2026-06-18T12:26:56.432" v="52" actId="164"/>
          <ac:spMkLst>
            <pc:docMk/>
            <pc:sldMk cId="0" sldId="264"/>
            <ac:spMk id="23" creationId="{00000000-0000-0000-0000-000000000000}"/>
          </ac:spMkLst>
        </pc:spChg>
        <pc:spChg chg="add mod">
          <ac:chgData name="Ravi Raman" userId="fac1b39d-4d67-4397-97d6-0a8a0df8cde0" providerId="ADAL" clId="{EA8CF1F9-9920-D447-9B0B-1EAE50F7A698}" dt="2026-06-19T12:47:38.572" v="121" actId="113"/>
          <ac:spMkLst>
            <pc:docMk/>
            <pc:sldMk cId="0" sldId="264"/>
            <ac:spMk id="26" creationId="{3BC58CA6-744E-67A6-DD7F-C56F8537A1FE}"/>
          </ac:spMkLst>
        </pc:spChg>
        <pc:grpChg chg="mod">
          <ac:chgData name="Ravi Raman" userId="fac1b39d-4d67-4397-97d6-0a8a0df8cde0" providerId="ADAL" clId="{EA8CF1F9-9920-D447-9B0B-1EAE50F7A698}" dt="2026-06-18T12:27:03.420" v="76" actId="1035"/>
          <ac:grpSpMkLst>
            <pc:docMk/>
            <pc:sldMk cId="0" sldId="264"/>
            <ac:grpSpMk id="24" creationId="{1DF8D027-F9DA-C903-B0FC-7544D7209EE5}"/>
          </ac:grpSpMkLst>
        </pc:grpChg>
        <pc:grpChg chg="add mod">
          <ac:chgData name="Ravi Raman" userId="fac1b39d-4d67-4397-97d6-0a8a0df8cde0" providerId="ADAL" clId="{EA8CF1F9-9920-D447-9B0B-1EAE50F7A698}" dt="2026-06-18T12:26:59.623" v="69" actId="1035"/>
          <ac:grpSpMkLst>
            <pc:docMk/>
            <pc:sldMk cId="0" sldId="264"/>
            <ac:grpSpMk id="25" creationId="{826EB0B7-059B-4939-53F0-4D501A0C4339}"/>
          </ac:grpSpMkLst>
        </pc:grpChg>
        <pc:picChg chg="mod">
          <ac:chgData name="Ravi Raman" userId="fac1b39d-4d67-4397-97d6-0a8a0df8cde0" providerId="ADAL" clId="{EA8CF1F9-9920-D447-9B0B-1EAE50F7A698}" dt="2026-06-18T12:26:56.432" v="52" actId="164"/>
          <ac:picMkLst>
            <pc:docMk/>
            <pc:sldMk cId="0" sldId="264"/>
            <ac:picMk id="19" creationId="{00000000-0000-0000-0000-000000000000}"/>
          </ac:picMkLst>
        </pc:picChg>
        <pc:picChg chg="mod">
          <ac:chgData name="Ravi Raman" userId="fac1b39d-4d67-4397-97d6-0a8a0df8cde0" providerId="ADAL" clId="{EA8CF1F9-9920-D447-9B0B-1EAE50F7A698}" dt="2026-06-18T12:26:56.432" v="52" actId="164"/>
          <ac:picMkLst>
            <pc:docMk/>
            <pc:sldMk cId="0" sldId="264"/>
            <ac:picMk id="22" creationId="{00000000-0000-0000-0000-000000000000}"/>
          </ac:picMkLst>
        </pc:picChg>
      </pc:sldChg>
      <pc:sldMasterChg chg="addSp modSp mod modSldLayout">
        <pc:chgData name="Ravi Raman" userId="fac1b39d-4d67-4397-97d6-0a8a0df8cde0" providerId="ADAL" clId="{EA8CF1F9-9920-D447-9B0B-1EAE50F7A698}" dt="2026-06-18T12:27:50.622" v="95" actId="732"/>
        <pc:sldMasterMkLst>
          <pc:docMk/>
          <pc:sldMasterMk cId="0" sldId="2147483648"/>
        </pc:sldMasterMkLst>
        <pc:picChg chg="add mod">
          <ac:chgData name="Ravi Raman" userId="fac1b39d-4d67-4397-97d6-0a8a0df8cde0" providerId="ADAL" clId="{EA8CF1F9-9920-D447-9B0B-1EAE50F7A698}" dt="2026-06-18T08:40:48.645" v="33"/>
          <ac:picMkLst>
            <pc:docMk/>
            <pc:sldMasterMk cId="0" sldId="2147483648"/>
            <ac:picMk id="2" creationId="{46E23A50-2E2D-4490-C5E7-318D8D518631}"/>
          </ac:picMkLst>
        </pc:picChg>
        <pc:picChg chg="add mod">
          <ac:chgData name="Ravi Raman" userId="fac1b39d-4d67-4397-97d6-0a8a0df8cde0" providerId="ADAL" clId="{EA8CF1F9-9920-D447-9B0B-1EAE50F7A698}" dt="2026-06-18T08:40:48.645" v="33"/>
          <ac:picMkLst>
            <pc:docMk/>
            <pc:sldMasterMk cId="0" sldId="2147483648"/>
            <ac:picMk id="3" creationId="{C8FA7E45-A068-286A-0530-9A0E8AEDBDB3}"/>
          </ac:picMkLst>
        </pc:picChg>
        <pc:picChg chg="add mod">
          <ac:chgData name="Ravi Raman" userId="fac1b39d-4d67-4397-97d6-0a8a0df8cde0" providerId="ADAL" clId="{EA8CF1F9-9920-D447-9B0B-1EAE50F7A698}" dt="2026-06-18T08:40:48.645" v="33"/>
          <ac:picMkLst>
            <pc:docMk/>
            <pc:sldMasterMk cId="0" sldId="2147483648"/>
            <ac:picMk id="4" creationId="{B2C813D1-C4E2-BB09-2559-F5A167D39D2C}"/>
          </ac:picMkLst>
        </pc:picChg>
        <pc:picChg chg="mod modCrop">
          <ac:chgData name="Ravi Raman" userId="fac1b39d-4d67-4397-97d6-0a8a0df8cde0" providerId="ADAL" clId="{EA8CF1F9-9920-D447-9B0B-1EAE50F7A698}" dt="2026-06-18T12:27:50.622" v="95" actId="732"/>
          <ac:picMkLst>
            <pc:docMk/>
            <pc:sldMasterMk cId="0" sldId="2147483648"/>
            <ac:picMk id="7" creationId="{11AF390B-10E3-1E15-677F-535F0BBDC628}"/>
          </ac:picMkLst>
        </pc:picChg>
        <pc:sldLayoutChg chg="modSp mod">
          <pc:chgData name="Ravi Raman" userId="fac1b39d-4d67-4397-97d6-0a8a0df8cde0" providerId="ADAL" clId="{EA8CF1F9-9920-D447-9B0B-1EAE50F7A698}" dt="2026-06-18T08:56:52.617" v="37" actId="1076"/>
          <pc:sldLayoutMkLst>
            <pc:docMk/>
            <pc:sldMasterMk cId="0" sldId="2147483648"/>
            <pc:sldLayoutMk cId="0" sldId="2147483649"/>
          </pc:sldLayoutMkLst>
          <pc:spChg chg="mod">
            <ac:chgData name="Ravi Raman" userId="fac1b39d-4d67-4397-97d6-0a8a0df8cde0" providerId="ADAL" clId="{EA8CF1F9-9920-D447-9B0B-1EAE50F7A698}" dt="2026-06-18T08:56:52.617" v="37" actId="1076"/>
            <ac:spMkLst>
              <pc:docMk/>
              <pc:sldMasterMk cId="0" sldId="2147483648"/>
              <pc:sldLayoutMk cId="0" sldId="2147483649"/>
              <ac:spMk id="2" creationId="{1E8CCC85-9790-B484-3957-C189A15FE8FF}"/>
            </ac:spMkLst>
          </pc:spChg>
        </pc:sldLayoutChg>
        <pc:sldLayoutChg chg="modSp mod">
          <pc:chgData name="Ravi Raman" userId="fac1b39d-4d67-4397-97d6-0a8a0df8cde0" providerId="ADAL" clId="{EA8CF1F9-9920-D447-9B0B-1EAE50F7A698}" dt="2026-06-18T08:56:55.429" v="38" actId="1076"/>
          <pc:sldLayoutMkLst>
            <pc:docMk/>
            <pc:sldMasterMk cId="0" sldId="2147483648"/>
            <pc:sldLayoutMk cId="0" sldId="2147483650"/>
          </pc:sldLayoutMkLst>
          <pc:spChg chg="mod">
            <ac:chgData name="Ravi Raman" userId="fac1b39d-4d67-4397-97d6-0a8a0df8cde0" providerId="ADAL" clId="{EA8CF1F9-9920-D447-9B0B-1EAE50F7A698}" dt="2026-06-18T08:56:55.429" v="38" actId="1076"/>
            <ac:spMkLst>
              <pc:docMk/>
              <pc:sldMasterMk cId="0" sldId="2147483648"/>
              <pc:sldLayoutMk cId="0" sldId="2147483650"/>
              <ac:spMk id="2" creationId="{B20BD5FB-1C7E-CB68-FE21-8035FEC238FF}"/>
            </ac:spMkLst>
          </pc:spChg>
        </pc:sldLayoutChg>
        <pc:sldLayoutChg chg="modSp mod">
          <pc:chgData name="Ravi Raman" userId="fac1b39d-4d67-4397-97d6-0a8a0df8cde0" providerId="ADAL" clId="{EA8CF1F9-9920-D447-9B0B-1EAE50F7A698}" dt="2026-06-18T08:56:58.180" v="39" actId="1076"/>
          <pc:sldLayoutMkLst>
            <pc:docMk/>
            <pc:sldMasterMk cId="0" sldId="2147483648"/>
            <pc:sldLayoutMk cId="0" sldId="2147483651"/>
          </pc:sldLayoutMkLst>
          <pc:spChg chg="mod">
            <ac:chgData name="Ravi Raman" userId="fac1b39d-4d67-4397-97d6-0a8a0df8cde0" providerId="ADAL" clId="{EA8CF1F9-9920-D447-9B0B-1EAE50F7A698}" dt="2026-06-18T08:56:58.180" v="39" actId="1076"/>
            <ac:spMkLst>
              <pc:docMk/>
              <pc:sldMasterMk cId="0" sldId="2147483648"/>
              <pc:sldLayoutMk cId="0" sldId="2147483651"/>
              <ac:spMk id="2" creationId="{1E993BEC-77D1-09FB-C456-3DE8DD849254}"/>
            </ac:spMkLst>
          </pc:spChg>
        </pc:sldLayoutChg>
        <pc:sldLayoutChg chg="modSp mod">
          <pc:chgData name="Ravi Raman" userId="fac1b39d-4d67-4397-97d6-0a8a0df8cde0" providerId="ADAL" clId="{EA8CF1F9-9920-D447-9B0B-1EAE50F7A698}" dt="2026-06-18T08:57:01.310" v="40" actId="1076"/>
          <pc:sldLayoutMkLst>
            <pc:docMk/>
            <pc:sldMasterMk cId="0" sldId="2147483648"/>
            <pc:sldLayoutMk cId="0" sldId="2147483653"/>
          </pc:sldLayoutMkLst>
          <pc:spChg chg="mod">
            <ac:chgData name="Ravi Raman" userId="fac1b39d-4d67-4397-97d6-0a8a0df8cde0" providerId="ADAL" clId="{EA8CF1F9-9920-D447-9B0B-1EAE50F7A698}" dt="2026-06-18T08:57:01.310" v="40" actId="1076"/>
            <ac:spMkLst>
              <pc:docMk/>
              <pc:sldMasterMk cId="0" sldId="2147483648"/>
              <pc:sldLayoutMk cId="0" sldId="2147483653"/>
              <ac:spMk id="2" creationId="{9B8178E3-5CC4-EDC6-A390-7680B7257A9C}"/>
            </ac:spMkLst>
          </pc:spChg>
        </pc:sldLayoutChg>
        <pc:sldLayoutChg chg="modSp mod">
          <pc:chgData name="Ravi Raman" userId="fac1b39d-4d67-4397-97d6-0a8a0df8cde0" providerId="ADAL" clId="{EA8CF1F9-9920-D447-9B0B-1EAE50F7A698}" dt="2026-06-18T08:57:03.792" v="41" actId="1076"/>
          <pc:sldLayoutMkLst>
            <pc:docMk/>
            <pc:sldMasterMk cId="0" sldId="2147483648"/>
            <pc:sldLayoutMk cId="0" sldId="2147483654"/>
          </pc:sldLayoutMkLst>
          <pc:spChg chg="mod">
            <ac:chgData name="Ravi Raman" userId="fac1b39d-4d67-4397-97d6-0a8a0df8cde0" providerId="ADAL" clId="{EA8CF1F9-9920-D447-9B0B-1EAE50F7A698}" dt="2026-06-18T08:57:03.792" v="41" actId="1076"/>
            <ac:spMkLst>
              <pc:docMk/>
              <pc:sldMasterMk cId="0" sldId="2147483648"/>
              <pc:sldLayoutMk cId="0" sldId="2147483654"/>
              <ac:spMk id="2" creationId="{663AD722-8385-C177-7B26-CBE49DAC9433}"/>
            </ac:spMkLst>
          </pc:spChg>
        </pc:sldLayoutChg>
        <pc:sldLayoutChg chg="modSp mod">
          <pc:chgData name="Ravi Raman" userId="fac1b39d-4d67-4397-97d6-0a8a0df8cde0" providerId="ADAL" clId="{EA8CF1F9-9920-D447-9B0B-1EAE50F7A698}" dt="2026-06-18T08:57:05.920" v="42" actId="1076"/>
          <pc:sldLayoutMkLst>
            <pc:docMk/>
            <pc:sldMasterMk cId="0" sldId="2147483648"/>
            <pc:sldLayoutMk cId="0" sldId="2147483655"/>
          </pc:sldLayoutMkLst>
          <pc:spChg chg="mod">
            <ac:chgData name="Ravi Raman" userId="fac1b39d-4d67-4397-97d6-0a8a0df8cde0" providerId="ADAL" clId="{EA8CF1F9-9920-D447-9B0B-1EAE50F7A698}" dt="2026-06-18T08:57:05.920" v="42" actId="1076"/>
            <ac:spMkLst>
              <pc:docMk/>
              <pc:sldMasterMk cId="0" sldId="2147483648"/>
              <pc:sldLayoutMk cId="0" sldId="2147483655"/>
              <ac:spMk id="2" creationId="{57E14A1D-9E2D-782A-50C9-DF6F9E901789}"/>
            </ac:spMkLst>
          </pc:spChg>
        </pc:sldLayoutChg>
        <pc:sldLayoutChg chg="modSp mod">
          <pc:chgData name="Ravi Raman" userId="fac1b39d-4d67-4397-97d6-0a8a0df8cde0" providerId="ADAL" clId="{EA8CF1F9-9920-D447-9B0B-1EAE50F7A698}" dt="2026-06-18T08:57:09.203" v="43" actId="1076"/>
          <pc:sldLayoutMkLst>
            <pc:docMk/>
            <pc:sldMasterMk cId="0" sldId="2147483648"/>
            <pc:sldLayoutMk cId="0" sldId="2147483656"/>
          </pc:sldLayoutMkLst>
          <pc:spChg chg="mod">
            <ac:chgData name="Ravi Raman" userId="fac1b39d-4d67-4397-97d6-0a8a0df8cde0" providerId="ADAL" clId="{EA8CF1F9-9920-D447-9B0B-1EAE50F7A698}" dt="2026-06-18T08:57:09.203" v="43" actId="1076"/>
            <ac:spMkLst>
              <pc:docMk/>
              <pc:sldMasterMk cId="0" sldId="2147483648"/>
              <pc:sldLayoutMk cId="0" sldId="2147483656"/>
              <ac:spMk id="2" creationId="{1A830B2C-55AA-4B7B-F860-BB40F3452AD0}"/>
            </ac:spMkLst>
          </pc:spChg>
        </pc:sldLayoutChg>
        <pc:sldLayoutChg chg="modSp mod">
          <pc:chgData name="Ravi Raman" userId="fac1b39d-4d67-4397-97d6-0a8a0df8cde0" providerId="ADAL" clId="{EA8CF1F9-9920-D447-9B0B-1EAE50F7A698}" dt="2026-06-18T08:57:11.593" v="44" actId="1076"/>
          <pc:sldLayoutMkLst>
            <pc:docMk/>
            <pc:sldMasterMk cId="0" sldId="2147483648"/>
            <pc:sldLayoutMk cId="0" sldId="2147483657"/>
          </pc:sldLayoutMkLst>
          <pc:spChg chg="mod">
            <ac:chgData name="Ravi Raman" userId="fac1b39d-4d67-4397-97d6-0a8a0df8cde0" providerId="ADAL" clId="{EA8CF1F9-9920-D447-9B0B-1EAE50F7A698}" dt="2026-06-18T08:57:11.593" v="44" actId="1076"/>
            <ac:spMkLst>
              <pc:docMk/>
              <pc:sldMasterMk cId="0" sldId="2147483648"/>
              <pc:sldLayoutMk cId="0" sldId="2147483657"/>
              <ac:spMk id="2" creationId="{6B4BDC54-95F6-6DC7-B1C1-92D05852ABBC}"/>
            </ac:spMkLst>
          </pc:spChg>
        </pc:sldLayoutChg>
        <pc:sldLayoutChg chg="modSp mod">
          <pc:chgData name="Ravi Raman" userId="fac1b39d-4d67-4397-97d6-0a8a0df8cde0" providerId="ADAL" clId="{EA8CF1F9-9920-D447-9B0B-1EAE50F7A698}" dt="2026-06-18T08:57:14.307" v="45" actId="1076"/>
          <pc:sldLayoutMkLst>
            <pc:docMk/>
            <pc:sldMasterMk cId="0" sldId="2147483648"/>
            <pc:sldLayoutMk cId="0" sldId="2147483658"/>
          </pc:sldLayoutMkLst>
          <pc:spChg chg="mod">
            <ac:chgData name="Ravi Raman" userId="fac1b39d-4d67-4397-97d6-0a8a0df8cde0" providerId="ADAL" clId="{EA8CF1F9-9920-D447-9B0B-1EAE50F7A698}" dt="2026-06-18T08:57:14.307" v="45" actId="1076"/>
            <ac:spMkLst>
              <pc:docMk/>
              <pc:sldMasterMk cId="0" sldId="2147483648"/>
              <pc:sldLayoutMk cId="0" sldId="2147483658"/>
              <ac:spMk id="2" creationId="{B648EB8F-5CBD-D6DB-6699-512CA287B27C}"/>
            </ac:spMkLst>
          </pc:spChg>
        </pc:sldLayoutChg>
        <pc:sldLayoutChg chg="modSp mod">
          <pc:chgData name="Ravi Raman" userId="fac1b39d-4d67-4397-97d6-0a8a0df8cde0" providerId="ADAL" clId="{EA8CF1F9-9920-D447-9B0B-1EAE50F7A698}" dt="2026-06-18T08:57:17.058" v="46" actId="1076"/>
          <pc:sldLayoutMkLst>
            <pc:docMk/>
            <pc:sldMasterMk cId="0" sldId="2147483648"/>
            <pc:sldLayoutMk cId="0" sldId="2147483659"/>
          </pc:sldLayoutMkLst>
          <pc:spChg chg="mod">
            <ac:chgData name="Ravi Raman" userId="fac1b39d-4d67-4397-97d6-0a8a0df8cde0" providerId="ADAL" clId="{EA8CF1F9-9920-D447-9B0B-1EAE50F7A698}" dt="2026-06-18T08:57:17.058" v="46" actId="1076"/>
            <ac:spMkLst>
              <pc:docMk/>
              <pc:sldMasterMk cId="0" sldId="2147483648"/>
              <pc:sldLayoutMk cId="0" sldId="2147483659"/>
              <ac:spMk id="2" creationId="{FDA86411-B3FB-FA65-15C4-AD816E02993E}"/>
            </ac:spMkLst>
          </pc:spChg>
        </pc:sldLayoutChg>
        <pc:sldLayoutChg chg="modSp mod">
          <pc:chgData name="Ravi Raman" userId="fac1b39d-4d67-4397-97d6-0a8a0df8cde0" providerId="ADAL" clId="{EA8CF1F9-9920-D447-9B0B-1EAE50F7A698}" dt="2026-06-18T08:57:19.165" v="47" actId="1076"/>
          <pc:sldLayoutMkLst>
            <pc:docMk/>
            <pc:sldMasterMk cId="0" sldId="2147483648"/>
            <pc:sldLayoutMk cId="0" sldId="2147483660"/>
          </pc:sldLayoutMkLst>
          <pc:spChg chg="mod">
            <ac:chgData name="Ravi Raman" userId="fac1b39d-4d67-4397-97d6-0a8a0df8cde0" providerId="ADAL" clId="{EA8CF1F9-9920-D447-9B0B-1EAE50F7A698}" dt="2026-06-18T08:57:19.165" v="47" actId="1076"/>
            <ac:spMkLst>
              <pc:docMk/>
              <pc:sldMasterMk cId="0" sldId="2147483648"/>
              <pc:sldLayoutMk cId="0" sldId="2147483660"/>
              <ac:spMk id="2" creationId="{A6A257C2-7B8F-BCD4-5183-98C4414251B5}"/>
            </ac:spMkLst>
          </pc:spChg>
        </pc:sldLayoutChg>
        <pc:sldLayoutChg chg="modSp mod">
          <pc:chgData name="Ravi Raman" userId="fac1b39d-4d67-4397-97d6-0a8a0df8cde0" providerId="ADAL" clId="{EA8CF1F9-9920-D447-9B0B-1EAE50F7A698}" dt="2026-06-18T08:57:21.261" v="48" actId="1076"/>
          <pc:sldLayoutMkLst>
            <pc:docMk/>
            <pc:sldMasterMk cId="0" sldId="2147483648"/>
            <pc:sldLayoutMk cId="0" sldId="2147483661"/>
          </pc:sldLayoutMkLst>
          <pc:spChg chg="mod">
            <ac:chgData name="Ravi Raman" userId="fac1b39d-4d67-4397-97d6-0a8a0df8cde0" providerId="ADAL" clId="{EA8CF1F9-9920-D447-9B0B-1EAE50F7A698}" dt="2026-06-18T08:57:21.261" v="48" actId="1076"/>
            <ac:spMkLst>
              <pc:docMk/>
              <pc:sldMasterMk cId="0" sldId="2147483648"/>
              <pc:sldLayoutMk cId="0" sldId="2147483661"/>
              <ac:spMk id="2" creationId="{A28DBD5D-3198-B6DF-EF7C-9D991DF2E24F}"/>
            </ac:spMkLst>
          </pc:spChg>
        </pc:sldLayoutChg>
        <pc:sldLayoutChg chg="modSp mod">
          <pc:chgData name="Ravi Raman" userId="fac1b39d-4d67-4397-97d6-0a8a0df8cde0" providerId="ADAL" clId="{EA8CF1F9-9920-D447-9B0B-1EAE50F7A698}" dt="2026-06-18T08:57:23.865" v="49" actId="1076"/>
          <pc:sldLayoutMkLst>
            <pc:docMk/>
            <pc:sldMasterMk cId="0" sldId="2147483648"/>
            <pc:sldLayoutMk cId="0" sldId="2147483662"/>
          </pc:sldLayoutMkLst>
          <pc:spChg chg="mod">
            <ac:chgData name="Ravi Raman" userId="fac1b39d-4d67-4397-97d6-0a8a0df8cde0" providerId="ADAL" clId="{EA8CF1F9-9920-D447-9B0B-1EAE50F7A698}" dt="2026-06-18T08:57:23.865" v="49" actId="1076"/>
            <ac:spMkLst>
              <pc:docMk/>
              <pc:sldMasterMk cId="0" sldId="2147483648"/>
              <pc:sldLayoutMk cId="0" sldId="2147483662"/>
              <ac:spMk id="2" creationId="{662000A3-5DC0-CFF0-C53A-7BB59A32394E}"/>
            </ac:spMkLst>
          </pc:spChg>
        </pc:sldLayoutChg>
        <pc:sldLayoutChg chg="modSp mod">
          <pc:chgData name="Ravi Raman" userId="fac1b39d-4d67-4397-97d6-0a8a0df8cde0" providerId="ADAL" clId="{EA8CF1F9-9920-D447-9B0B-1EAE50F7A698}" dt="2026-06-18T08:57:25.613" v="50" actId="1076"/>
          <pc:sldLayoutMkLst>
            <pc:docMk/>
            <pc:sldMasterMk cId="0" sldId="2147483648"/>
            <pc:sldLayoutMk cId="0" sldId="2147483663"/>
          </pc:sldLayoutMkLst>
          <pc:spChg chg="mod">
            <ac:chgData name="Ravi Raman" userId="fac1b39d-4d67-4397-97d6-0a8a0df8cde0" providerId="ADAL" clId="{EA8CF1F9-9920-D447-9B0B-1EAE50F7A698}" dt="2026-06-18T08:57:25.613" v="50" actId="1076"/>
            <ac:spMkLst>
              <pc:docMk/>
              <pc:sldMasterMk cId="0" sldId="2147483648"/>
              <pc:sldLayoutMk cId="0" sldId="2147483663"/>
              <ac:spMk id="2" creationId="{9E044968-67AE-5025-2F86-D29C35920A95}"/>
            </ac:spMkLst>
          </pc:spChg>
        </pc:sldLayoutChg>
        <pc:sldLayoutChg chg="modSp mod">
          <pc:chgData name="Ravi Raman" userId="fac1b39d-4d67-4397-97d6-0a8a0df8cde0" providerId="ADAL" clId="{EA8CF1F9-9920-D447-9B0B-1EAE50F7A698}" dt="2026-06-18T08:57:28.722" v="51" actId="1076"/>
          <pc:sldLayoutMkLst>
            <pc:docMk/>
            <pc:sldMasterMk cId="0" sldId="2147483648"/>
            <pc:sldLayoutMk cId="0" sldId="2147483664"/>
          </pc:sldLayoutMkLst>
          <pc:spChg chg="mod">
            <ac:chgData name="Ravi Raman" userId="fac1b39d-4d67-4397-97d6-0a8a0df8cde0" providerId="ADAL" clId="{EA8CF1F9-9920-D447-9B0B-1EAE50F7A698}" dt="2026-06-18T08:57:28.722" v="51" actId="1076"/>
            <ac:spMkLst>
              <pc:docMk/>
              <pc:sldMasterMk cId="0" sldId="2147483648"/>
              <pc:sldLayoutMk cId="0" sldId="2147483664"/>
              <ac:spMk id="2" creationId="{EA0B913D-A4AA-FEE3-1581-7F285F961A87}"/>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352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21E9A-BB36-A888-1A9C-061D1C897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D2EDF-D000-D826-4B16-CDCA0B6228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D6F0A4-124F-E2E6-2256-AF03F1E899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776A06-FEBC-1C68-00A4-AA814F802BE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88727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54561-74F4-0640-12C4-9B0188069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05FC9-874B-4C72-AEA1-3B323BFEC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DD440-465C-8AC3-95DF-A794D71482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F6B1DA-6F1F-6901-1C5F-F697301BB79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41677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BE294-B355-3756-E23A-6E27D900E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07BC9-7EB4-3FAB-35A7-4151CF4DD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DABAC-8570-EBE0-9847-3E1C201AD3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1AFABB-EDBA-C0A2-02D0-34B1C0889FE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1900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822960" y="7315200"/>
            <a:ext cx="6583680" cy="5852160"/>
          </a:xfrm>
        </p:spPr>
        <p:txBody>
          <a:bodyPr/>
          <a:lstStyle/>
          <a:p>
            <a:r>
              <a:t>DEFINITION (4 min). Read the banner slowly. Then walk the three steps with the cat example everyone understands, and the insurance example right under it. Ask: 'What would happen if all 10 years of photos were only of red cars?' - this plants the seed for bias in Module 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ABBBF-EB88-28B4-164C-315093306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24302-5474-1CDD-31B8-7E6FA172C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0C94F8-C0AB-643A-4AB3-3DDF931BE9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C781AA-BB62-94C3-6183-72824ACE97B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43356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67D6F-22D7-AE92-619F-C2C771578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6A514-5DBB-7960-D11A-660BA2287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91261-9C81-12C8-AE0B-63AFE91F0C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78B274-D189-E620-6A17-566C2114ACC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92024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8F009-9439-D87D-D86D-F4C748D92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37359-FF25-A14A-DA50-6E33C8A22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6E3DA-0981-8A67-C6A2-85D7A59294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FC613B-E3C7-88B8-4681-0B43643DC4D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26824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C0A3B-4F9A-F5E4-823D-6381243F9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C0D09-331A-D43C-68BA-354C03B33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026630-3A1B-715E-9EDC-B4AF75B7ED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1C9FD6-E310-F018-9572-C18E636E1E4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41907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FA88-21AC-3FA2-3FCE-1448006DD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65F72-D1F3-5ECC-3C75-206E4C4F3D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37BB4-521F-D64B-C95C-DCFC73B2A7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70CCAC-1582-AE63-0B78-08155DBB5B5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625873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30CEE-91F0-1518-326C-1101E289A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A9E9D-3ADA-B835-F432-25132D567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E49C8-D333-99EF-B674-BC5DED0DC3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772CFD-AC3C-F8F1-31E8-1A368D8D621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77047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22DE9-C318-CAD9-3BB4-E095AFE96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DD433-5140-3688-FAF3-40A4B42C6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8A255-C3CB-F111-BB1E-2A977D65CD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E58615-7E28-BAB0-8320-6E3C26C0CA8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31538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135FD-75FB-C920-78B2-038183A23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4D38E-6AAE-7B48-D6E6-CDF23B821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55FE3-BEC5-F370-14A8-2734015E0A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51528C-2502-0831-777D-54AFEFE342D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05187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8F1C9-EB4D-DFB8-3EDA-2074C23D6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62937-CE07-89A1-9AA5-48A0E2035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E64D4-B9F3-3E6F-524C-4BCBA2EEFE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9C5B3F-F116-7210-BEF3-83E51D03102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98562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0DCBC-4CCD-A6B7-D0FF-E4D648027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BDA24-FE71-1B7B-B700-EE113F9B7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E1562-A917-75E9-CCED-BD93BE20D9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36E217-AF98-D4F6-9F25-D8ACF7F0F42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371742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3A488-EEE5-1B34-1334-589BE05C4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CFD47-631E-2457-3E3A-648081C80E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F5426-BBA3-D010-4082-A23FD468CE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D40496-B6E8-7EBF-7DAE-A746CEDAE2E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50324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72A6-28C2-8434-6A90-FC4F495A0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E2032-261C-82EB-FA1D-E813A5A58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F7DDB-F620-C49D-A8A2-7423FA6068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DCF8E5-045E-4BE5-C4A9-1382544D8AC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167277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3A8A-FD50-DC0D-7728-B1680D78D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C84C6-0662-44CE-52A9-1BCB44227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D4FC7-9521-783C-47F4-EFE7350BF9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4FB9DF-76FF-0993-6121-32A7A4B1803C}"/>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156537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1B6E2-CDE7-6915-61E2-24C4B20BB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04544-5A3B-71D9-7257-2492CF8E4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5F8D4-A399-94F3-310D-2ED7A3BDC3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F6B6E5-E0D5-789D-D026-FB1EF412C87D}"/>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98850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55545-5A7E-FC8A-4E2D-E9DAD7514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D0B2B-D65B-844D-EA6B-949B7EBBE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E94B9-613C-9190-C3FF-D044FBA186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B25CEF-1E9E-FC56-47B9-D1649E09DAE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911476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6DBFF-68D7-37B7-DFAC-B01E61365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E7347-564E-D4C8-3F43-AA086AEE5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34D71-DF50-8237-8E06-E3F9A80568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DA35A9-DEC0-6150-53F1-7A0AA8A2190B}"/>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282853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6E4F7-2BFC-2425-B8A9-F1713E3D9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AAD10-6C6F-A39D-9795-1E05FF19B9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8B577-74B7-C2A4-B5FC-F14ED80F71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2F6587-0D7C-AF30-AE11-27CFB4176A3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0295810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9EE36-2547-4ABB-B65C-8F3F430D9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62356-8CF1-B4D2-6970-44801E0F9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89267-71E2-F4E1-E08C-9C3B5DAEB2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7A7BB7-F742-0A1B-6EFC-DAAD4B953918}"/>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492567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6BC6D-4735-7A2F-53B0-039267FCC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770EC-D339-2CE6-9B16-0B10CAC08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66167-0A03-56A6-4696-36C90BA5C4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6A8C3-04C4-4912-4615-DE21A77DB2A5}"/>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8148027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1265B-EC70-E3E4-AF11-89C9A8340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56523-F4D8-FC40-40EA-9A77239FF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00D87-3DA4-8F14-A287-0BE0A74F06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D8A381-D707-4062-D693-FE0195A4E4E6}"/>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1591133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51304-0714-8DC1-8259-42350B51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4D4CE-5EF2-4966-2B61-B03EFDFFF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14FFC-F122-6CE7-FFD6-B703802E7A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C8A52F-AF8D-29C9-FD05-37BFB7713E7A}"/>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5548272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747E-0E79-12EC-1DD1-AD51A8559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0E029C-B0FE-9252-BEB4-CB0A0B331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14A06-F3FF-B40F-9B97-B37B763B55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68F3CD-9C60-3AA1-37E0-63BBCAC7551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9401859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dirty="0"/>
          </a:p>
        </p:txBody>
      </p:sp>
    </p:spTree>
    <p:extLst>
      <p:ext uri="{BB962C8B-B14F-4D97-AF65-F5344CB8AC3E}">
        <p14:creationId xmlns:p14="http://schemas.microsoft.com/office/powerpoint/2010/main" val="3924465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7C3DA-27AF-2410-4F80-EDD14A645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C41E8-E70B-0746-6726-4D817F6DD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E5087-1376-E6E0-3AF4-D713E5FB3E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B694A4-5A55-6FBF-4EEF-1877F8AB2183}"/>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794380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4F8B6-040B-9576-9909-459011E0F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35C20-704C-45E7-3EA3-09FDF303F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9D89D-00A4-C641-42D0-91FB2BEAFF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88B65B-A876-A6EF-9B54-5048D9403F66}"/>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138188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2F86F-DD80-B9B7-077E-85F4679EC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F079E-8A92-CB51-E80D-C1CDB0BAF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989C3-585D-11B4-F905-1B78D8980F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E3DB16-D38D-B7CA-0D1A-8910DE0ECDF1}"/>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3723681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F24D3-21DA-4D2A-7481-ACED8B290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CD824-7871-448E-DD04-E164714F3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DD7ED-AA0C-B043-D51A-70D5F7DFF1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03363D-2A5E-1002-82F2-01F6EF36449D}"/>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42616696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8B656-AE8F-6AAA-5930-3A325FFBC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702C6-6897-491C-2B51-C9BF4EC551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4612E-7BFE-5C22-F41E-2778A22566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417512-E56B-724C-3961-F9C8037C26E4}"/>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6522824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386E6-B0F6-A0E9-C1ED-5CDAB5033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70A37-7055-19BA-E722-44FE6B766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81D92-0DD5-4D37-0224-3212C05B7D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4161B4-D768-9C4D-7B06-7CCD3FC6B142}"/>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6204019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20B8-5C7A-222F-F0E4-64160D458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CC477-78BB-A29B-B289-6DAA0A5FA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3A51F-953A-4B63-DFD0-DA597EB9C3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5A4502-D15D-91D8-7142-A709106ED390}"/>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2472204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2B406-C405-3359-B9DF-3D43C40BD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1C2BD-956F-B9EC-8411-9F314982B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716DE-47B0-2D68-C96A-D3302B8D4E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B0296D-7F17-8C1B-68A9-EDC68BDD3ABC}"/>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41889991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205C1-269E-FB8D-CEFD-76648FDDF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A1BFC-91A4-4B6D-9EE5-8C8C7E184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6F469-D3DF-E71B-04A0-F8432B9954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4A6EB9-B935-87F2-3D8A-4F9A0AF426F0}"/>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853481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7B975-928C-74F1-CC35-0889F7BF7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F6935-9C44-0D14-A253-C57240476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AFD4-2648-415B-7283-3F75A41AB5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14CB8F-0BAD-7DFF-7C6C-A91FC2A6DD60}"/>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8550009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C0F16-6538-3413-7140-3CF4FB842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DCD54-0D24-394C-85A4-107E9BA36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C105C-03F8-942A-12E9-3DCF17D519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539280-1ECD-9004-7A54-44180A5D4CCC}"/>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7327915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1D5B2-9AF0-8CB0-5D96-8C799884A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3937F-4DCC-182A-76AA-0A200788B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98794-FF33-DEA2-499F-7528C277F7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4BA11E-0BB8-7FF6-5E9D-E2C511A2AAEE}"/>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8136411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643F2-3A8F-20FD-6006-884F70DFB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D129A-E789-2E8B-2208-8FFE95625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66A1E-B358-DE27-226B-17B44E03AC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E8A1F6-3B61-A486-4198-75930C071C8C}"/>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8784202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0FBBF-6055-C81F-11ED-38CA22546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6D6BA-BC42-F12D-CDE7-F03EBDA24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2B141-F140-7C1F-4CA8-BF173AF465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09D34D-EDFE-5C14-573E-AC7FA9B7571A}"/>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3678126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F421A-DA24-3D8D-D365-3694B4099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A91D3-95E4-B03F-70A2-C957D1E73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705FA-1368-B873-41A3-6D77526404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B2292-7CA3-1A5E-292E-503D9EA782DD}"/>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4487588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69E9-7347-2916-8808-B50D571DE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15BD7-A69F-E1B9-604A-3E295278E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890EC5-C167-B388-5CA1-44553B2995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DCAE94-417B-2D6B-48C7-4CFAFC77B620}"/>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40506982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D5237-5996-F14F-26C8-0053C4F96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89E01-7D27-BEBB-FC7A-A0203D17D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48C5C-2D6B-0A1A-B810-8DB1C35E5D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B3B420-E666-93AD-E113-9236F49D68DD}"/>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116643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8CCC85-9790-B484-3957-C189A15FE8FF}"/>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0BD5FB-1C7E-CB68-FE21-8035FEC238FF}"/>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993BEC-77D1-09FB-C456-3DE8DD849254}"/>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8178E3-5CC4-EDC6-A390-7680B7257A9C}"/>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3AD722-8385-C177-7B26-CBE49DAC9433}"/>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DCECCB84-F9BA-43D5-87BE-67443E8EF086}">
      <p15:sldGuideLst xmlns:p15="http://schemas.microsoft.com/office/powerpoint/2012/main">
        <p15:guide id="1" orient="horz" pos="2592" userDrawn="1">
          <p15:clr>
            <a:srgbClr val="FBAE40"/>
          </p15:clr>
        </p15:guide>
        <p15:guide id="2" pos="460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E14A1D-9E2D-782A-50C9-DF6F9E901789}"/>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830B2C-55AA-4B7B-F860-BB40F3452AD0}"/>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4BDC54-95F6-6DC7-B1C1-92D05852ABBC}"/>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48EB8F-5CBD-D6DB-6699-512CA287B27C}"/>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A86411-B3FB-FA65-15C4-AD816E02993E}"/>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A257C2-7B8F-BCD4-5183-98C4414251B5}"/>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8DBD5D-3198-B6DF-EF7C-9D991DF2E24F}"/>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2000A3-5DC0-CFF0-C53A-7BB59A32394E}"/>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044968-67AE-5025-2F86-D29C35920A95}"/>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0B913D-A4AA-FEE3-1581-7F285F961A87}"/>
              </a:ext>
            </a:extLst>
          </p:cNvPr>
          <p:cNvSpPr/>
          <p:nvPr userDrawn="1"/>
        </p:nvSpPr>
        <p:spPr>
          <a:xfrm>
            <a:off x="2" y="845506"/>
            <a:ext cx="14630398" cy="6538587"/>
          </a:xfrm>
          <a:prstGeom prst="rect">
            <a:avLst/>
          </a:prstGeom>
          <a:solidFill>
            <a:schemeClr val="bg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blue and orange background&#10;&#10;AI-generated content may be incorrect.">
            <a:extLst>
              <a:ext uri="{FF2B5EF4-FFF2-40B4-BE49-F238E27FC236}">
                <a16:creationId xmlns:a16="http://schemas.microsoft.com/office/drawing/2014/main" id="{11AF390B-10E3-1E15-677F-535F0BBDC628}"/>
              </a:ext>
            </a:extLst>
          </p:cNvPr>
          <p:cNvPicPr>
            <a:picLocks noChangeAspect="1"/>
          </p:cNvPicPr>
          <p:nvPr userDrawn="1"/>
        </p:nvPicPr>
        <p:blipFill>
          <a:blip r:embed="rId18"/>
          <a:srcRect l="19915" t="14465" b="5451"/>
          <a:stretch>
            <a:fillRect/>
          </a:stretch>
        </p:blipFill>
        <p:spPr>
          <a:xfrm>
            <a:off x="0" y="0"/>
            <a:ext cx="14630400" cy="8229600"/>
          </a:xfrm>
          <a:prstGeom prst="rect">
            <a:avLst/>
          </a:prstGeom>
        </p:spPr>
      </p:pic>
      <p:pic>
        <p:nvPicPr>
          <p:cNvPr id="2" name="Picture 1" descr="A white letter on a black background&#10;&#10;AI-generated content may be incorrect.">
            <a:extLst>
              <a:ext uri="{FF2B5EF4-FFF2-40B4-BE49-F238E27FC236}">
                <a16:creationId xmlns:a16="http://schemas.microsoft.com/office/drawing/2014/main" id="{46E23A50-2E2D-4490-C5E7-318D8D518631}"/>
              </a:ext>
            </a:extLst>
          </p:cNvPr>
          <p:cNvPicPr>
            <a:picLocks noChangeAspect="1"/>
          </p:cNvPicPr>
          <p:nvPr userDrawn="1"/>
        </p:nvPicPr>
        <p:blipFill>
          <a:blip r:embed="rId19"/>
          <a:stretch>
            <a:fillRect/>
          </a:stretch>
        </p:blipFill>
        <p:spPr>
          <a:xfrm>
            <a:off x="11910703" y="150685"/>
            <a:ext cx="2591807" cy="516580"/>
          </a:xfrm>
          <a:prstGeom prst="rect">
            <a:avLst/>
          </a:prstGeom>
        </p:spPr>
      </p:pic>
      <p:pic>
        <p:nvPicPr>
          <p:cNvPr id="3" name="Picture 24" descr="Glass Rectangle PNGs for Free Download">
            <a:extLst>
              <a:ext uri="{FF2B5EF4-FFF2-40B4-BE49-F238E27FC236}">
                <a16:creationId xmlns:a16="http://schemas.microsoft.com/office/drawing/2014/main" id="{C8FA7E45-A068-286A-0530-9A0E8AEDBDB3}"/>
              </a:ext>
            </a:extLst>
          </p:cNvPr>
          <p:cNvPicPr>
            <a:picLocks noChangeAspect="1" noChangeArrowheads="1"/>
          </p:cNvPicPr>
          <p:nvPr userDrawn="1"/>
        </p:nvPicPr>
        <p:blipFill rotWithShape="1">
          <a:blip r:embed="rId20">
            <a:extLst>
              <a:ext uri="{28A0092B-C50C-407E-A947-70E740481C1C}">
                <a14:useLocalDpi xmlns:a14="http://schemas.microsoft.com/office/drawing/2010/main" val="0"/>
              </a:ext>
            </a:extLst>
          </a:blip>
          <a:srcRect l="20742" t="12410" r="13055" b="12036"/>
          <a:stretch>
            <a:fillRect/>
          </a:stretch>
        </p:blipFill>
        <p:spPr bwMode="auto">
          <a:xfrm>
            <a:off x="0" y="7414953"/>
            <a:ext cx="14630399" cy="81464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B2C813D1-C4E2-BB09-2559-F5A167D39D2C}"/>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13151510" y="7352719"/>
            <a:ext cx="1493013" cy="86497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www.menti.com/alsmvuaanfwr"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69024" y="1793587"/>
            <a:ext cx="13092351" cy="3964662"/>
          </a:xfrm>
          <a:prstGeom prst="rect">
            <a:avLst/>
          </a:prstGeom>
          <a:noFill/>
          <a:ln/>
        </p:spPr>
        <p:txBody>
          <a:bodyPr wrap="square" lIns="0" tIns="0" rIns="0" bIns="0" rtlCol="0" anchor="t"/>
          <a:lstStyle/>
          <a:p>
            <a:pPr marL="0" indent="0" algn="ctr">
              <a:lnSpc>
                <a:spcPct val="150000"/>
              </a:lnSpc>
              <a:buNone/>
            </a:pPr>
            <a:r>
              <a:rPr lang="en-US" sz="8800" b="1" dirty="0">
                <a:solidFill>
                  <a:schemeClr val="bg1"/>
                </a:solidFill>
                <a:latin typeface="Gill Sans MT" panose="020B0502020104020203" pitchFamily="34" charset="77"/>
                <a:ea typeface="Inter Bold" pitchFamily="34" charset="-122"/>
                <a:cs typeface="Inter Bold" pitchFamily="34" charset="-120"/>
              </a:rPr>
              <a:t>AI Fundamentals</a:t>
            </a:r>
            <a:endParaRPr lang="en-US" sz="8800" dirty="0">
              <a:solidFill>
                <a:schemeClr val="bg1"/>
              </a:solidFill>
              <a:latin typeface="Gill Sans MT" panose="020B0502020104020203" pitchFamily="34" charset="77"/>
            </a:endParaRPr>
          </a:p>
        </p:txBody>
      </p:sp>
      <p:sp>
        <p:nvSpPr>
          <p:cNvPr id="3" name="Text 1"/>
          <p:cNvSpPr/>
          <p:nvPr/>
        </p:nvSpPr>
        <p:spPr>
          <a:xfrm>
            <a:off x="769024" y="6552617"/>
            <a:ext cx="13092351" cy="346115"/>
          </a:xfrm>
          <a:prstGeom prst="rect">
            <a:avLst/>
          </a:prstGeom>
          <a:noFill/>
          <a:ln/>
        </p:spPr>
        <p:txBody>
          <a:bodyPr wrap="none" lIns="0" tIns="0" rIns="0" bIns="0" rtlCol="0" anchor="t"/>
          <a:lstStyle/>
          <a:p>
            <a:pPr marL="0" indent="0" algn="ctr">
              <a:lnSpc>
                <a:spcPts val="2700"/>
              </a:lnSpc>
              <a:buNone/>
            </a:pPr>
            <a:r>
              <a:rPr lang="en-US" sz="2400" b="1" dirty="0">
                <a:solidFill>
                  <a:schemeClr val="bg1"/>
                </a:solidFill>
                <a:latin typeface="Gill Sans MT" panose="020B0502020104020203" pitchFamily="34" charset="77"/>
                <a:ea typeface="Inter" pitchFamily="34" charset="-122"/>
                <a:cs typeface="Inter" pitchFamily="34" charset="-120"/>
              </a:rPr>
              <a:t>Essential AI knowledge, from Ground up</a:t>
            </a:r>
            <a:endParaRPr lang="en-US" sz="2400" b="1" dirty="0">
              <a:solidFill>
                <a:schemeClr val="bg1"/>
              </a:solidFill>
              <a:latin typeface="Gill Sans MT" panose="020B0502020104020203"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BC58CA6-744E-67A6-DD7F-C56F8537A1FE}"/>
              </a:ext>
            </a:extLst>
          </p:cNvPr>
          <p:cNvSpPr txBox="1"/>
          <p:nvPr/>
        </p:nvSpPr>
        <p:spPr>
          <a:xfrm>
            <a:off x="96078" y="8313008"/>
            <a:ext cx="13222357" cy="646331"/>
          </a:xfrm>
          <a:prstGeom prst="rect">
            <a:avLst/>
          </a:prstGeom>
          <a:noFill/>
        </p:spPr>
        <p:txBody>
          <a:bodyPr wrap="square">
            <a:spAutoFit/>
          </a:bodyPr>
          <a:lstStyle/>
          <a:p>
            <a:pPr algn="ctr"/>
            <a:r>
              <a:rPr lang="en-IN" sz="1200" b="1" dirty="0">
                <a:solidFill>
                  <a:schemeClr val="bg1"/>
                </a:solidFill>
                <a:latin typeface="Tw Cen MT" panose="020B0602020104020603" pitchFamily="34" charset="77"/>
              </a:rPr>
              <a:t>Confidential </a:t>
            </a:r>
            <a:r>
              <a:rPr lang="en-IN" sz="1200" b="1" dirty="0" err="1">
                <a:solidFill>
                  <a:schemeClr val="bg1"/>
                </a:solidFill>
                <a:latin typeface="Tw Cen MT" panose="020B0602020104020603" pitchFamily="34" charset="77"/>
              </a:rPr>
              <a:t>StackRoute</a:t>
            </a:r>
            <a:r>
              <a:rPr lang="en-IN" sz="1200" b="1" dirty="0">
                <a:solidFill>
                  <a:schemeClr val="bg1"/>
                </a:solidFill>
                <a:latin typeface="Tw Cen MT" panose="020B0602020104020603" pitchFamily="34" charset="77"/>
              </a:rPr>
              <a:t> &amp; RPS® An NIIT Venture</a:t>
            </a:r>
            <a:br>
              <a:rPr lang="en-IN" sz="1200" dirty="0">
                <a:solidFill>
                  <a:schemeClr val="bg1"/>
                </a:solidFill>
                <a:latin typeface="Tw Cen MT" panose="020B0602020104020603" pitchFamily="34" charset="77"/>
              </a:rPr>
            </a:br>
            <a:r>
              <a:rPr lang="en-IN" sz="1200" dirty="0">
                <a:solidFill>
                  <a:schemeClr val="bg1"/>
                </a:solidFill>
                <a:latin typeface="Tw Cen MT" panose="020B0602020104020603" pitchFamily="34" charset="77"/>
              </a:rPr>
              <a:t>All Information within this document is Intellectual property of NIIT Ltd. No part of this document  or the program design or program structure mentioned within can be shared or used within any organization without the permission of NIIT Ltd.</a:t>
            </a:r>
          </a:p>
        </p:txBody>
      </p:sp>
      <p:sp>
        <p:nvSpPr>
          <p:cNvPr id="29" name="Text Placeholder 1">
            <a:extLst>
              <a:ext uri="{FF2B5EF4-FFF2-40B4-BE49-F238E27FC236}">
                <a16:creationId xmlns:a16="http://schemas.microsoft.com/office/drawing/2014/main" id="{AFB78D99-EB63-A131-97C4-E233B2C6D73D}"/>
              </a:ext>
            </a:extLst>
          </p:cNvPr>
          <p:cNvSpPr txBox="1">
            <a:spLocks/>
          </p:cNvSpPr>
          <p:nvPr/>
        </p:nvSpPr>
        <p:spPr>
          <a:xfrm>
            <a:off x="331748" y="109232"/>
            <a:ext cx="2327104"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000" b="1" dirty="0">
                <a:solidFill>
                  <a:srgbClr val="FFFF00"/>
                </a:solidFill>
                <a:latin typeface="Gill Sans MT" panose="020B0502020104020203" pitchFamily="34" charset="0"/>
              </a:rPr>
              <a:t>Agenda</a:t>
            </a:r>
          </a:p>
        </p:txBody>
      </p:sp>
      <p:sp>
        <p:nvSpPr>
          <p:cNvPr id="35" name="Rectangle: Rounded Corners 34">
            <a:extLst>
              <a:ext uri="{FF2B5EF4-FFF2-40B4-BE49-F238E27FC236}">
                <a16:creationId xmlns:a16="http://schemas.microsoft.com/office/drawing/2014/main" id="{822A7DF9-4D85-8DA8-1DDB-2D90B8B78E6E}"/>
              </a:ext>
            </a:extLst>
          </p:cNvPr>
          <p:cNvSpPr/>
          <p:nvPr/>
        </p:nvSpPr>
        <p:spPr>
          <a:xfrm>
            <a:off x="848587" y="2556726"/>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Gill Sans MT" panose="020B0502020104020203" pitchFamily="34" charset="0"/>
              </a:rPr>
              <a:t>What is AI</a:t>
            </a:r>
            <a:endParaRPr lang="en-IN" sz="2000" b="1" dirty="0">
              <a:latin typeface="Gill Sans MT" panose="020B0502020104020203" pitchFamily="34" charset="0"/>
            </a:endParaRPr>
          </a:p>
        </p:txBody>
      </p:sp>
      <p:pic>
        <p:nvPicPr>
          <p:cNvPr id="45" name="Picture 44">
            <a:extLst>
              <a:ext uri="{FF2B5EF4-FFF2-40B4-BE49-F238E27FC236}">
                <a16:creationId xmlns:a16="http://schemas.microsoft.com/office/drawing/2014/main" id="{29A9DC1F-A5F5-D07D-9373-CBE64B84A5C2}"/>
              </a:ext>
            </a:extLst>
          </p:cNvPr>
          <p:cNvPicPr>
            <a:picLocks noChangeAspect="1"/>
          </p:cNvPicPr>
          <p:nvPr/>
        </p:nvPicPr>
        <p:blipFill>
          <a:blip r:embed="rId3"/>
          <a:stretch>
            <a:fillRect/>
          </a:stretch>
        </p:blipFill>
        <p:spPr>
          <a:xfrm>
            <a:off x="924391" y="1649369"/>
            <a:ext cx="798298" cy="7953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7" name="TextBox 46">
            <a:extLst>
              <a:ext uri="{FF2B5EF4-FFF2-40B4-BE49-F238E27FC236}">
                <a16:creationId xmlns:a16="http://schemas.microsoft.com/office/drawing/2014/main" id="{EBD40512-6F24-2D4F-49F0-DC464D6796D4}"/>
              </a:ext>
            </a:extLst>
          </p:cNvPr>
          <p:cNvSpPr txBox="1"/>
          <p:nvPr/>
        </p:nvSpPr>
        <p:spPr>
          <a:xfrm>
            <a:off x="1768455" y="2034970"/>
            <a:ext cx="1914671" cy="400110"/>
          </a:xfrm>
          <a:prstGeom prst="rect">
            <a:avLst/>
          </a:prstGeom>
          <a:noFill/>
        </p:spPr>
        <p:txBody>
          <a:bodyPr wrap="square">
            <a:spAutoFit/>
          </a:bodyPr>
          <a:lstStyle/>
          <a:p>
            <a:r>
              <a:rPr lang="en-US" sz="2000" b="1" dirty="0">
                <a:latin typeface="Gill Sans MT" panose="020B0502020104020203" pitchFamily="34" charset="0"/>
              </a:rPr>
              <a:t>1. Foundation</a:t>
            </a:r>
            <a:endParaRPr lang="en-IN" dirty="0"/>
          </a:p>
        </p:txBody>
      </p:sp>
      <p:pic>
        <p:nvPicPr>
          <p:cNvPr id="49" name="Picture 48">
            <a:extLst>
              <a:ext uri="{FF2B5EF4-FFF2-40B4-BE49-F238E27FC236}">
                <a16:creationId xmlns:a16="http://schemas.microsoft.com/office/drawing/2014/main" id="{5D202BA8-7827-AF3E-28B5-EE221F654D83}"/>
              </a:ext>
            </a:extLst>
          </p:cNvPr>
          <p:cNvPicPr>
            <a:picLocks noChangeAspect="1"/>
          </p:cNvPicPr>
          <p:nvPr/>
        </p:nvPicPr>
        <p:blipFill>
          <a:blip r:embed="rId4"/>
          <a:stretch>
            <a:fillRect/>
          </a:stretch>
        </p:blipFill>
        <p:spPr>
          <a:xfrm>
            <a:off x="5477763" y="1649369"/>
            <a:ext cx="892683" cy="7953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1" name="Rectangle: Rounded Corners 50">
            <a:extLst>
              <a:ext uri="{FF2B5EF4-FFF2-40B4-BE49-F238E27FC236}">
                <a16:creationId xmlns:a16="http://schemas.microsoft.com/office/drawing/2014/main" id="{EA3BE8BA-6849-9D52-14DC-62D643AFD9ED}"/>
              </a:ext>
            </a:extLst>
          </p:cNvPr>
          <p:cNvSpPr/>
          <p:nvPr/>
        </p:nvSpPr>
        <p:spPr>
          <a:xfrm>
            <a:off x="5502488" y="2556726"/>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Gill Sans MT" panose="020B0502020104020203" pitchFamily="34" charset="0"/>
              </a:rPr>
              <a:t>Prompting Techniques</a:t>
            </a:r>
            <a:endParaRPr lang="en-IN" sz="2000" b="1" dirty="0">
              <a:latin typeface="Gill Sans MT" panose="020B0502020104020203" pitchFamily="34" charset="0"/>
            </a:endParaRPr>
          </a:p>
        </p:txBody>
      </p:sp>
      <p:sp>
        <p:nvSpPr>
          <p:cNvPr id="53" name="TextBox 52">
            <a:extLst>
              <a:ext uri="{FF2B5EF4-FFF2-40B4-BE49-F238E27FC236}">
                <a16:creationId xmlns:a16="http://schemas.microsoft.com/office/drawing/2014/main" id="{BE658EB7-9144-576F-2B86-7211EB805D4E}"/>
              </a:ext>
            </a:extLst>
          </p:cNvPr>
          <p:cNvSpPr txBox="1"/>
          <p:nvPr/>
        </p:nvSpPr>
        <p:spPr>
          <a:xfrm>
            <a:off x="6423064" y="2047061"/>
            <a:ext cx="1914672" cy="400110"/>
          </a:xfrm>
          <a:prstGeom prst="rect">
            <a:avLst/>
          </a:prstGeom>
          <a:noFill/>
        </p:spPr>
        <p:txBody>
          <a:bodyPr wrap="square">
            <a:spAutoFit/>
          </a:bodyPr>
          <a:lstStyle/>
          <a:p>
            <a:r>
              <a:rPr lang="en-US" sz="2000" b="1" dirty="0">
                <a:latin typeface="Gill Sans MT" panose="020B0502020104020203" pitchFamily="34" charset="0"/>
              </a:rPr>
              <a:t>2. Interaction</a:t>
            </a:r>
            <a:endParaRPr lang="en-IN" dirty="0"/>
          </a:p>
        </p:txBody>
      </p:sp>
      <p:pic>
        <p:nvPicPr>
          <p:cNvPr id="55" name="Picture 54">
            <a:extLst>
              <a:ext uri="{FF2B5EF4-FFF2-40B4-BE49-F238E27FC236}">
                <a16:creationId xmlns:a16="http://schemas.microsoft.com/office/drawing/2014/main" id="{833EA805-FFD0-491A-00FA-EE63B5C5DEE7}"/>
              </a:ext>
            </a:extLst>
          </p:cNvPr>
          <p:cNvPicPr>
            <a:picLocks noChangeAspect="1"/>
          </p:cNvPicPr>
          <p:nvPr/>
        </p:nvPicPr>
        <p:blipFill>
          <a:blip r:embed="rId5"/>
          <a:stretch>
            <a:fillRect/>
          </a:stretch>
        </p:blipFill>
        <p:spPr>
          <a:xfrm>
            <a:off x="10156389" y="1649369"/>
            <a:ext cx="867958" cy="7953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7" name="Rectangle: Rounded Corners 56">
            <a:extLst>
              <a:ext uri="{FF2B5EF4-FFF2-40B4-BE49-F238E27FC236}">
                <a16:creationId xmlns:a16="http://schemas.microsoft.com/office/drawing/2014/main" id="{E4ADDA3C-DFC2-3775-81BB-717E6829673F}"/>
              </a:ext>
            </a:extLst>
          </p:cNvPr>
          <p:cNvSpPr/>
          <p:nvPr/>
        </p:nvSpPr>
        <p:spPr>
          <a:xfrm>
            <a:off x="10156389" y="2556726"/>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Gill Sans MT" panose="020B0502020104020203" pitchFamily="34" charset="0"/>
              </a:rPr>
              <a:t>AI in Practice</a:t>
            </a:r>
            <a:endParaRPr lang="en-IN" sz="2000" b="1" dirty="0">
              <a:latin typeface="Gill Sans MT" panose="020B0502020104020203" pitchFamily="34" charset="0"/>
            </a:endParaRPr>
          </a:p>
        </p:txBody>
      </p:sp>
      <p:sp>
        <p:nvSpPr>
          <p:cNvPr id="59" name="TextBox 58">
            <a:extLst>
              <a:ext uri="{FF2B5EF4-FFF2-40B4-BE49-F238E27FC236}">
                <a16:creationId xmlns:a16="http://schemas.microsoft.com/office/drawing/2014/main" id="{C65C4805-AE41-0AE8-600D-2F1E8C7C7E15}"/>
              </a:ext>
            </a:extLst>
          </p:cNvPr>
          <p:cNvSpPr txBox="1"/>
          <p:nvPr/>
        </p:nvSpPr>
        <p:spPr>
          <a:xfrm>
            <a:off x="11039900" y="2043093"/>
            <a:ext cx="1914672" cy="400110"/>
          </a:xfrm>
          <a:prstGeom prst="rect">
            <a:avLst/>
          </a:prstGeom>
          <a:noFill/>
        </p:spPr>
        <p:txBody>
          <a:bodyPr wrap="square">
            <a:spAutoFit/>
          </a:bodyPr>
          <a:lstStyle/>
          <a:p>
            <a:r>
              <a:rPr lang="en-US" sz="2000" b="1" dirty="0">
                <a:latin typeface="Gill Sans MT" panose="020B0502020104020203" pitchFamily="34" charset="0"/>
              </a:rPr>
              <a:t>3. Applications</a:t>
            </a:r>
            <a:endParaRPr lang="en-IN" dirty="0"/>
          </a:p>
        </p:txBody>
      </p:sp>
      <p:pic>
        <p:nvPicPr>
          <p:cNvPr id="61" name="Picture 60">
            <a:extLst>
              <a:ext uri="{FF2B5EF4-FFF2-40B4-BE49-F238E27FC236}">
                <a16:creationId xmlns:a16="http://schemas.microsoft.com/office/drawing/2014/main" id="{E2508843-EC4E-ACB1-4DE4-1E110DDC720E}"/>
              </a:ext>
            </a:extLst>
          </p:cNvPr>
          <p:cNvPicPr>
            <a:picLocks noChangeAspect="1"/>
          </p:cNvPicPr>
          <p:nvPr/>
        </p:nvPicPr>
        <p:blipFill>
          <a:blip r:embed="rId6"/>
          <a:stretch>
            <a:fillRect/>
          </a:stretch>
        </p:blipFill>
        <p:spPr>
          <a:xfrm>
            <a:off x="848587" y="4014832"/>
            <a:ext cx="867959" cy="78571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3" name="Rectangle: Rounded Corners 62">
            <a:extLst>
              <a:ext uri="{FF2B5EF4-FFF2-40B4-BE49-F238E27FC236}">
                <a16:creationId xmlns:a16="http://schemas.microsoft.com/office/drawing/2014/main" id="{38A71F83-707E-FE76-C1CE-18BC998EF9A0}"/>
              </a:ext>
            </a:extLst>
          </p:cNvPr>
          <p:cNvSpPr/>
          <p:nvPr/>
        </p:nvSpPr>
        <p:spPr>
          <a:xfrm>
            <a:off x="848587" y="4912515"/>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Gill Sans MT" panose="020B0502020104020203" pitchFamily="34" charset="0"/>
              </a:rPr>
              <a:t>Judgement &amp; Data</a:t>
            </a:r>
            <a:endParaRPr lang="en-IN" sz="2000" b="1" dirty="0">
              <a:latin typeface="Gill Sans MT" panose="020B0502020104020203" pitchFamily="34" charset="0"/>
            </a:endParaRPr>
          </a:p>
        </p:txBody>
      </p:sp>
      <p:sp>
        <p:nvSpPr>
          <p:cNvPr id="65" name="TextBox 64">
            <a:extLst>
              <a:ext uri="{FF2B5EF4-FFF2-40B4-BE49-F238E27FC236}">
                <a16:creationId xmlns:a16="http://schemas.microsoft.com/office/drawing/2014/main" id="{D7A1F400-2232-C022-D741-F04555554025}"/>
              </a:ext>
            </a:extLst>
          </p:cNvPr>
          <p:cNvSpPr txBox="1"/>
          <p:nvPr/>
        </p:nvSpPr>
        <p:spPr>
          <a:xfrm>
            <a:off x="1768455" y="4355540"/>
            <a:ext cx="2605841" cy="400110"/>
          </a:xfrm>
          <a:prstGeom prst="rect">
            <a:avLst/>
          </a:prstGeom>
          <a:noFill/>
        </p:spPr>
        <p:txBody>
          <a:bodyPr wrap="square">
            <a:spAutoFit/>
          </a:bodyPr>
          <a:lstStyle/>
          <a:p>
            <a:r>
              <a:rPr lang="en-US" sz="2000" b="1" dirty="0">
                <a:latin typeface="Gill Sans MT" panose="020B0502020104020203" pitchFamily="34" charset="0"/>
              </a:rPr>
              <a:t>4. Critical Analysis</a:t>
            </a:r>
            <a:endParaRPr lang="en-IN" dirty="0"/>
          </a:p>
        </p:txBody>
      </p:sp>
      <p:pic>
        <p:nvPicPr>
          <p:cNvPr id="67" name="Picture 66">
            <a:extLst>
              <a:ext uri="{FF2B5EF4-FFF2-40B4-BE49-F238E27FC236}">
                <a16:creationId xmlns:a16="http://schemas.microsoft.com/office/drawing/2014/main" id="{718782FD-665B-8296-F74E-988469BE0D76}"/>
              </a:ext>
            </a:extLst>
          </p:cNvPr>
          <p:cNvPicPr>
            <a:picLocks noChangeAspect="1"/>
          </p:cNvPicPr>
          <p:nvPr/>
        </p:nvPicPr>
        <p:blipFill>
          <a:blip r:embed="rId7"/>
          <a:stretch>
            <a:fillRect/>
          </a:stretch>
        </p:blipFill>
        <p:spPr>
          <a:xfrm>
            <a:off x="5477763" y="4008536"/>
            <a:ext cx="798298" cy="79200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9" name="Rectangle: Rounded Corners 68">
            <a:extLst>
              <a:ext uri="{FF2B5EF4-FFF2-40B4-BE49-F238E27FC236}">
                <a16:creationId xmlns:a16="http://schemas.microsoft.com/office/drawing/2014/main" id="{D1F9783C-670A-085D-399A-8169CDC990D3}"/>
              </a:ext>
            </a:extLst>
          </p:cNvPr>
          <p:cNvSpPr/>
          <p:nvPr/>
        </p:nvSpPr>
        <p:spPr>
          <a:xfrm>
            <a:off x="5503196" y="4912515"/>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Gill Sans MT" panose="020B0502020104020203" pitchFamily="34" charset="0"/>
              </a:rPr>
              <a:t>Your First Month</a:t>
            </a:r>
            <a:endParaRPr lang="en-IN" sz="2000" b="1" dirty="0">
              <a:latin typeface="Gill Sans MT" panose="020B0502020104020203" pitchFamily="34" charset="0"/>
            </a:endParaRPr>
          </a:p>
        </p:txBody>
      </p:sp>
      <p:sp>
        <p:nvSpPr>
          <p:cNvPr id="71" name="TextBox 70">
            <a:extLst>
              <a:ext uri="{FF2B5EF4-FFF2-40B4-BE49-F238E27FC236}">
                <a16:creationId xmlns:a16="http://schemas.microsoft.com/office/drawing/2014/main" id="{63D4DCE7-C91D-741F-59A9-9F5EFCAA7BC9}"/>
              </a:ext>
            </a:extLst>
          </p:cNvPr>
          <p:cNvSpPr txBox="1"/>
          <p:nvPr/>
        </p:nvSpPr>
        <p:spPr>
          <a:xfrm>
            <a:off x="6423064" y="4355540"/>
            <a:ext cx="2605841" cy="400110"/>
          </a:xfrm>
          <a:prstGeom prst="rect">
            <a:avLst/>
          </a:prstGeom>
          <a:noFill/>
        </p:spPr>
        <p:txBody>
          <a:bodyPr wrap="square">
            <a:spAutoFit/>
          </a:bodyPr>
          <a:lstStyle/>
          <a:p>
            <a:r>
              <a:rPr lang="en-US" sz="2000" b="1" dirty="0">
                <a:latin typeface="Gill Sans MT" panose="020B0502020104020203" pitchFamily="34" charset="0"/>
              </a:rPr>
              <a:t>5. Action Plan</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E6A5D-E3A1-F697-BB82-E41418652663}"/>
            </a:ext>
          </a:extLst>
        </p:cNvPr>
        <p:cNvGrpSpPr/>
        <p:nvPr/>
      </p:nvGrpSpPr>
      <p:grpSpPr>
        <a:xfrm>
          <a:off x="0" y="0"/>
          <a:ext cx="0" cy="0"/>
          <a:chOff x="0" y="0"/>
          <a:chExt cx="0" cy="0"/>
        </a:xfrm>
      </p:grpSpPr>
      <p:pic>
        <p:nvPicPr>
          <p:cNvPr id="32" name="Graphic 31" descr="Checkmark with solid fill">
            <a:extLst>
              <a:ext uri="{FF2B5EF4-FFF2-40B4-BE49-F238E27FC236}">
                <a16:creationId xmlns:a16="http://schemas.microsoft.com/office/drawing/2014/main" id="{060014FE-A368-A55D-CEAE-693398AA4D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421" y="5494971"/>
            <a:ext cx="584775" cy="584775"/>
          </a:xfrm>
          <a:prstGeom prst="rect">
            <a:avLst/>
          </a:prstGeom>
        </p:spPr>
      </p:pic>
      <p:pic>
        <p:nvPicPr>
          <p:cNvPr id="30" name="Graphic 29" descr="Checkmark with solid fill">
            <a:extLst>
              <a:ext uri="{FF2B5EF4-FFF2-40B4-BE49-F238E27FC236}">
                <a16:creationId xmlns:a16="http://schemas.microsoft.com/office/drawing/2014/main" id="{74A39E5B-5202-3D65-8AA4-D599FD397B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421" y="4689804"/>
            <a:ext cx="584775" cy="584775"/>
          </a:xfrm>
          <a:prstGeom prst="rect">
            <a:avLst/>
          </a:prstGeom>
        </p:spPr>
      </p:pic>
      <p:pic>
        <p:nvPicPr>
          <p:cNvPr id="27" name="Graphic 26" descr="Close with solid fill">
            <a:extLst>
              <a:ext uri="{FF2B5EF4-FFF2-40B4-BE49-F238E27FC236}">
                <a16:creationId xmlns:a16="http://schemas.microsoft.com/office/drawing/2014/main" id="{93E5854F-90FF-F720-8242-48FF2C60D1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7421" y="6300139"/>
            <a:ext cx="584775" cy="584775"/>
          </a:xfrm>
          <a:prstGeom prst="rect">
            <a:avLst/>
          </a:prstGeom>
        </p:spPr>
      </p:pic>
      <p:pic>
        <p:nvPicPr>
          <p:cNvPr id="24" name="Graphic 23" descr="Close with solid fill">
            <a:extLst>
              <a:ext uri="{FF2B5EF4-FFF2-40B4-BE49-F238E27FC236}">
                <a16:creationId xmlns:a16="http://schemas.microsoft.com/office/drawing/2014/main" id="{6B252EE2-7BD7-330C-B01E-648D330A2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7421" y="3884637"/>
            <a:ext cx="584775" cy="584775"/>
          </a:xfrm>
          <a:prstGeom prst="rect">
            <a:avLst/>
          </a:prstGeom>
        </p:spPr>
      </p:pic>
      <p:pic>
        <p:nvPicPr>
          <p:cNvPr id="22" name="Graphic 21" descr="Close with solid fill">
            <a:extLst>
              <a:ext uri="{FF2B5EF4-FFF2-40B4-BE49-F238E27FC236}">
                <a16:creationId xmlns:a16="http://schemas.microsoft.com/office/drawing/2014/main" id="{F7E30F11-B2E9-1F89-456A-B9A0385E41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7421" y="2274303"/>
            <a:ext cx="584775" cy="584775"/>
          </a:xfrm>
          <a:prstGeom prst="rect">
            <a:avLst/>
          </a:prstGeom>
        </p:spPr>
      </p:pic>
      <p:pic>
        <p:nvPicPr>
          <p:cNvPr id="20" name="Graphic 19" descr="Checkmark with solid fill">
            <a:extLst>
              <a:ext uri="{FF2B5EF4-FFF2-40B4-BE49-F238E27FC236}">
                <a16:creationId xmlns:a16="http://schemas.microsoft.com/office/drawing/2014/main" id="{B0F05BB1-9EDA-9B5A-5F6D-30D0EE0D68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421" y="3079470"/>
            <a:ext cx="584775" cy="584775"/>
          </a:xfrm>
          <a:prstGeom prst="rect">
            <a:avLst/>
          </a:prstGeom>
        </p:spPr>
      </p:pic>
      <p:sp>
        <p:nvSpPr>
          <p:cNvPr id="29" name="Text Placeholder 1">
            <a:extLst>
              <a:ext uri="{FF2B5EF4-FFF2-40B4-BE49-F238E27FC236}">
                <a16:creationId xmlns:a16="http://schemas.microsoft.com/office/drawing/2014/main" id="{30FF87D4-8A98-CA4F-F067-74B87657EB22}"/>
              </a:ext>
            </a:extLst>
          </p:cNvPr>
          <p:cNvSpPr txBox="1">
            <a:spLocks/>
          </p:cNvSpPr>
          <p:nvPr/>
        </p:nvSpPr>
        <p:spPr>
          <a:xfrm>
            <a:off x="267815" y="1070460"/>
            <a:ext cx="12682066" cy="87471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000" b="1" dirty="0">
                <a:latin typeface="Gill Sans MT" panose="020B0502020104020203" pitchFamily="34" charset="0"/>
              </a:rPr>
              <a:t>Which of these are AI applications?</a:t>
            </a:r>
          </a:p>
        </p:txBody>
      </p:sp>
      <p:sp>
        <p:nvSpPr>
          <p:cNvPr id="5" name="TextBox 4">
            <a:extLst>
              <a:ext uri="{FF2B5EF4-FFF2-40B4-BE49-F238E27FC236}">
                <a16:creationId xmlns:a16="http://schemas.microsoft.com/office/drawing/2014/main" id="{B46DEE6B-29EC-D940-8144-6964B8715B60}"/>
              </a:ext>
            </a:extLst>
          </p:cNvPr>
          <p:cNvSpPr txBox="1"/>
          <p:nvPr/>
        </p:nvSpPr>
        <p:spPr>
          <a:xfrm>
            <a:off x="855703" y="2237260"/>
            <a:ext cx="3246739" cy="584775"/>
          </a:xfrm>
          <a:prstGeom prst="rect">
            <a:avLst/>
          </a:prstGeom>
          <a:noFill/>
        </p:spPr>
        <p:txBody>
          <a:bodyPr wrap="square">
            <a:spAutoFit/>
          </a:bodyPr>
          <a:lstStyle/>
          <a:p>
            <a:r>
              <a:rPr lang="en-IN" sz="3200" dirty="0">
                <a:latin typeface="Gill Sans MT" panose="020B0502020104020203" pitchFamily="34" charset="0"/>
              </a:rPr>
              <a:t>1. A calculator</a:t>
            </a:r>
          </a:p>
        </p:txBody>
      </p:sp>
      <p:sp>
        <p:nvSpPr>
          <p:cNvPr id="7" name="TextBox 6">
            <a:extLst>
              <a:ext uri="{FF2B5EF4-FFF2-40B4-BE49-F238E27FC236}">
                <a16:creationId xmlns:a16="http://schemas.microsoft.com/office/drawing/2014/main" id="{EFE76F02-5023-876A-9DFE-3A7880C837EE}"/>
              </a:ext>
            </a:extLst>
          </p:cNvPr>
          <p:cNvSpPr txBox="1"/>
          <p:nvPr/>
        </p:nvSpPr>
        <p:spPr>
          <a:xfrm>
            <a:off x="855704" y="3046693"/>
            <a:ext cx="12918992" cy="584775"/>
          </a:xfrm>
          <a:prstGeom prst="rect">
            <a:avLst/>
          </a:prstGeom>
          <a:noFill/>
        </p:spPr>
        <p:txBody>
          <a:bodyPr wrap="square">
            <a:spAutoFit/>
          </a:bodyPr>
          <a:lstStyle/>
          <a:p>
            <a:r>
              <a:rPr lang="en-IN" sz="3200" dirty="0">
                <a:latin typeface="Gill Sans MT" panose="020B0502020104020203" pitchFamily="34" charset="0"/>
              </a:rPr>
              <a:t>2. Spam Filter that automatically marks your email as </a:t>
            </a:r>
            <a:r>
              <a:rPr lang="en-IN" sz="3200" b="1" dirty="0">
                <a:solidFill>
                  <a:srgbClr val="FF0000"/>
                </a:solidFill>
                <a:latin typeface="Gill Sans MT" panose="020B0502020104020203" pitchFamily="34" charset="0"/>
              </a:rPr>
              <a:t>Spam</a:t>
            </a:r>
            <a:r>
              <a:rPr lang="en-IN" sz="3200" dirty="0">
                <a:latin typeface="Gill Sans MT" panose="020B0502020104020203" pitchFamily="34" charset="0"/>
              </a:rPr>
              <a:t> / </a:t>
            </a:r>
            <a:r>
              <a:rPr lang="en-IN" sz="3200" b="1" dirty="0">
                <a:solidFill>
                  <a:srgbClr val="00B050"/>
                </a:solidFill>
                <a:latin typeface="Gill Sans MT" panose="020B0502020104020203" pitchFamily="34" charset="0"/>
              </a:rPr>
              <a:t>Not Spam</a:t>
            </a:r>
          </a:p>
        </p:txBody>
      </p:sp>
      <p:sp>
        <p:nvSpPr>
          <p:cNvPr id="10" name="TextBox 9">
            <a:extLst>
              <a:ext uri="{FF2B5EF4-FFF2-40B4-BE49-F238E27FC236}">
                <a16:creationId xmlns:a16="http://schemas.microsoft.com/office/drawing/2014/main" id="{88861F0C-BA06-BE70-AD1D-9925CBE82DD4}"/>
              </a:ext>
            </a:extLst>
          </p:cNvPr>
          <p:cNvSpPr txBox="1"/>
          <p:nvPr/>
        </p:nvSpPr>
        <p:spPr>
          <a:xfrm>
            <a:off x="855704" y="3856126"/>
            <a:ext cx="10215949" cy="584775"/>
          </a:xfrm>
          <a:prstGeom prst="rect">
            <a:avLst/>
          </a:prstGeom>
          <a:noFill/>
        </p:spPr>
        <p:txBody>
          <a:bodyPr wrap="square">
            <a:spAutoFit/>
          </a:bodyPr>
          <a:lstStyle/>
          <a:p>
            <a:r>
              <a:rPr lang="en-IN" sz="3200" dirty="0">
                <a:latin typeface="Gill Sans MT" panose="020B0502020104020203" pitchFamily="34" charset="0"/>
              </a:rPr>
              <a:t>3. Transaction Alert if amount exceeds Rs 25000</a:t>
            </a:r>
          </a:p>
        </p:txBody>
      </p:sp>
      <p:sp>
        <p:nvSpPr>
          <p:cNvPr id="12" name="TextBox 11">
            <a:extLst>
              <a:ext uri="{FF2B5EF4-FFF2-40B4-BE49-F238E27FC236}">
                <a16:creationId xmlns:a16="http://schemas.microsoft.com/office/drawing/2014/main" id="{F773F840-CE64-C077-3312-DD18270373FC}"/>
              </a:ext>
            </a:extLst>
          </p:cNvPr>
          <p:cNvSpPr txBox="1"/>
          <p:nvPr/>
        </p:nvSpPr>
        <p:spPr>
          <a:xfrm>
            <a:off x="855704" y="4665559"/>
            <a:ext cx="10215949" cy="584775"/>
          </a:xfrm>
          <a:prstGeom prst="rect">
            <a:avLst/>
          </a:prstGeom>
          <a:noFill/>
        </p:spPr>
        <p:txBody>
          <a:bodyPr wrap="square">
            <a:spAutoFit/>
          </a:bodyPr>
          <a:lstStyle/>
          <a:p>
            <a:r>
              <a:rPr lang="en-IN" sz="3200" dirty="0">
                <a:latin typeface="Gill Sans MT" panose="020B0502020104020203" pitchFamily="34" charset="0"/>
              </a:rPr>
              <a:t>4. Next word detector based on the current word entered</a:t>
            </a:r>
          </a:p>
        </p:txBody>
      </p:sp>
      <p:sp>
        <p:nvSpPr>
          <p:cNvPr id="15" name="TextBox 14">
            <a:extLst>
              <a:ext uri="{FF2B5EF4-FFF2-40B4-BE49-F238E27FC236}">
                <a16:creationId xmlns:a16="http://schemas.microsoft.com/office/drawing/2014/main" id="{B5DB6336-9844-DC48-54BF-98D970429BD1}"/>
              </a:ext>
            </a:extLst>
          </p:cNvPr>
          <p:cNvSpPr txBox="1"/>
          <p:nvPr/>
        </p:nvSpPr>
        <p:spPr>
          <a:xfrm>
            <a:off x="855704" y="5474992"/>
            <a:ext cx="10215949" cy="584775"/>
          </a:xfrm>
          <a:prstGeom prst="rect">
            <a:avLst/>
          </a:prstGeom>
          <a:noFill/>
        </p:spPr>
        <p:txBody>
          <a:bodyPr wrap="square">
            <a:spAutoFit/>
          </a:bodyPr>
          <a:lstStyle/>
          <a:p>
            <a:r>
              <a:rPr lang="en-US" sz="3200" dirty="0">
                <a:latin typeface="Gill Sans MT" panose="020B0502020104020203" pitchFamily="34" charset="0"/>
              </a:rPr>
              <a:t>5. T</a:t>
            </a:r>
            <a:r>
              <a:rPr lang="en-IN" sz="3200" dirty="0" err="1">
                <a:latin typeface="Gill Sans MT" panose="020B0502020104020203" pitchFamily="34" charset="0"/>
              </a:rPr>
              <a:t>axi</a:t>
            </a:r>
            <a:r>
              <a:rPr lang="en-IN" sz="3200" dirty="0">
                <a:latin typeface="Gill Sans MT" panose="020B0502020104020203" pitchFamily="34" charset="0"/>
              </a:rPr>
              <a:t> apps that predict arrival time</a:t>
            </a:r>
          </a:p>
        </p:txBody>
      </p:sp>
      <p:sp>
        <p:nvSpPr>
          <p:cNvPr id="17" name="TextBox 16">
            <a:extLst>
              <a:ext uri="{FF2B5EF4-FFF2-40B4-BE49-F238E27FC236}">
                <a16:creationId xmlns:a16="http://schemas.microsoft.com/office/drawing/2014/main" id="{96C87C97-2495-F178-F2DB-43B921B38756}"/>
              </a:ext>
            </a:extLst>
          </p:cNvPr>
          <p:cNvSpPr txBox="1"/>
          <p:nvPr/>
        </p:nvSpPr>
        <p:spPr>
          <a:xfrm>
            <a:off x="855704" y="6284426"/>
            <a:ext cx="11365128" cy="584775"/>
          </a:xfrm>
          <a:prstGeom prst="rect">
            <a:avLst/>
          </a:prstGeom>
          <a:noFill/>
        </p:spPr>
        <p:txBody>
          <a:bodyPr wrap="square">
            <a:spAutoFit/>
          </a:bodyPr>
          <a:lstStyle/>
          <a:p>
            <a:r>
              <a:rPr lang="en-IN" sz="3200" dirty="0">
                <a:latin typeface="Gill Sans MT" panose="020B0502020104020203" pitchFamily="34" charset="0"/>
              </a:rPr>
              <a:t>6. Automatic switching on lights at home every evening at 6:30</a:t>
            </a:r>
          </a:p>
        </p:txBody>
      </p:sp>
      <p:sp>
        <p:nvSpPr>
          <p:cNvPr id="3" name="Text Placeholder 1">
            <a:extLst>
              <a:ext uri="{FF2B5EF4-FFF2-40B4-BE49-F238E27FC236}">
                <a16:creationId xmlns:a16="http://schemas.microsoft.com/office/drawing/2014/main" id="{AD51F9DB-4CA7-C3D2-0A0E-3FE0CB6E5566}"/>
              </a:ext>
            </a:extLst>
          </p:cNvPr>
          <p:cNvSpPr txBox="1">
            <a:spLocks/>
          </p:cNvSpPr>
          <p:nvPr/>
        </p:nvSpPr>
        <p:spPr>
          <a:xfrm>
            <a:off x="331747" y="109232"/>
            <a:ext cx="4524457"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Test Your Knowledge</a:t>
            </a:r>
          </a:p>
        </p:txBody>
      </p:sp>
    </p:spTree>
    <p:extLst>
      <p:ext uri="{BB962C8B-B14F-4D97-AF65-F5344CB8AC3E}">
        <p14:creationId xmlns:p14="http://schemas.microsoft.com/office/powerpoint/2010/main" val="335077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2" grpId="0"/>
      <p:bldP spid="15"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6380-0A0F-4F1F-0DFD-FB04FAC412E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8E4C0CE-4A08-443D-75C1-5F53C9717160}"/>
              </a:ext>
            </a:extLst>
          </p:cNvPr>
          <p:cNvSpPr/>
          <p:nvPr/>
        </p:nvSpPr>
        <p:spPr>
          <a:xfrm>
            <a:off x="1063806" y="205989"/>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Gill Sans MT" panose="020B0502020104020203" pitchFamily="34" charset="0"/>
              </a:rPr>
              <a:t>1. What is AI</a:t>
            </a:r>
            <a:endParaRPr lang="en-IN" sz="2000" b="1" dirty="0">
              <a:solidFill>
                <a:srgbClr val="FFFF00"/>
              </a:solidFill>
              <a:latin typeface="Gill Sans MT" panose="020B0502020104020203" pitchFamily="34" charset="0"/>
            </a:endParaRPr>
          </a:p>
        </p:txBody>
      </p:sp>
      <p:pic>
        <p:nvPicPr>
          <p:cNvPr id="6" name="Picture 5">
            <a:extLst>
              <a:ext uri="{FF2B5EF4-FFF2-40B4-BE49-F238E27FC236}">
                <a16:creationId xmlns:a16="http://schemas.microsoft.com/office/drawing/2014/main" id="{D66A4ABB-6B0C-5F83-0E5C-13CE86548DD7}"/>
              </a:ext>
            </a:extLst>
          </p:cNvPr>
          <p:cNvPicPr>
            <a:picLocks noChangeAspect="1"/>
          </p:cNvPicPr>
          <p:nvPr/>
        </p:nvPicPr>
        <p:blipFill>
          <a:blip r:embed="rId3"/>
          <a:stretch>
            <a:fillRect/>
          </a:stretch>
        </p:blipFill>
        <p:spPr>
          <a:xfrm>
            <a:off x="144247" y="24714"/>
            <a:ext cx="798298" cy="7953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extBox 1">
            <a:extLst>
              <a:ext uri="{FF2B5EF4-FFF2-40B4-BE49-F238E27FC236}">
                <a16:creationId xmlns:a16="http://schemas.microsoft.com/office/drawing/2014/main" id="{AAA3078E-2602-ACB6-CB9D-7F548ADBCFF4}"/>
              </a:ext>
            </a:extLst>
          </p:cNvPr>
          <p:cNvSpPr txBox="1"/>
          <p:nvPr/>
        </p:nvSpPr>
        <p:spPr>
          <a:xfrm>
            <a:off x="543396" y="1310503"/>
            <a:ext cx="3246739" cy="2554545"/>
          </a:xfrm>
          <a:prstGeom prst="rect">
            <a:avLst/>
          </a:prstGeom>
          <a:noFill/>
        </p:spPr>
        <p:txBody>
          <a:bodyPr wrap="square">
            <a:spAutoFit/>
          </a:bodyPr>
          <a:lstStyle/>
          <a:p>
            <a:pPr marL="514350" indent="-514350">
              <a:buFont typeface="+mj-lt"/>
              <a:buAutoNum type="arabicPeriod"/>
            </a:pPr>
            <a:r>
              <a:rPr lang="en-IN" sz="3200" dirty="0">
                <a:latin typeface="Gill Sans MT" panose="020B0502020104020203" pitchFamily="34" charset="0"/>
              </a:rPr>
              <a:t>Definition</a:t>
            </a:r>
          </a:p>
          <a:p>
            <a:pPr marL="514350" indent="-514350">
              <a:buFont typeface="+mj-lt"/>
              <a:buAutoNum type="arabicPeriod"/>
            </a:pPr>
            <a:endParaRPr lang="en-IN" sz="3200" dirty="0">
              <a:latin typeface="Gill Sans MT" panose="020B0502020104020203" pitchFamily="34" charset="0"/>
            </a:endParaRPr>
          </a:p>
          <a:p>
            <a:pPr marL="514350" indent="-514350">
              <a:buFont typeface="+mj-lt"/>
              <a:buAutoNum type="arabicPeriod"/>
            </a:pPr>
            <a:r>
              <a:rPr lang="en-IN" sz="3200" dirty="0">
                <a:latin typeface="Gill Sans MT" panose="020B0502020104020203" pitchFamily="34" charset="0"/>
              </a:rPr>
              <a:t>Examples</a:t>
            </a:r>
          </a:p>
          <a:p>
            <a:pPr marL="514350" indent="-514350">
              <a:buFont typeface="+mj-lt"/>
              <a:buAutoNum type="arabicPeriod"/>
            </a:pPr>
            <a:endParaRPr lang="en-IN" sz="3200" dirty="0">
              <a:latin typeface="Gill Sans MT" panose="020B0502020104020203" pitchFamily="34" charset="0"/>
            </a:endParaRPr>
          </a:p>
          <a:p>
            <a:pPr marL="514350" indent="-514350">
              <a:buFont typeface="+mj-lt"/>
              <a:buAutoNum type="arabicPeriod"/>
            </a:pPr>
            <a:r>
              <a:rPr lang="en-IN" sz="3200" dirty="0">
                <a:latin typeface="Gill Sans MT" panose="020B0502020104020203" pitchFamily="34" charset="0"/>
              </a:rPr>
              <a:t>Evolution of AI</a:t>
            </a:r>
          </a:p>
        </p:txBody>
      </p:sp>
    </p:spTree>
    <p:extLst>
      <p:ext uri="{BB962C8B-B14F-4D97-AF65-F5344CB8AC3E}">
        <p14:creationId xmlns:p14="http://schemas.microsoft.com/office/powerpoint/2010/main" val="898558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5C350-995D-0AFE-D6F7-D1BC23C9A27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AD1922F-608A-5373-B164-8846C474B7CB}"/>
              </a:ext>
            </a:extLst>
          </p:cNvPr>
          <p:cNvSpPr txBox="1"/>
          <p:nvPr/>
        </p:nvSpPr>
        <p:spPr>
          <a:xfrm>
            <a:off x="236348" y="1302673"/>
            <a:ext cx="6732863" cy="4401205"/>
          </a:xfrm>
          <a:prstGeom prst="rect">
            <a:avLst/>
          </a:prstGeom>
          <a:noFill/>
          <a:ln>
            <a:noFill/>
          </a:ln>
        </p:spPr>
        <p:txBody>
          <a:bodyPr wrap="square">
            <a:spAutoFit/>
          </a:bodyPr>
          <a:lstStyle/>
          <a:p>
            <a:pPr algn="ctr"/>
            <a:r>
              <a:rPr lang="en-US" sz="2800" b="1" u="sng" dirty="0">
                <a:latin typeface="Gill Sans MT" panose="020B0502020104020203" pitchFamily="34" charset="0"/>
              </a:rPr>
              <a:t>Traditional definition</a:t>
            </a:r>
          </a:p>
          <a:p>
            <a:endParaRPr lang="en-US" sz="2800" dirty="0">
              <a:latin typeface="Gill Sans MT" panose="020B0502020104020203" pitchFamily="34" charset="0"/>
            </a:endParaRPr>
          </a:p>
          <a:p>
            <a:pPr marL="285750" indent="-285750">
              <a:buFont typeface="Arial" panose="020B0604020202020204" pitchFamily="34" charset="0"/>
              <a:buChar char="•"/>
            </a:pPr>
            <a:r>
              <a:rPr lang="en-US" sz="2800" dirty="0">
                <a:latin typeface="Gill Sans MT" panose="020B0502020104020203" pitchFamily="34" charset="0"/>
              </a:rPr>
              <a:t>A field of computer science that enables machines to simulate human intelligence through</a:t>
            </a:r>
          </a:p>
          <a:p>
            <a:pPr marL="285750" indent="-285750">
              <a:buFont typeface="Arial" panose="020B0604020202020204" pitchFamily="34" charset="0"/>
              <a:buChar char="•"/>
            </a:pPr>
            <a:endParaRPr lang="en-US" sz="2800" dirty="0">
              <a:latin typeface="Gill Sans MT" panose="020B0502020104020203" pitchFamily="34" charset="0"/>
            </a:endParaRPr>
          </a:p>
          <a:p>
            <a:pPr marL="914400" lvl="1" indent="-457200">
              <a:buFont typeface="Wingdings" panose="05000000000000000000" pitchFamily="2" charset="2"/>
              <a:buChar char="ü"/>
            </a:pPr>
            <a:r>
              <a:rPr lang="en-US" sz="2800" dirty="0">
                <a:latin typeface="Gill Sans MT" panose="020B0502020104020203" pitchFamily="34" charset="0"/>
              </a:rPr>
              <a:t>Learning</a:t>
            </a:r>
          </a:p>
          <a:p>
            <a:pPr marL="914400" lvl="1" indent="-457200">
              <a:buFont typeface="Wingdings" panose="05000000000000000000" pitchFamily="2" charset="2"/>
              <a:buChar char="ü"/>
            </a:pPr>
            <a:r>
              <a:rPr lang="en-US" sz="2800" dirty="0">
                <a:latin typeface="Gill Sans MT" panose="020B0502020104020203" pitchFamily="34" charset="0"/>
              </a:rPr>
              <a:t>Reasoning</a:t>
            </a:r>
          </a:p>
          <a:p>
            <a:pPr marL="914400" lvl="1" indent="-457200">
              <a:buFont typeface="Wingdings" panose="05000000000000000000" pitchFamily="2" charset="2"/>
              <a:buChar char="ü"/>
            </a:pPr>
            <a:r>
              <a:rPr lang="en-US" sz="2800" dirty="0">
                <a:latin typeface="Gill Sans MT" panose="020B0502020104020203" pitchFamily="34" charset="0"/>
              </a:rPr>
              <a:t>Perception</a:t>
            </a:r>
          </a:p>
          <a:p>
            <a:pPr marL="914400" lvl="1" indent="-457200">
              <a:buFont typeface="Wingdings" panose="05000000000000000000" pitchFamily="2" charset="2"/>
              <a:buChar char="ü"/>
            </a:pPr>
            <a:r>
              <a:rPr lang="en-US" sz="2800" dirty="0">
                <a:latin typeface="Gill Sans MT" panose="020B0502020104020203" pitchFamily="34" charset="0"/>
              </a:rPr>
              <a:t>Decision-making</a:t>
            </a:r>
            <a:endParaRPr lang="en-IN" sz="2800" dirty="0">
              <a:latin typeface="Gill Sans MT" panose="020B0502020104020203" pitchFamily="34" charset="0"/>
            </a:endParaRPr>
          </a:p>
        </p:txBody>
      </p:sp>
      <p:sp>
        <p:nvSpPr>
          <p:cNvPr id="16" name="TextBox 15">
            <a:extLst>
              <a:ext uri="{FF2B5EF4-FFF2-40B4-BE49-F238E27FC236}">
                <a16:creationId xmlns:a16="http://schemas.microsoft.com/office/drawing/2014/main" id="{D348ED4C-FBD3-50F7-AB17-F276A36AF2C5}"/>
              </a:ext>
            </a:extLst>
          </p:cNvPr>
          <p:cNvSpPr txBox="1"/>
          <p:nvPr/>
        </p:nvSpPr>
        <p:spPr>
          <a:xfrm>
            <a:off x="7315200" y="1302673"/>
            <a:ext cx="7078852" cy="4401205"/>
          </a:xfrm>
          <a:prstGeom prst="rect">
            <a:avLst/>
          </a:prstGeom>
          <a:noFill/>
          <a:ln>
            <a:noFill/>
          </a:ln>
        </p:spPr>
        <p:txBody>
          <a:bodyPr wrap="square">
            <a:spAutoFit/>
          </a:bodyPr>
          <a:lstStyle/>
          <a:p>
            <a:pPr algn="ctr"/>
            <a:r>
              <a:rPr lang="en-US" sz="2800" b="1" dirty="0">
                <a:latin typeface="Gill Sans MT" panose="020B0502020104020203" pitchFamily="34" charset="0"/>
              </a:rPr>
              <a:t>Over the years, the definition has been refined to include other aspects of Intelligence.</a:t>
            </a:r>
          </a:p>
          <a:p>
            <a:endParaRPr lang="en-US"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Language understanding</a:t>
            </a:r>
          </a:p>
          <a:p>
            <a:pPr marL="457200" indent="-457200">
              <a:buFont typeface="Arial" panose="020B0604020202020204" pitchFamily="34" charset="0"/>
              <a:buChar char="•"/>
            </a:pPr>
            <a:r>
              <a:rPr lang="en-IN" sz="2800" dirty="0">
                <a:latin typeface="Gill Sans MT" panose="020B0502020104020203" pitchFamily="34" charset="0"/>
              </a:rPr>
              <a:t>Generation of different types of contents</a:t>
            </a:r>
          </a:p>
          <a:p>
            <a:pPr marL="457200" indent="-457200">
              <a:buFont typeface="Arial" panose="020B0604020202020204" pitchFamily="34" charset="0"/>
              <a:buChar char="•"/>
            </a:pPr>
            <a:r>
              <a:rPr lang="en-IN" sz="2800" dirty="0">
                <a:latin typeface="Gill Sans MT" panose="020B0502020104020203" pitchFamily="34" charset="0"/>
              </a:rPr>
              <a:t>Planning and Problem-Solving</a:t>
            </a:r>
          </a:p>
          <a:p>
            <a:pPr marL="457200" indent="-457200">
              <a:buFont typeface="Arial" panose="020B0604020202020204" pitchFamily="34" charset="0"/>
              <a:buChar char="•"/>
            </a:pPr>
            <a:r>
              <a:rPr lang="en-IN" sz="2800" dirty="0">
                <a:latin typeface="Gill Sans MT" panose="020B0502020104020203" pitchFamily="34" charset="0"/>
              </a:rPr>
              <a:t>Action and Autonomy</a:t>
            </a:r>
          </a:p>
          <a:p>
            <a:pPr marL="457200" indent="-457200">
              <a:buFont typeface="Arial" panose="020B0604020202020204" pitchFamily="34" charset="0"/>
              <a:buChar char="•"/>
            </a:pPr>
            <a:r>
              <a:rPr lang="en-IN" sz="2800" dirty="0">
                <a:latin typeface="Gill Sans MT" panose="020B0502020104020203" pitchFamily="34" charset="0"/>
              </a:rPr>
              <a:t>Adaptation</a:t>
            </a:r>
          </a:p>
          <a:p>
            <a:pPr marL="457200" indent="-457200">
              <a:buFont typeface="Arial" panose="020B0604020202020204" pitchFamily="34" charset="0"/>
              <a:buChar char="•"/>
            </a:pPr>
            <a:r>
              <a:rPr lang="en-IN" sz="2800" dirty="0">
                <a:latin typeface="Gill Sans MT" panose="020B0502020104020203" pitchFamily="34" charset="0"/>
              </a:rPr>
              <a:t>Pattern Recognition</a:t>
            </a:r>
          </a:p>
        </p:txBody>
      </p:sp>
      <p:sp>
        <p:nvSpPr>
          <p:cNvPr id="25" name="Text Placeholder 1">
            <a:extLst>
              <a:ext uri="{FF2B5EF4-FFF2-40B4-BE49-F238E27FC236}">
                <a16:creationId xmlns:a16="http://schemas.microsoft.com/office/drawing/2014/main" id="{9D9AEF2C-DD47-68A8-0102-95B917DDAC65}"/>
              </a:ext>
            </a:extLst>
          </p:cNvPr>
          <p:cNvSpPr txBox="1">
            <a:spLocks/>
          </p:cNvSpPr>
          <p:nvPr/>
        </p:nvSpPr>
        <p:spPr>
          <a:xfrm>
            <a:off x="331747" y="109232"/>
            <a:ext cx="4524457"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1. Definition</a:t>
            </a:r>
          </a:p>
        </p:txBody>
      </p:sp>
    </p:spTree>
    <p:extLst>
      <p:ext uri="{BB962C8B-B14F-4D97-AF65-F5344CB8AC3E}">
        <p14:creationId xmlns:p14="http://schemas.microsoft.com/office/powerpoint/2010/main" val="324550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2412042" y="1508760"/>
            <a:ext cx="3566160" cy="1085017"/>
            <a:chOff x="2514600" y="3429000"/>
            <a:chExt cx="3566160" cy="1085017"/>
          </a:xfrm>
        </p:grpSpPr>
        <p:sp>
          <p:nvSpPr>
            <p:cNvPr id="10" name="Oval 9"/>
            <p:cNvSpPr/>
            <p:nvPr/>
          </p:nvSpPr>
          <p:spPr>
            <a:xfrm>
              <a:off x="3931920" y="3429000"/>
              <a:ext cx="731520" cy="731520"/>
            </a:xfrm>
            <a:prstGeom prst="ellipse">
              <a:avLst/>
            </a:prstGeom>
            <a:solidFill>
              <a:srgbClr val="F05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pic>
          <p:nvPicPr>
            <p:cNvPr id="11" name="Picture 10" descr="db_w.png"/>
            <p:cNvPicPr>
              <a:picLocks noChangeAspect="1"/>
            </p:cNvPicPr>
            <p:nvPr/>
          </p:nvPicPr>
          <p:blipFill>
            <a:blip r:embed="rId3"/>
            <a:stretch>
              <a:fillRect/>
            </a:stretch>
          </p:blipFill>
          <p:spPr>
            <a:xfrm>
              <a:off x="4114800" y="3611880"/>
              <a:ext cx="365760" cy="365760"/>
            </a:xfrm>
            <a:prstGeom prst="rect">
              <a:avLst/>
            </a:prstGeom>
          </p:spPr>
        </p:pic>
        <p:sp>
          <p:nvSpPr>
            <p:cNvPr id="12" name="TextBox 11"/>
            <p:cNvSpPr txBox="1"/>
            <p:nvPr/>
          </p:nvSpPr>
          <p:spPr>
            <a:xfrm>
              <a:off x="2514600" y="4206240"/>
              <a:ext cx="3566160" cy="307777"/>
            </a:xfrm>
            <a:prstGeom prst="rect">
              <a:avLst/>
            </a:prstGeom>
            <a:noFill/>
          </p:spPr>
          <p:txBody>
            <a:bodyPr wrap="square" lIns="0" tIns="0" rIns="0" bIns="0" anchor="t">
              <a:spAutoFit/>
            </a:bodyPr>
            <a:lstStyle/>
            <a:p>
              <a:pPr algn="ctr"/>
              <a:r>
                <a:rPr sz="2000" b="1" i="0" dirty="0">
                  <a:solidFill>
                    <a:srgbClr val="272525"/>
                  </a:solidFill>
                  <a:latin typeface="Gill Sans MT" panose="020B0502020104020203" pitchFamily="34" charset="0"/>
                </a:rPr>
                <a:t>1 · Lots of examples</a:t>
              </a:r>
            </a:p>
          </p:txBody>
        </p:sp>
      </p:grpSp>
      <p:sp>
        <p:nvSpPr>
          <p:cNvPr id="13" name="Right Arrow 12"/>
          <p:cNvSpPr/>
          <p:nvPr/>
        </p:nvSpPr>
        <p:spPr>
          <a:xfrm>
            <a:off x="6023922" y="1783080"/>
            <a:ext cx="384048" cy="274320"/>
          </a:xfrm>
          <a:prstGeom prst="rightArrow">
            <a:avLst/>
          </a:prstGeom>
          <a:solidFill>
            <a:srgbClr val="9A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4" name="Group 13"/>
          <p:cNvGrpSpPr/>
          <p:nvPr/>
        </p:nvGrpSpPr>
        <p:grpSpPr>
          <a:xfrm>
            <a:off x="6298242" y="1508760"/>
            <a:ext cx="3566160" cy="1085017"/>
            <a:chOff x="6400800" y="3429000"/>
            <a:chExt cx="3566160" cy="1085017"/>
          </a:xfrm>
        </p:grpSpPr>
        <p:sp>
          <p:nvSpPr>
            <p:cNvPr id="15" name="Oval 14"/>
            <p:cNvSpPr/>
            <p:nvPr/>
          </p:nvSpPr>
          <p:spPr>
            <a:xfrm>
              <a:off x="7818120" y="3429000"/>
              <a:ext cx="731520" cy="731520"/>
            </a:xfrm>
            <a:prstGeom prst="ellipse">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pic>
          <p:nvPicPr>
            <p:cNvPr id="16" name="Picture 15" descr="brain_w.png"/>
            <p:cNvPicPr>
              <a:picLocks noChangeAspect="1"/>
            </p:cNvPicPr>
            <p:nvPr/>
          </p:nvPicPr>
          <p:blipFill>
            <a:blip r:embed="rId4"/>
            <a:stretch>
              <a:fillRect/>
            </a:stretch>
          </p:blipFill>
          <p:spPr>
            <a:xfrm>
              <a:off x="8001000" y="3611880"/>
              <a:ext cx="365760" cy="365760"/>
            </a:xfrm>
            <a:prstGeom prst="rect">
              <a:avLst/>
            </a:prstGeom>
          </p:spPr>
        </p:pic>
        <p:sp>
          <p:nvSpPr>
            <p:cNvPr id="17" name="TextBox 16"/>
            <p:cNvSpPr txBox="1"/>
            <p:nvPr/>
          </p:nvSpPr>
          <p:spPr>
            <a:xfrm>
              <a:off x="6400800" y="4206240"/>
              <a:ext cx="3566160" cy="307777"/>
            </a:xfrm>
            <a:prstGeom prst="rect">
              <a:avLst/>
            </a:prstGeom>
            <a:noFill/>
          </p:spPr>
          <p:txBody>
            <a:bodyPr wrap="square" lIns="0" tIns="0" rIns="0" bIns="0" anchor="t">
              <a:spAutoFit/>
            </a:bodyPr>
            <a:lstStyle/>
            <a:p>
              <a:pPr algn="ctr"/>
              <a:r>
                <a:rPr sz="2000" b="1" i="0">
                  <a:solidFill>
                    <a:srgbClr val="272525"/>
                  </a:solidFill>
                  <a:latin typeface="Gill Sans MT" panose="020B0502020104020203" pitchFamily="34" charset="0"/>
                </a:rPr>
                <a:t>2 · Learn the patterns</a:t>
              </a:r>
            </a:p>
          </p:txBody>
        </p:sp>
      </p:grpSp>
      <p:sp>
        <p:nvSpPr>
          <p:cNvPr id="18" name="Right Arrow 17"/>
          <p:cNvSpPr/>
          <p:nvPr/>
        </p:nvSpPr>
        <p:spPr>
          <a:xfrm>
            <a:off x="9910122" y="1783080"/>
            <a:ext cx="384048" cy="274320"/>
          </a:xfrm>
          <a:prstGeom prst="rightArrow">
            <a:avLst/>
          </a:prstGeom>
          <a:solidFill>
            <a:srgbClr val="9AA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9" name="Group 18"/>
          <p:cNvGrpSpPr/>
          <p:nvPr/>
        </p:nvGrpSpPr>
        <p:grpSpPr>
          <a:xfrm>
            <a:off x="10184442" y="1508760"/>
            <a:ext cx="3566160" cy="1085017"/>
            <a:chOff x="10287000" y="3429000"/>
            <a:chExt cx="3566160" cy="1085017"/>
          </a:xfrm>
        </p:grpSpPr>
        <p:sp>
          <p:nvSpPr>
            <p:cNvPr id="20" name="Oval 19"/>
            <p:cNvSpPr/>
            <p:nvPr/>
          </p:nvSpPr>
          <p:spPr>
            <a:xfrm>
              <a:off x="11704320" y="3429000"/>
              <a:ext cx="731520" cy="731520"/>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pic>
          <p:nvPicPr>
            <p:cNvPr id="21" name="Picture 20" descr="target_w.png"/>
            <p:cNvPicPr>
              <a:picLocks noChangeAspect="1"/>
            </p:cNvPicPr>
            <p:nvPr/>
          </p:nvPicPr>
          <p:blipFill>
            <a:blip r:embed="rId5"/>
            <a:stretch>
              <a:fillRect/>
            </a:stretch>
          </p:blipFill>
          <p:spPr>
            <a:xfrm>
              <a:off x="11887200" y="3611880"/>
              <a:ext cx="365760" cy="365760"/>
            </a:xfrm>
            <a:prstGeom prst="rect">
              <a:avLst/>
            </a:prstGeom>
          </p:spPr>
        </p:pic>
        <p:sp>
          <p:nvSpPr>
            <p:cNvPr id="22" name="TextBox 21"/>
            <p:cNvSpPr txBox="1"/>
            <p:nvPr/>
          </p:nvSpPr>
          <p:spPr>
            <a:xfrm>
              <a:off x="10287000" y="4206240"/>
              <a:ext cx="3566160" cy="307777"/>
            </a:xfrm>
            <a:prstGeom prst="rect">
              <a:avLst/>
            </a:prstGeom>
            <a:noFill/>
          </p:spPr>
          <p:txBody>
            <a:bodyPr wrap="square" lIns="0" tIns="0" rIns="0" bIns="0" anchor="t">
              <a:spAutoFit/>
            </a:bodyPr>
            <a:lstStyle/>
            <a:p>
              <a:pPr algn="ctr"/>
              <a:r>
                <a:rPr sz="2000" b="1" i="0">
                  <a:solidFill>
                    <a:srgbClr val="272525"/>
                  </a:solidFill>
                  <a:latin typeface="Gill Sans MT" panose="020B0502020104020203" pitchFamily="34" charset="0"/>
                </a:rPr>
                <a:t>3 · Make a guess</a:t>
              </a:r>
            </a:p>
          </p:txBody>
        </p:sp>
      </p:grpSp>
      <p:grpSp>
        <p:nvGrpSpPr>
          <p:cNvPr id="23" name="Group 22"/>
          <p:cNvGrpSpPr/>
          <p:nvPr/>
        </p:nvGrpSpPr>
        <p:grpSpPr>
          <a:xfrm>
            <a:off x="685800" y="3061999"/>
            <a:ext cx="13167360" cy="960120"/>
            <a:chOff x="685800" y="4754880"/>
            <a:chExt cx="13167360" cy="960120"/>
          </a:xfrm>
        </p:grpSpPr>
        <p:sp>
          <p:nvSpPr>
            <p:cNvPr id="24" name="Rounded Rectangle 23"/>
            <p:cNvSpPr/>
            <p:nvPr/>
          </p:nvSpPr>
          <p:spPr>
            <a:xfrm>
              <a:off x="685800" y="4983480"/>
              <a:ext cx="1645920" cy="502920"/>
            </a:xfrm>
            <a:prstGeom prst="roundRect">
              <a:avLst>
                <a:gd name="adj" fmla="val 50000"/>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25" name="TextBox 24"/>
            <p:cNvSpPr txBox="1"/>
            <p:nvPr/>
          </p:nvSpPr>
          <p:spPr>
            <a:xfrm>
              <a:off x="685800" y="5081052"/>
              <a:ext cx="1645920" cy="307777"/>
            </a:xfrm>
            <a:prstGeom prst="rect">
              <a:avLst/>
            </a:prstGeom>
            <a:noFill/>
          </p:spPr>
          <p:txBody>
            <a:bodyPr wrap="square" lIns="0" tIns="0" rIns="0" bIns="0" anchor="ctr">
              <a:spAutoFit/>
            </a:bodyPr>
            <a:lstStyle/>
            <a:p>
              <a:pPr algn="ctr"/>
              <a:r>
                <a:rPr sz="2000" b="1" i="0">
                  <a:solidFill>
                    <a:srgbClr val="FFFFFF"/>
                  </a:solidFill>
                  <a:latin typeface="Gill Sans MT" panose="020B0502020104020203" pitchFamily="34" charset="0"/>
                </a:rPr>
                <a:t>Everyday</a:t>
              </a:r>
            </a:p>
          </p:txBody>
        </p:sp>
        <p:sp>
          <p:nvSpPr>
            <p:cNvPr id="26" name="Rounded Rectangle 25"/>
            <p:cNvSpPr/>
            <p:nvPr/>
          </p:nvSpPr>
          <p:spPr>
            <a:xfrm>
              <a:off x="2514600" y="4754880"/>
              <a:ext cx="3566160" cy="960120"/>
            </a:xfrm>
            <a:prstGeom prst="roundRect">
              <a:avLst>
                <a:gd name="adj" fmla="val 11428"/>
              </a:avLst>
            </a:prstGeom>
            <a:solidFill>
              <a:srgbClr val="FFFFFF"/>
            </a:solidFill>
            <a:ln>
              <a:noFill/>
            </a:ln>
            <a:effectLst>
              <a:outerShdw blurRad="127000" dist="38100" dir="5400000" algn="t" rotWithShape="0">
                <a:srgbClr val="1A23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27" name="TextBox 26"/>
            <p:cNvSpPr txBox="1"/>
            <p:nvPr/>
          </p:nvSpPr>
          <p:spPr>
            <a:xfrm>
              <a:off x="2697480" y="5081051"/>
              <a:ext cx="3200400" cy="307777"/>
            </a:xfrm>
            <a:prstGeom prst="rect">
              <a:avLst/>
            </a:prstGeom>
            <a:noFill/>
          </p:spPr>
          <p:txBody>
            <a:bodyPr wrap="square" lIns="0" tIns="0" rIns="0" bIns="0" anchor="ctr">
              <a:spAutoFit/>
            </a:bodyPr>
            <a:lstStyle/>
            <a:p>
              <a:pPr algn="ctr"/>
              <a:r>
                <a:rPr sz="2000" b="0" i="0">
                  <a:solidFill>
                    <a:srgbClr val="272525"/>
                  </a:solidFill>
                  <a:latin typeface="Gill Sans MT" panose="020B0502020104020203" pitchFamily="34" charset="0"/>
                </a:rPr>
                <a:t>Sees 1,000s of cat photos</a:t>
              </a:r>
            </a:p>
          </p:txBody>
        </p:sp>
        <p:sp>
          <p:nvSpPr>
            <p:cNvPr id="28" name="Rounded Rectangle 27"/>
            <p:cNvSpPr/>
            <p:nvPr/>
          </p:nvSpPr>
          <p:spPr>
            <a:xfrm>
              <a:off x="6400800" y="4754880"/>
              <a:ext cx="3566160" cy="960120"/>
            </a:xfrm>
            <a:prstGeom prst="roundRect">
              <a:avLst>
                <a:gd name="adj" fmla="val 11428"/>
              </a:avLst>
            </a:prstGeom>
            <a:solidFill>
              <a:srgbClr val="FFFFFF"/>
            </a:solidFill>
            <a:ln>
              <a:noFill/>
            </a:ln>
            <a:effectLst>
              <a:outerShdw blurRad="127000" dist="38100" dir="5400000" algn="t" rotWithShape="0">
                <a:srgbClr val="1A23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29" name="TextBox 28"/>
            <p:cNvSpPr txBox="1"/>
            <p:nvPr/>
          </p:nvSpPr>
          <p:spPr>
            <a:xfrm>
              <a:off x="6583680" y="5081051"/>
              <a:ext cx="3200400" cy="307777"/>
            </a:xfrm>
            <a:prstGeom prst="rect">
              <a:avLst/>
            </a:prstGeom>
            <a:noFill/>
          </p:spPr>
          <p:txBody>
            <a:bodyPr wrap="square" lIns="0" tIns="0" rIns="0" bIns="0" anchor="ctr">
              <a:spAutoFit/>
            </a:bodyPr>
            <a:lstStyle/>
            <a:p>
              <a:pPr algn="ctr"/>
              <a:r>
                <a:rPr sz="2000" b="0" i="0">
                  <a:solidFill>
                    <a:srgbClr val="272525"/>
                  </a:solidFill>
                  <a:latin typeface="Gill Sans MT" panose="020B0502020104020203" pitchFamily="34" charset="0"/>
                </a:rPr>
                <a:t>Learns ears, whiskers, shape</a:t>
              </a:r>
            </a:p>
          </p:txBody>
        </p:sp>
        <p:sp>
          <p:nvSpPr>
            <p:cNvPr id="30" name="Rounded Rectangle 29"/>
            <p:cNvSpPr/>
            <p:nvPr/>
          </p:nvSpPr>
          <p:spPr>
            <a:xfrm>
              <a:off x="10287000" y="4754880"/>
              <a:ext cx="3566160" cy="960120"/>
            </a:xfrm>
            <a:prstGeom prst="roundRect">
              <a:avLst>
                <a:gd name="adj" fmla="val 11428"/>
              </a:avLst>
            </a:prstGeom>
            <a:solidFill>
              <a:srgbClr val="FFFFFF"/>
            </a:solidFill>
            <a:ln>
              <a:noFill/>
            </a:ln>
            <a:effectLst>
              <a:outerShdw blurRad="127000" dist="38100" dir="5400000" algn="t" rotWithShape="0">
                <a:srgbClr val="1A23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31" name="TextBox 30"/>
            <p:cNvSpPr txBox="1"/>
            <p:nvPr/>
          </p:nvSpPr>
          <p:spPr>
            <a:xfrm>
              <a:off x="10469880" y="5081051"/>
              <a:ext cx="3200400" cy="307777"/>
            </a:xfrm>
            <a:prstGeom prst="rect">
              <a:avLst/>
            </a:prstGeom>
            <a:noFill/>
          </p:spPr>
          <p:txBody>
            <a:bodyPr wrap="square" lIns="0" tIns="0" rIns="0" bIns="0" anchor="ctr">
              <a:spAutoFit/>
            </a:bodyPr>
            <a:lstStyle/>
            <a:p>
              <a:pPr algn="ctr"/>
              <a:r>
                <a:rPr sz="2000" b="0" i="0">
                  <a:solidFill>
                    <a:srgbClr val="272525"/>
                  </a:solidFill>
                  <a:latin typeface="Gill Sans MT" panose="020B0502020104020203" pitchFamily="34" charset="0"/>
                </a:rPr>
                <a:t>Spots a cat in a new photo</a:t>
              </a:r>
            </a:p>
          </p:txBody>
        </p:sp>
      </p:grpSp>
      <p:grpSp>
        <p:nvGrpSpPr>
          <p:cNvPr id="32" name="Group 31"/>
          <p:cNvGrpSpPr/>
          <p:nvPr/>
        </p:nvGrpSpPr>
        <p:grpSpPr>
          <a:xfrm>
            <a:off x="685800" y="4748700"/>
            <a:ext cx="13167360" cy="960120"/>
            <a:chOff x="685800" y="5897880"/>
            <a:chExt cx="13167360" cy="960120"/>
          </a:xfrm>
        </p:grpSpPr>
        <p:sp>
          <p:nvSpPr>
            <p:cNvPr id="33" name="Rounded Rectangle 32"/>
            <p:cNvSpPr/>
            <p:nvPr/>
          </p:nvSpPr>
          <p:spPr>
            <a:xfrm>
              <a:off x="685800" y="6126480"/>
              <a:ext cx="1645920" cy="502920"/>
            </a:xfrm>
            <a:prstGeom prst="roundRect">
              <a:avLst>
                <a:gd name="adj" fmla="val 50000"/>
              </a:avLst>
            </a:prstGeom>
            <a:solidFill>
              <a:srgbClr val="F05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34" name="TextBox 33"/>
            <p:cNvSpPr txBox="1"/>
            <p:nvPr/>
          </p:nvSpPr>
          <p:spPr>
            <a:xfrm>
              <a:off x="685800" y="6224052"/>
              <a:ext cx="1645920" cy="307777"/>
            </a:xfrm>
            <a:prstGeom prst="rect">
              <a:avLst/>
            </a:prstGeom>
            <a:noFill/>
          </p:spPr>
          <p:txBody>
            <a:bodyPr wrap="square" lIns="0" tIns="0" rIns="0" bIns="0" anchor="ctr">
              <a:spAutoFit/>
            </a:bodyPr>
            <a:lstStyle/>
            <a:p>
              <a:pPr algn="ctr"/>
              <a:r>
                <a:rPr sz="2000" b="1" i="0">
                  <a:solidFill>
                    <a:srgbClr val="FFFFFF"/>
                  </a:solidFill>
                  <a:latin typeface="Gill Sans MT" panose="020B0502020104020203" pitchFamily="34" charset="0"/>
                </a:rPr>
                <a:t>Insurance</a:t>
              </a:r>
            </a:p>
          </p:txBody>
        </p:sp>
        <p:sp>
          <p:nvSpPr>
            <p:cNvPr id="35" name="Rounded Rectangle 34"/>
            <p:cNvSpPr/>
            <p:nvPr/>
          </p:nvSpPr>
          <p:spPr>
            <a:xfrm>
              <a:off x="2514600" y="5897880"/>
              <a:ext cx="3566160" cy="960120"/>
            </a:xfrm>
            <a:prstGeom prst="roundRect">
              <a:avLst>
                <a:gd name="adj" fmla="val 11428"/>
              </a:avLst>
            </a:prstGeom>
            <a:solidFill>
              <a:srgbClr val="FFFFFF"/>
            </a:solidFill>
            <a:ln>
              <a:noFill/>
            </a:ln>
            <a:effectLst>
              <a:outerShdw blurRad="127000" dist="38100" dir="5400000" algn="t" rotWithShape="0">
                <a:srgbClr val="1A23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36" name="TextBox 35"/>
            <p:cNvSpPr txBox="1"/>
            <p:nvPr/>
          </p:nvSpPr>
          <p:spPr>
            <a:xfrm>
              <a:off x="2697480" y="6224051"/>
              <a:ext cx="3200400" cy="307777"/>
            </a:xfrm>
            <a:prstGeom prst="rect">
              <a:avLst/>
            </a:prstGeom>
            <a:noFill/>
          </p:spPr>
          <p:txBody>
            <a:bodyPr wrap="square" lIns="0" tIns="0" rIns="0" bIns="0" anchor="ctr">
              <a:spAutoFit/>
            </a:bodyPr>
            <a:lstStyle/>
            <a:p>
              <a:pPr algn="ctr"/>
              <a:r>
                <a:rPr sz="2000" b="0" i="0">
                  <a:solidFill>
                    <a:srgbClr val="272525"/>
                  </a:solidFill>
                  <a:latin typeface="Gill Sans MT" panose="020B0502020104020203" pitchFamily="34" charset="0"/>
                </a:rPr>
                <a:t>10 years of car-damage photos</a:t>
              </a:r>
            </a:p>
          </p:txBody>
        </p:sp>
        <p:sp>
          <p:nvSpPr>
            <p:cNvPr id="37" name="Rounded Rectangle 36"/>
            <p:cNvSpPr/>
            <p:nvPr/>
          </p:nvSpPr>
          <p:spPr>
            <a:xfrm>
              <a:off x="6400800" y="5897880"/>
              <a:ext cx="3566160" cy="960120"/>
            </a:xfrm>
            <a:prstGeom prst="roundRect">
              <a:avLst>
                <a:gd name="adj" fmla="val 11428"/>
              </a:avLst>
            </a:prstGeom>
            <a:solidFill>
              <a:srgbClr val="FFFFFF"/>
            </a:solidFill>
            <a:ln>
              <a:noFill/>
            </a:ln>
            <a:effectLst>
              <a:outerShdw blurRad="127000" dist="38100" dir="5400000" algn="t" rotWithShape="0">
                <a:srgbClr val="1A23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38" name="TextBox 37"/>
            <p:cNvSpPr txBox="1"/>
            <p:nvPr/>
          </p:nvSpPr>
          <p:spPr>
            <a:xfrm>
              <a:off x="6583680" y="6070163"/>
              <a:ext cx="3200400" cy="615553"/>
            </a:xfrm>
            <a:prstGeom prst="rect">
              <a:avLst/>
            </a:prstGeom>
            <a:noFill/>
          </p:spPr>
          <p:txBody>
            <a:bodyPr wrap="square" lIns="0" tIns="0" rIns="0" bIns="0" anchor="ctr">
              <a:spAutoFit/>
            </a:bodyPr>
            <a:lstStyle/>
            <a:p>
              <a:pPr algn="ctr"/>
              <a:r>
                <a:rPr sz="2000" b="0" i="0">
                  <a:solidFill>
                    <a:srgbClr val="272525"/>
                  </a:solidFill>
                  <a:latin typeface="Gill Sans MT" panose="020B0502020104020203" pitchFamily="34" charset="0"/>
                </a:rPr>
                <a:t>Learns what dents &amp; cracks cost</a:t>
              </a:r>
            </a:p>
          </p:txBody>
        </p:sp>
        <p:sp>
          <p:nvSpPr>
            <p:cNvPr id="39" name="Rounded Rectangle 38"/>
            <p:cNvSpPr/>
            <p:nvPr/>
          </p:nvSpPr>
          <p:spPr>
            <a:xfrm>
              <a:off x="10287000" y="5897880"/>
              <a:ext cx="3566160" cy="960120"/>
            </a:xfrm>
            <a:prstGeom prst="roundRect">
              <a:avLst>
                <a:gd name="adj" fmla="val 11428"/>
              </a:avLst>
            </a:prstGeom>
            <a:solidFill>
              <a:srgbClr val="FFFFFF"/>
            </a:solidFill>
            <a:ln>
              <a:noFill/>
            </a:ln>
            <a:effectLst>
              <a:outerShdw blurRad="127000" dist="38100" dir="5400000" algn="t" rotWithShape="0">
                <a:srgbClr val="1A23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sz="2000">
                <a:latin typeface="Gill Sans MT" panose="020B0502020104020203" pitchFamily="34" charset="0"/>
              </a:endParaRPr>
            </a:p>
          </p:txBody>
        </p:sp>
        <p:sp>
          <p:nvSpPr>
            <p:cNvPr id="40" name="TextBox 39"/>
            <p:cNvSpPr txBox="1"/>
            <p:nvPr/>
          </p:nvSpPr>
          <p:spPr>
            <a:xfrm>
              <a:off x="10469880" y="6070164"/>
              <a:ext cx="3200400" cy="615553"/>
            </a:xfrm>
            <a:prstGeom prst="rect">
              <a:avLst/>
            </a:prstGeom>
            <a:noFill/>
          </p:spPr>
          <p:txBody>
            <a:bodyPr wrap="square" lIns="0" tIns="0" rIns="0" bIns="0" anchor="ctr">
              <a:spAutoFit/>
            </a:bodyPr>
            <a:lstStyle/>
            <a:p>
              <a:pPr algn="ctr"/>
              <a:r>
                <a:rPr sz="2000" b="0" i="0">
                  <a:solidFill>
                    <a:srgbClr val="272525"/>
                  </a:solidFill>
                  <a:latin typeface="Gill Sans MT" panose="020B0502020104020203" pitchFamily="34" charset="0"/>
                </a:rPr>
                <a:t>Estimates repair cost for a new claim photo</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6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D22EA-EB55-F5E8-5514-D4DED535B238}"/>
            </a:ext>
          </a:extLst>
        </p:cNvPr>
        <p:cNvGrpSpPr/>
        <p:nvPr/>
      </p:nvGrpSpPr>
      <p:grpSpPr>
        <a:xfrm>
          <a:off x="0" y="0"/>
          <a:ext cx="0" cy="0"/>
          <a:chOff x="0" y="0"/>
          <a:chExt cx="0" cy="0"/>
        </a:xfrm>
      </p:grpSpPr>
      <p:sp>
        <p:nvSpPr>
          <p:cNvPr id="25" name="Text Placeholder 1">
            <a:extLst>
              <a:ext uri="{FF2B5EF4-FFF2-40B4-BE49-F238E27FC236}">
                <a16:creationId xmlns:a16="http://schemas.microsoft.com/office/drawing/2014/main" id="{F0616190-A52E-C3A7-940E-982212C5386A}"/>
              </a:ext>
            </a:extLst>
          </p:cNvPr>
          <p:cNvSpPr txBox="1">
            <a:spLocks/>
          </p:cNvSpPr>
          <p:nvPr/>
        </p:nvSpPr>
        <p:spPr>
          <a:xfrm>
            <a:off x="331747" y="109232"/>
            <a:ext cx="4524457"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2. Examples</a:t>
            </a:r>
          </a:p>
        </p:txBody>
      </p:sp>
      <p:sp>
        <p:nvSpPr>
          <p:cNvPr id="3" name="TextBox 2">
            <a:extLst>
              <a:ext uri="{FF2B5EF4-FFF2-40B4-BE49-F238E27FC236}">
                <a16:creationId xmlns:a16="http://schemas.microsoft.com/office/drawing/2014/main" id="{B344FB44-81DC-89A0-A1C6-40FC1611F4DE}"/>
              </a:ext>
            </a:extLst>
          </p:cNvPr>
          <p:cNvSpPr txBox="1"/>
          <p:nvPr/>
        </p:nvSpPr>
        <p:spPr>
          <a:xfrm>
            <a:off x="2087632" y="1455521"/>
            <a:ext cx="2565181" cy="369332"/>
          </a:xfrm>
          <a:prstGeom prst="rect">
            <a:avLst/>
          </a:prstGeom>
          <a:noFill/>
        </p:spPr>
        <p:txBody>
          <a:bodyPr wrap="square">
            <a:spAutoFit/>
          </a:bodyPr>
          <a:lstStyle/>
          <a:p>
            <a:pPr algn="ctr"/>
            <a:r>
              <a:rPr lang="en-US" b="1" dirty="0">
                <a:latin typeface="Gill Sans MT" panose="020B0502020104020203" pitchFamily="34" charset="0"/>
              </a:rPr>
              <a:t>Predictive Analytics</a:t>
            </a:r>
            <a:endParaRPr lang="en-IN" dirty="0">
              <a:latin typeface="Gill Sans MT" panose="020B0502020104020203" pitchFamily="34" charset="0"/>
            </a:endParaRPr>
          </a:p>
        </p:txBody>
      </p:sp>
      <p:sp>
        <p:nvSpPr>
          <p:cNvPr id="7" name="TextBox 6">
            <a:extLst>
              <a:ext uri="{FF2B5EF4-FFF2-40B4-BE49-F238E27FC236}">
                <a16:creationId xmlns:a16="http://schemas.microsoft.com/office/drawing/2014/main" id="{088C1452-5A8A-A435-430B-5C9FAE3994AB}"/>
              </a:ext>
            </a:extLst>
          </p:cNvPr>
          <p:cNvSpPr txBox="1"/>
          <p:nvPr/>
        </p:nvSpPr>
        <p:spPr>
          <a:xfrm>
            <a:off x="9426255" y="4197827"/>
            <a:ext cx="1958340" cy="369332"/>
          </a:xfrm>
          <a:prstGeom prst="rect">
            <a:avLst/>
          </a:prstGeom>
          <a:noFill/>
        </p:spPr>
        <p:txBody>
          <a:bodyPr wrap="square">
            <a:spAutoFit/>
          </a:bodyPr>
          <a:lstStyle/>
          <a:p>
            <a:pPr algn="ctr"/>
            <a:r>
              <a:rPr lang="en-US" b="1" dirty="0">
                <a:latin typeface="Gill Sans MT" panose="020B0502020104020203" pitchFamily="34" charset="0"/>
              </a:rPr>
              <a:t>AI Assistants</a:t>
            </a:r>
            <a:endParaRPr lang="en-IN" dirty="0">
              <a:latin typeface="Gill Sans MT" panose="020B0502020104020203" pitchFamily="34" charset="0"/>
            </a:endParaRPr>
          </a:p>
        </p:txBody>
      </p:sp>
      <p:pic>
        <p:nvPicPr>
          <p:cNvPr id="9" name="Picture 8">
            <a:extLst>
              <a:ext uri="{FF2B5EF4-FFF2-40B4-BE49-F238E27FC236}">
                <a16:creationId xmlns:a16="http://schemas.microsoft.com/office/drawing/2014/main" id="{C0416469-DDC5-C5A2-9E85-6C9F3434D163}"/>
              </a:ext>
            </a:extLst>
          </p:cNvPr>
          <p:cNvPicPr>
            <a:picLocks noChangeAspect="1"/>
          </p:cNvPicPr>
          <p:nvPr/>
        </p:nvPicPr>
        <p:blipFill>
          <a:blip r:embed="rId3"/>
          <a:stretch>
            <a:fillRect/>
          </a:stretch>
        </p:blipFill>
        <p:spPr>
          <a:xfrm>
            <a:off x="9479595" y="1887645"/>
            <a:ext cx="1905000" cy="1714500"/>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TextBox 10">
            <a:extLst>
              <a:ext uri="{FF2B5EF4-FFF2-40B4-BE49-F238E27FC236}">
                <a16:creationId xmlns:a16="http://schemas.microsoft.com/office/drawing/2014/main" id="{77B12340-FB97-B894-47E6-AA2A3FC11525}"/>
              </a:ext>
            </a:extLst>
          </p:cNvPr>
          <p:cNvSpPr txBox="1"/>
          <p:nvPr/>
        </p:nvSpPr>
        <p:spPr>
          <a:xfrm>
            <a:off x="9062844" y="1455521"/>
            <a:ext cx="3022144" cy="369332"/>
          </a:xfrm>
          <a:prstGeom prst="rect">
            <a:avLst/>
          </a:prstGeom>
          <a:noFill/>
        </p:spPr>
        <p:txBody>
          <a:bodyPr wrap="square">
            <a:spAutoFit/>
          </a:bodyPr>
          <a:lstStyle/>
          <a:p>
            <a:r>
              <a:rPr lang="en-US" b="1" dirty="0">
                <a:latin typeface="Gill Sans MT" panose="020B0502020104020203" pitchFamily="34" charset="0"/>
              </a:rPr>
              <a:t>Recommendation Engines</a:t>
            </a:r>
            <a:r>
              <a:rPr lang="en-US" dirty="0">
                <a:latin typeface="Gill Sans MT" panose="020B0502020104020203" pitchFamily="34" charset="0"/>
              </a:rPr>
              <a:t> </a:t>
            </a:r>
            <a:endParaRPr lang="en-IN" dirty="0">
              <a:latin typeface="Gill Sans MT" panose="020B0502020104020203" pitchFamily="34" charset="0"/>
            </a:endParaRPr>
          </a:p>
        </p:txBody>
      </p:sp>
      <p:pic>
        <p:nvPicPr>
          <p:cNvPr id="19" name="Picture 4" descr="Medical Diagnostics Icon">
            <a:extLst>
              <a:ext uri="{FF2B5EF4-FFF2-40B4-BE49-F238E27FC236}">
                <a16:creationId xmlns:a16="http://schemas.microsoft.com/office/drawing/2014/main" id="{A1BC0A84-4A01-521D-8FD9-2DD7546CB8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5080" y="1887645"/>
            <a:ext cx="1891030" cy="1714500"/>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B6E459E-6EAC-B07E-ABAB-F854BC167F30}"/>
              </a:ext>
            </a:extLst>
          </p:cNvPr>
          <p:cNvSpPr txBox="1"/>
          <p:nvPr/>
        </p:nvSpPr>
        <p:spPr>
          <a:xfrm>
            <a:off x="5708196" y="1455521"/>
            <a:ext cx="2344420" cy="369332"/>
          </a:xfrm>
          <a:prstGeom prst="rect">
            <a:avLst/>
          </a:prstGeom>
          <a:noFill/>
        </p:spPr>
        <p:txBody>
          <a:bodyPr wrap="square">
            <a:spAutoFit/>
          </a:bodyPr>
          <a:lstStyle/>
          <a:p>
            <a:pPr algn="ctr"/>
            <a:r>
              <a:rPr lang="en-US" b="1" dirty="0">
                <a:latin typeface="Gill Sans MT" panose="020B0502020104020203" pitchFamily="34" charset="0"/>
              </a:rPr>
              <a:t>Medical Diagnostics</a:t>
            </a:r>
            <a:endParaRPr lang="en-IN" dirty="0">
              <a:latin typeface="Gill Sans MT" panose="020B0502020104020203" pitchFamily="34" charset="0"/>
            </a:endParaRPr>
          </a:p>
        </p:txBody>
      </p:sp>
      <p:pic>
        <p:nvPicPr>
          <p:cNvPr id="23" name="Picture 22">
            <a:extLst>
              <a:ext uri="{FF2B5EF4-FFF2-40B4-BE49-F238E27FC236}">
                <a16:creationId xmlns:a16="http://schemas.microsoft.com/office/drawing/2014/main" id="{F92C2846-8A4E-CC73-4B8B-7AEE288CD530}"/>
              </a:ext>
            </a:extLst>
          </p:cNvPr>
          <p:cNvPicPr>
            <a:picLocks noChangeAspect="1"/>
          </p:cNvPicPr>
          <p:nvPr/>
        </p:nvPicPr>
        <p:blipFill>
          <a:blip r:embed="rId5"/>
          <a:stretch>
            <a:fillRect/>
          </a:stretch>
        </p:blipFill>
        <p:spPr>
          <a:xfrm>
            <a:off x="2350565" y="1887645"/>
            <a:ext cx="1891030" cy="1714500"/>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6" name="Picture 25">
            <a:extLst>
              <a:ext uri="{FF2B5EF4-FFF2-40B4-BE49-F238E27FC236}">
                <a16:creationId xmlns:a16="http://schemas.microsoft.com/office/drawing/2014/main" id="{906EFC50-CFBA-7792-AF23-AA60EAB33F23}"/>
              </a:ext>
            </a:extLst>
          </p:cNvPr>
          <p:cNvPicPr>
            <a:picLocks noChangeAspect="1"/>
          </p:cNvPicPr>
          <p:nvPr/>
        </p:nvPicPr>
        <p:blipFill>
          <a:blip r:embed="rId6"/>
          <a:stretch>
            <a:fillRect/>
          </a:stretch>
        </p:blipFill>
        <p:spPr>
          <a:xfrm>
            <a:off x="2350565" y="4567159"/>
            <a:ext cx="1891030" cy="17455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8" name="TextBox 27">
            <a:extLst>
              <a:ext uri="{FF2B5EF4-FFF2-40B4-BE49-F238E27FC236}">
                <a16:creationId xmlns:a16="http://schemas.microsoft.com/office/drawing/2014/main" id="{3D0F8EC7-78FA-F235-8F3A-E5EA8C17F3C3}"/>
              </a:ext>
            </a:extLst>
          </p:cNvPr>
          <p:cNvSpPr txBox="1"/>
          <p:nvPr/>
        </p:nvSpPr>
        <p:spPr>
          <a:xfrm>
            <a:off x="2059066" y="4193880"/>
            <a:ext cx="2474027" cy="369332"/>
          </a:xfrm>
          <a:prstGeom prst="rect">
            <a:avLst/>
          </a:prstGeom>
          <a:noFill/>
        </p:spPr>
        <p:txBody>
          <a:bodyPr wrap="square">
            <a:spAutoFit/>
          </a:bodyPr>
          <a:lstStyle/>
          <a:p>
            <a:pPr algn="ctr"/>
            <a:r>
              <a:rPr lang="en-US" b="1" dirty="0">
                <a:latin typeface="Gill Sans MT" panose="020B0502020104020203" pitchFamily="34" charset="0"/>
              </a:rPr>
              <a:t>Content Generation</a:t>
            </a:r>
            <a:endParaRPr lang="en-IN" dirty="0">
              <a:latin typeface="Gill Sans MT" panose="020B0502020104020203" pitchFamily="34" charset="0"/>
            </a:endParaRPr>
          </a:p>
        </p:txBody>
      </p:sp>
      <p:pic>
        <p:nvPicPr>
          <p:cNvPr id="30" name="Picture 29">
            <a:extLst>
              <a:ext uri="{FF2B5EF4-FFF2-40B4-BE49-F238E27FC236}">
                <a16:creationId xmlns:a16="http://schemas.microsoft.com/office/drawing/2014/main" id="{3BF76B7B-7433-88BE-7363-B84C4589FBCC}"/>
              </a:ext>
            </a:extLst>
          </p:cNvPr>
          <p:cNvPicPr>
            <a:picLocks noChangeAspect="1"/>
          </p:cNvPicPr>
          <p:nvPr/>
        </p:nvPicPr>
        <p:blipFill>
          <a:blip r:embed="rId7"/>
          <a:stretch>
            <a:fillRect/>
          </a:stretch>
        </p:blipFill>
        <p:spPr>
          <a:xfrm>
            <a:off x="9493565" y="4567159"/>
            <a:ext cx="1891030" cy="1774796"/>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6" name="Picture 35">
            <a:extLst>
              <a:ext uri="{FF2B5EF4-FFF2-40B4-BE49-F238E27FC236}">
                <a16:creationId xmlns:a16="http://schemas.microsoft.com/office/drawing/2014/main" id="{92D4F507-853F-7E2E-73CD-AE081D7C3186}"/>
              </a:ext>
            </a:extLst>
          </p:cNvPr>
          <p:cNvPicPr>
            <a:picLocks noChangeAspect="1"/>
          </p:cNvPicPr>
          <p:nvPr/>
        </p:nvPicPr>
        <p:blipFill>
          <a:blip r:embed="rId8"/>
          <a:stretch>
            <a:fillRect/>
          </a:stretch>
        </p:blipFill>
        <p:spPr>
          <a:xfrm>
            <a:off x="5915080" y="4567159"/>
            <a:ext cx="1891030" cy="1774796"/>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8" name="TextBox 37">
            <a:extLst>
              <a:ext uri="{FF2B5EF4-FFF2-40B4-BE49-F238E27FC236}">
                <a16:creationId xmlns:a16="http://schemas.microsoft.com/office/drawing/2014/main" id="{D6244C5C-A879-0589-5913-0665A8248823}"/>
              </a:ext>
            </a:extLst>
          </p:cNvPr>
          <p:cNvSpPr txBox="1"/>
          <p:nvPr/>
        </p:nvSpPr>
        <p:spPr>
          <a:xfrm>
            <a:off x="5801818" y="4197827"/>
            <a:ext cx="2018262" cy="369332"/>
          </a:xfrm>
          <a:prstGeom prst="rect">
            <a:avLst/>
          </a:prstGeom>
          <a:noFill/>
        </p:spPr>
        <p:txBody>
          <a:bodyPr wrap="square">
            <a:spAutoFit/>
          </a:bodyPr>
          <a:lstStyle/>
          <a:p>
            <a:pPr algn="ctr"/>
            <a:r>
              <a:rPr lang="en-US" b="1" dirty="0">
                <a:latin typeface="Gill Sans MT" panose="020B0502020104020203" pitchFamily="34" charset="0"/>
              </a:rPr>
              <a:t>Computer Vision</a:t>
            </a:r>
            <a:endParaRPr lang="en-IN" dirty="0">
              <a:latin typeface="Gill Sans MT" panose="020B0502020104020203" pitchFamily="34" charset="0"/>
            </a:endParaRPr>
          </a:p>
        </p:txBody>
      </p:sp>
    </p:spTree>
    <p:extLst>
      <p:ext uri="{BB962C8B-B14F-4D97-AF65-F5344CB8AC3E}">
        <p14:creationId xmlns:p14="http://schemas.microsoft.com/office/powerpoint/2010/main" val="2365685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D6C1B-CA06-7D9E-5F82-7B5209E917B5}"/>
            </a:ext>
          </a:extLst>
        </p:cNvPr>
        <p:cNvGrpSpPr/>
        <p:nvPr/>
      </p:nvGrpSpPr>
      <p:grpSpPr>
        <a:xfrm>
          <a:off x="0" y="0"/>
          <a:ext cx="0" cy="0"/>
          <a:chOff x="0" y="0"/>
          <a:chExt cx="0" cy="0"/>
        </a:xfrm>
      </p:grpSpPr>
      <p:sp>
        <p:nvSpPr>
          <p:cNvPr id="25" name="Text Placeholder 1">
            <a:extLst>
              <a:ext uri="{FF2B5EF4-FFF2-40B4-BE49-F238E27FC236}">
                <a16:creationId xmlns:a16="http://schemas.microsoft.com/office/drawing/2014/main" id="{20C0FB8C-58D3-AEEF-0F4A-C0F4EC05C7A6}"/>
              </a:ext>
            </a:extLst>
          </p:cNvPr>
          <p:cNvSpPr txBox="1">
            <a:spLocks/>
          </p:cNvSpPr>
          <p:nvPr/>
        </p:nvSpPr>
        <p:spPr>
          <a:xfrm>
            <a:off x="331747" y="109232"/>
            <a:ext cx="4524457"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3. Evolution of AI</a:t>
            </a:r>
          </a:p>
        </p:txBody>
      </p:sp>
      <p:sp>
        <p:nvSpPr>
          <p:cNvPr id="4" name="TextBox 3">
            <a:extLst>
              <a:ext uri="{FF2B5EF4-FFF2-40B4-BE49-F238E27FC236}">
                <a16:creationId xmlns:a16="http://schemas.microsoft.com/office/drawing/2014/main" id="{B395DF82-5978-7EA5-0051-18AA5719D863}"/>
              </a:ext>
            </a:extLst>
          </p:cNvPr>
          <p:cNvSpPr txBox="1"/>
          <p:nvPr/>
        </p:nvSpPr>
        <p:spPr>
          <a:xfrm>
            <a:off x="267815" y="1079491"/>
            <a:ext cx="7321378" cy="523220"/>
          </a:xfrm>
          <a:prstGeom prst="rect">
            <a:avLst/>
          </a:prstGeom>
          <a:noFill/>
        </p:spPr>
        <p:txBody>
          <a:bodyPr wrap="square">
            <a:spAutoFit/>
          </a:bodyPr>
          <a:lstStyle/>
          <a:p>
            <a:r>
              <a:rPr lang="en-US" sz="2800" b="1" dirty="0">
                <a:solidFill>
                  <a:schemeClr val="tx1"/>
                </a:solidFill>
                <a:latin typeface="Gill Sans MT" panose="020B0502020104020203" pitchFamily="34" charset="0"/>
              </a:rPr>
              <a:t>AI</a:t>
            </a:r>
            <a:r>
              <a:rPr lang="en-US" sz="2800" b="1" dirty="0">
                <a:latin typeface="Gill Sans MT" panose="020B0502020104020203" pitchFamily="34" charset="0"/>
              </a:rPr>
              <a:t> Maturity Journey</a:t>
            </a:r>
            <a:endParaRPr lang="en-IN" sz="2800" b="1" dirty="0">
              <a:solidFill>
                <a:schemeClr val="tx1"/>
              </a:solidFill>
              <a:latin typeface="Gill Sans MT" panose="020B0502020104020203" pitchFamily="34" charset="0"/>
            </a:endParaRPr>
          </a:p>
        </p:txBody>
      </p:sp>
      <p:grpSp>
        <p:nvGrpSpPr>
          <p:cNvPr id="33" name="Group 32">
            <a:extLst>
              <a:ext uri="{FF2B5EF4-FFF2-40B4-BE49-F238E27FC236}">
                <a16:creationId xmlns:a16="http://schemas.microsoft.com/office/drawing/2014/main" id="{7712782C-86C9-8BC6-AEEA-752C2764B522}"/>
              </a:ext>
            </a:extLst>
          </p:cNvPr>
          <p:cNvGrpSpPr/>
          <p:nvPr/>
        </p:nvGrpSpPr>
        <p:grpSpPr>
          <a:xfrm>
            <a:off x="2086501" y="2223205"/>
            <a:ext cx="2742281" cy="3700794"/>
            <a:chOff x="2086501" y="2223205"/>
            <a:chExt cx="2742281" cy="3700794"/>
          </a:xfrm>
        </p:grpSpPr>
        <p:sp>
          <p:nvSpPr>
            <p:cNvPr id="6" name="Oval 5">
              <a:extLst>
                <a:ext uri="{FF2B5EF4-FFF2-40B4-BE49-F238E27FC236}">
                  <a16:creationId xmlns:a16="http://schemas.microsoft.com/office/drawing/2014/main" id="{9447E068-A43E-98C8-111C-4D3A20010B7A}"/>
                </a:ext>
              </a:extLst>
            </p:cNvPr>
            <p:cNvSpPr/>
            <p:nvPr/>
          </p:nvSpPr>
          <p:spPr>
            <a:xfrm>
              <a:off x="2086501" y="2223205"/>
              <a:ext cx="2487171" cy="2476245"/>
            </a:xfrm>
            <a:prstGeom prst="ellipse">
              <a:avLst/>
            </a:prstGeom>
            <a:solidFill>
              <a:srgbClr val="00B050"/>
            </a:solidFill>
            <a:ln>
              <a:solidFill>
                <a:schemeClr val="tx1"/>
              </a:solidFill>
            </a:ln>
            <a:effectLst>
              <a:outerShdw blurRad="76200" dir="13500000" sy="23000" kx="1200000" algn="br" rotWithShape="0">
                <a:prstClr val="black">
                  <a:alpha val="20000"/>
                </a:prstClr>
              </a:outerShdw>
            </a:effectLst>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nchor="ctr"/>
            <a:lstStyle/>
            <a:p>
              <a:pPr algn="ctr"/>
              <a:r>
                <a:rPr lang="en-US" sz="2200" b="1" dirty="0">
                  <a:solidFill>
                    <a:schemeClr val="tx1"/>
                  </a:solidFill>
                  <a:latin typeface="Gill Sans MT" panose="020B0502020104020203" pitchFamily="34" charset="0"/>
                </a:rPr>
                <a:t>Traditional AI</a:t>
              </a:r>
              <a:endParaRPr lang="en-IN" sz="2200" b="1" dirty="0">
                <a:solidFill>
                  <a:schemeClr val="tx1"/>
                </a:solidFill>
                <a:latin typeface="Gill Sans MT" panose="020B0502020104020203" pitchFamily="34" charset="0"/>
              </a:endParaRPr>
            </a:p>
          </p:txBody>
        </p:sp>
        <p:sp>
          <p:nvSpPr>
            <p:cNvPr id="15" name="TextBox 14">
              <a:extLst>
                <a:ext uri="{FF2B5EF4-FFF2-40B4-BE49-F238E27FC236}">
                  <a16:creationId xmlns:a16="http://schemas.microsoft.com/office/drawing/2014/main" id="{3B3A89B4-DFA1-4EE0-5A81-B1653F0C6C49}"/>
                </a:ext>
              </a:extLst>
            </p:cNvPr>
            <p:cNvSpPr txBox="1"/>
            <p:nvPr/>
          </p:nvSpPr>
          <p:spPr>
            <a:xfrm>
              <a:off x="2459509" y="4723670"/>
              <a:ext cx="2369273" cy="1200329"/>
            </a:xfrm>
            <a:prstGeom prst="rect">
              <a:avLst/>
            </a:prstGeom>
            <a:noFill/>
          </p:spPr>
          <p:txBody>
            <a:bodyPr wrap="square">
              <a:spAutoFit/>
            </a:bodyPr>
            <a:lstStyle/>
            <a:p>
              <a:pPr marL="285750" indent="-285750">
                <a:buFont typeface="Arial" panose="020B0604020202020204" pitchFamily="34" charset="0"/>
                <a:buChar char="•"/>
              </a:pPr>
              <a:r>
                <a:rPr lang="en-US" sz="2400" dirty="0">
                  <a:solidFill>
                    <a:schemeClr val="tx1"/>
                  </a:solidFill>
                  <a:latin typeface="Gill Sans MT" panose="020B0502020104020203" pitchFamily="34" charset="0"/>
                  <a:cs typeface="Arial" panose="020B0604020202020204" pitchFamily="34" charset="0"/>
                </a:rPr>
                <a:t>Predict</a:t>
              </a:r>
            </a:p>
            <a:p>
              <a:pPr marL="285750" indent="-285750">
                <a:buFont typeface="Arial" panose="020B0604020202020204" pitchFamily="34" charset="0"/>
                <a:buChar char="•"/>
              </a:pPr>
              <a:r>
                <a:rPr lang="en-US" sz="2400" dirty="0">
                  <a:solidFill>
                    <a:schemeClr val="tx1"/>
                  </a:solidFill>
                  <a:latin typeface="Gill Sans MT" panose="020B0502020104020203" pitchFamily="34" charset="0"/>
                  <a:cs typeface="Arial" panose="020B0604020202020204" pitchFamily="34" charset="0"/>
                </a:rPr>
                <a:t>Cluster</a:t>
              </a:r>
            </a:p>
            <a:p>
              <a:pPr marL="285750" indent="-285750">
                <a:buFont typeface="Arial" panose="020B0604020202020204" pitchFamily="34" charset="0"/>
                <a:buChar char="•"/>
              </a:pPr>
              <a:r>
                <a:rPr lang="en-US" sz="2400" dirty="0">
                  <a:solidFill>
                    <a:schemeClr val="tx1"/>
                  </a:solidFill>
                  <a:latin typeface="Gill Sans MT" panose="020B0502020104020203" pitchFamily="34" charset="0"/>
                  <a:cs typeface="Arial" panose="020B0604020202020204" pitchFamily="34" charset="0"/>
                </a:rPr>
                <a:t>Recommend</a:t>
              </a:r>
              <a:endParaRPr lang="en-IN" sz="2400" dirty="0">
                <a:solidFill>
                  <a:schemeClr val="tx1"/>
                </a:solidFill>
                <a:latin typeface="Gill Sans MT" panose="020B0502020104020203" pitchFamily="34" charset="0"/>
                <a:cs typeface="Arial" panose="020B0604020202020204" pitchFamily="34" charset="0"/>
              </a:endParaRPr>
            </a:p>
          </p:txBody>
        </p:sp>
      </p:grpSp>
      <p:grpSp>
        <p:nvGrpSpPr>
          <p:cNvPr id="34" name="Group 33">
            <a:extLst>
              <a:ext uri="{FF2B5EF4-FFF2-40B4-BE49-F238E27FC236}">
                <a16:creationId xmlns:a16="http://schemas.microsoft.com/office/drawing/2014/main" id="{EF0B8FAA-633F-EABA-9DD0-B70BD8C66593}"/>
              </a:ext>
            </a:extLst>
          </p:cNvPr>
          <p:cNvGrpSpPr/>
          <p:nvPr/>
        </p:nvGrpSpPr>
        <p:grpSpPr>
          <a:xfrm>
            <a:off x="6089233" y="2223205"/>
            <a:ext cx="2712492" cy="3700794"/>
            <a:chOff x="6089233" y="2223205"/>
            <a:chExt cx="2712492" cy="3700794"/>
          </a:xfrm>
        </p:grpSpPr>
        <p:sp>
          <p:nvSpPr>
            <p:cNvPr id="10" name="Oval 9">
              <a:extLst>
                <a:ext uri="{FF2B5EF4-FFF2-40B4-BE49-F238E27FC236}">
                  <a16:creationId xmlns:a16="http://schemas.microsoft.com/office/drawing/2014/main" id="{E2F67B8E-8D12-6EF7-778A-7E7EC4DBBDB8}"/>
                </a:ext>
              </a:extLst>
            </p:cNvPr>
            <p:cNvSpPr/>
            <p:nvPr/>
          </p:nvSpPr>
          <p:spPr>
            <a:xfrm>
              <a:off x="6089233" y="2223205"/>
              <a:ext cx="2487171" cy="2476245"/>
            </a:xfrm>
            <a:prstGeom prst="ellipse">
              <a:avLst/>
            </a:prstGeom>
            <a:solidFill>
              <a:schemeClr val="accent4">
                <a:lumMod val="40000"/>
                <a:lumOff val="60000"/>
              </a:schemeClr>
            </a:solidFill>
            <a:ln>
              <a:solidFill>
                <a:schemeClr val="tx1"/>
              </a:solidFill>
            </a:ln>
            <a:effectLst>
              <a:outerShdw blurRad="76200" dir="13500000" sy="23000" kx="1200000" algn="br" rotWithShape="0">
                <a:prstClr val="black">
                  <a:alpha val="20000"/>
                </a:prstClr>
              </a:outerShdw>
            </a:effectLst>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nchor="ctr"/>
            <a:lstStyle/>
            <a:p>
              <a:pPr algn="ctr"/>
              <a:r>
                <a:rPr lang="en-US" sz="2200" b="1" dirty="0">
                  <a:solidFill>
                    <a:schemeClr val="tx1"/>
                  </a:solidFill>
                  <a:latin typeface="Gill Sans MT" panose="020B0502020104020203" pitchFamily="34" charset="0"/>
                </a:rPr>
                <a:t>Generative AI</a:t>
              </a:r>
              <a:endParaRPr lang="en-IN" sz="2200" b="1" dirty="0">
                <a:solidFill>
                  <a:schemeClr val="tx1"/>
                </a:solidFill>
                <a:latin typeface="Gill Sans MT" panose="020B0502020104020203" pitchFamily="34" charset="0"/>
              </a:endParaRPr>
            </a:p>
          </p:txBody>
        </p:sp>
        <p:sp>
          <p:nvSpPr>
            <p:cNvPr id="17" name="TextBox 16">
              <a:extLst>
                <a:ext uri="{FF2B5EF4-FFF2-40B4-BE49-F238E27FC236}">
                  <a16:creationId xmlns:a16="http://schemas.microsoft.com/office/drawing/2014/main" id="{87A7EDBD-0F29-3FB4-9BC1-9C31DA659C30}"/>
                </a:ext>
              </a:extLst>
            </p:cNvPr>
            <p:cNvSpPr txBox="1"/>
            <p:nvPr/>
          </p:nvSpPr>
          <p:spPr>
            <a:xfrm>
              <a:off x="6513427" y="4723670"/>
              <a:ext cx="2288298" cy="1200329"/>
            </a:xfrm>
            <a:prstGeom prst="rect">
              <a:avLst/>
            </a:prstGeom>
            <a:noFill/>
          </p:spPr>
          <p:txBody>
            <a:bodyPr wrap="square">
              <a:spAutoFit/>
            </a:bodyPr>
            <a:lstStyle/>
            <a:p>
              <a:pPr marL="285750" indent="-285750">
                <a:buFont typeface="Arial" panose="020B0604020202020204" pitchFamily="34" charset="0"/>
                <a:buChar char="•"/>
              </a:pPr>
              <a:r>
                <a:rPr lang="en-US" sz="2400" dirty="0">
                  <a:solidFill>
                    <a:schemeClr val="tx1"/>
                  </a:solidFill>
                  <a:latin typeface="Gill Sans MT" panose="020B0502020104020203" pitchFamily="34" charset="0"/>
                  <a:cs typeface="Arial" panose="020B0604020202020204" pitchFamily="34" charset="0"/>
                </a:rPr>
                <a:t>Summarize</a:t>
              </a:r>
            </a:p>
            <a:p>
              <a:pPr marL="285750" indent="-285750">
                <a:buFont typeface="Arial" panose="020B0604020202020204" pitchFamily="34" charset="0"/>
                <a:buChar char="•"/>
              </a:pPr>
              <a:r>
                <a:rPr lang="en-US" sz="2400" dirty="0">
                  <a:solidFill>
                    <a:schemeClr val="tx1"/>
                  </a:solidFill>
                  <a:latin typeface="Gill Sans MT" panose="020B0502020104020203" pitchFamily="34" charset="0"/>
                  <a:cs typeface="Arial" panose="020B0604020202020204" pitchFamily="34" charset="0"/>
                </a:rPr>
                <a:t>Draft</a:t>
              </a:r>
            </a:p>
            <a:p>
              <a:pPr marL="285750" indent="-285750">
                <a:buFont typeface="Arial" panose="020B0604020202020204" pitchFamily="34" charset="0"/>
                <a:buChar char="•"/>
              </a:pPr>
              <a:r>
                <a:rPr lang="en-US" sz="2400" dirty="0">
                  <a:solidFill>
                    <a:schemeClr val="tx1"/>
                  </a:solidFill>
                  <a:latin typeface="Gill Sans MT" panose="020B0502020104020203" pitchFamily="34" charset="0"/>
                  <a:cs typeface="Arial" panose="020B0604020202020204" pitchFamily="34" charset="0"/>
                </a:rPr>
                <a:t>Personalize</a:t>
              </a:r>
              <a:endParaRPr lang="en-IN" sz="2400" dirty="0">
                <a:solidFill>
                  <a:schemeClr val="tx1"/>
                </a:solidFill>
                <a:latin typeface="Gill Sans MT" panose="020B0502020104020203" pitchFamily="34" charset="0"/>
                <a:cs typeface="Arial" panose="020B0604020202020204" pitchFamily="34" charset="0"/>
              </a:endParaRPr>
            </a:p>
          </p:txBody>
        </p:sp>
      </p:grpSp>
      <p:grpSp>
        <p:nvGrpSpPr>
          <p:cNvPr id="35" name="Group 34">
            <a:extLst>
              <a:ext uri="{FF2B5EF4-FFF2-40B4-BE49-F238E27FC236}">
                <a16:creationId xmlns:a16="http://schemas.microsoft.com/office/drawing/2014/main" id="{CE9651F8-05C7-486A-5710-AEF59EE98EA3}"/>
              </a:ext>
            </a:extLst>
          </p:cNvPr>
          <p:cNvGrpSpPr/>
          <p:nvPr/>
        </p:nvGrpSpPr>
        <p:grpSpPr>
          <a:xfrm>
            <a:off x="10084051" y="2223205"/>
            <a:ext cx="3327489" cy="3700794"/>
            <a:chOff x="10084051" y="2223205"/>
            <a:chExt cx="3327489" cy="3700794"/>
          </a:xfrm>
        </p:grpSpPr>
        <p:sp>
          <p:nvSpPr>
            <p:cNvPr id="13" name="Oval 12">
              <a:extLst>
                <a:ext uri="{FF2B5EF4-FFF2-40B4-BE49-F238E27FC236}">
                  <a16:creationId xmlns:a16="http://schemas.microsoft.com/office/drawing/2014/main" id="{283FA5EF-7B1A-0053-EEF0-EBD13DDA504D}"/>
                </a:ext>
              </a:extLst>
            </p:cNvPr>
            <p:cNvSpPr/>
            <p:nvPr/>
          </p:nvSpPr>
          <p:spPr>
            <a:xfrm>
              <a:off x="10084051" y="2223205"/>
              <a:ext cx="2487171" cy="2476245"/>
            </a:xfrm>
            <a:prstGeom prst="ellipse">
              <a:avLst/>
            </a:prstGeom>
            <a:solidFill>
              <a:srgbClr val="FFC000"/>
            </a:solidFill>
            <a:ln>
              <a:solidFill>
                <a:schemeClr val="tx1"/>
              </a:solidFill>
            </a:ln>
            <a:effectLst>
              <a:outerShdw blurRad="76200" dir="13500000" sy="23000" kx="1200000" algn="br" rotWithShape="0">
                <a:prstClr val="black">
                  <a:alpha val="20000"/>
                </a:prstClr>
              </a:outerShdw>
            </a:effectLst>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nchor="ctr"/>
            <a:lstStyle/>
            <a:p>
              <a:pPr algn="ctr"/>
              <a:r>
                <a:rPr lang="en-US" sz="2400" b="1" dirty="0">
                  <a:solidFill>
                    <a:schemeClr val="tx1"/>
                  </a:solidFill>
                  <a:latin typeface="Aptos" panose="020B0004020202020204" pitchFamily="34" charset="0"/>
                </a:rPr>
                <a:t>Agentic</a:t>
              </a:r>
            </a:p>
            <a:p>
              <a:pPr algn="ctr"/>
              <a:r>
                <a:rPr lang="en-US" sz="2400" b="1" dirty="0">
                  <a:solidFill>
                    <a:schemeClr val="tx1"/>
                  </a:solidFill>
                  <a:latin typeface="Aptos" panose="020B0004020202020204" pitchFamily="34" charset="0"/>
                </a:rPr>
                <a:t>AI</a:t>
              </a:r>
              <a:endParaRPr lang="en-IN" sz="2400" b="1" dirty="0">
                <a:solidFill>
                  <a:schemeClr val="tx1"/>
                </a:solidFill>
                <a:latin typeface="Aptos" panose="020B0004020202020204" pitchFamily="34" charset="0"/>
              </a:endParaRPr>
            </a:p>
          </p:txBody>
        </p:sp>
        <p:sp>
          <p:nvSpPr>
            <p:cNvPr id="24" name="TextBox 23">
              <a:extLst>
                <a:ext uri="{FF2B5EF4-FFF2-40B4-BE49-F238E27FC236}">
                  <a16:creationId xmlns:a16="http://schemas.microsoft.com/office/drawing/2014/main" id="{7CBB1985-802E-01EF-D32A-A6C68AC7A2EC}"/>
                </a:ext>
              </a:extLst>
            </p:cNvPr>
            <p:cNvSpPr txBox="1"/>
            <p:nvPr/>
          </p:nvSpPr>
          <p:spPr>
            <a:xfrm>
              <a:off x="10084051" y="4723670"/>
              <a:ext cx="3327489" cy="1200329"/>
            </a:xfrm>
            <a:prstGeom prst="rect">
              <a:avLst/>
            </a:prstGeom>
            <a:noFill/>
          </p:spPr>
          <p:txBody>
            <a:bodyPr wrap="square">
              <a:spAutoFit/>
            </a:bodyPr>
            <a:lstStyle/>
            <a:p>
              <a:pPr marL="285750" indent="-285750">
                <a:buFont typeface="Arial" panose="020B0604020202020204" pitchFamily="34" charset="0"/>
                <a:buChar char="•"/>
              </a:pPr>
              <a:r>
                <a:rPr lang="en-US" sz="2400" dirty="0">
                  <a:solidFill>
                    <a:schemeClr val="tx1"/>
                  </a:solidFill>
                  <a:latin typeface="Gill Sans MT" panose="020B0502020104020203" pitchFamily="34" charset="0"/>
                  <a:cs typeface="Arial" panose="020B0604020202020204" pitchFamily="34" charset="0"/>
                </a:rPr>
                <a:t>Autonomous</a:t>
              </a:r>
              <a:r>
                <a:rPr lang="en-IN" sz="2400" dirty="0">
                  <a:solidFill>
                    <a:schemeClr val="tx1"/>
                  </a:solidFill>
                  <a:latin typeface="Gill Sans MT" panose="020B0502020104020203" pitchFamily="34" charset="0"/>
                  <a:cs typeface="Arial" panose="020B0604020202020204" pitchFamily="34" charset="0"/>
                </a:rPr>
                <a:t> Systems</a:t>
              </a:r>
            </a:p>
            <a:p>
              <a:pPr marL="742950" lvl="1" indent="-285750">
                <a:buFont typeface="Wingdings" panose="05000000000000000000" pitchFamily="2" charset="2"/>
                <a:buChar char="ü"/>
              </a:pPr>
              <a:r>
                <a:rPr lang="en-IN" sz="2400" dirty="0">
                  <a:solidFill>
                    <a:schemeClr val="tx1"/>
                  </a:solidFill>
                  <a:latin typeface="Gill Sans MT" panose="020B0502020104020203" pitchFamily="34" charset="0"/>
                  <a:cs typeface="Arial" panose="020B0604020202020204" pitchFamily="34" charset="0"/>
                </a:rPr>
                <a:t>Partial</a:t>
              </a:r>
            </a:p>
            <a:p>
              <a:pPr marL="742950" lvl="1" indent="-285750">
                <a:buFont typeface="Wingdings" panose="05000000000000000000" pitchFamily="2" charset="2"/>
                <a:buChar char="ü"/>
              </a:pPr>
              <a:r>
                <a:rPr lang="en-IN" sz="2400" dirty="0">
                  <a:solidFill>
                    <a:schemeClr val="tx1"/>
                  </a:solidFill>
                  <a:latin typeface="Gill Sans MT" panose="020B0502020104020203" pitchFamily="34" charset="0"/>
                  <a:cs typeface="Arial" panose="020B0604020202020204" pitchFamily="34" charset="0"/>
                </a:rPr>
                <a:t>Complete</a:t>
              </a:r>
              <a:endParaRPr lang="en-US" sz="2400" dirty="0">
                <a:solidFill>
                  <a:schemeClr val="tx1"/>
                </a:solidFill>
                <a:latin typeface="Gill Sans MT" panose="020B0502020104020203" pitchFamily="34" charset="0"/>
                <a:cs typeface="Arial" panose="020B0604020202020204" pitchFamily="34" charset="0"/>
              </a:endParaRPr>
            </a:p>
          </p:txBody>
        </p:sp>
      </p:grpSp>
      <p:sp>
        <p:nvSpPr>
          <p:cNvPr id="27" name="Arrow: Down 26">
            <a:extLst>
              <a:ext uri="{FF2B5EF4-FFF2-40B4-BE49-F238E27FC236}">
                <a16:creationId xmlns:a16="http://schemas.microsoft.com/office/drawing/2014/main" id="{BB1F849A-F044-1AE3-F08C-867A422F2D80}"/>
              </a:ext>
            </a:extLst>
          </p:cNvPr>
          <p:cNvSpPr/>
          <p:nvPr/>
        </p:nvSpPr>
        <p:spPr>
          <a:xfrm rot="16200000">
            <a:off x="5075670" y="2972123"/>
            <a:ext cx="484632" cy="978408"/>
          </a:xfrm>
          <a:prstGeom prst="downArrow">
            <a:avLst/>
          </a:prstGeom>
          <a:solidFill>
            <a:schemeClr val="accent1"/>
          </a:solidFill>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Down 30">
            <a:extLst>
              <a:ext uri="{FF2B5EF4-FFF2-40B4-BE49-F238E27FC236}">
                <a16:creationId xmlns:a16="http://schemas.microsoft.com/office/drawing/2014/main" id="{D9D384D5-6EC2-07AF-B3C8-38731FB30713}"/>
              </a:ext>
            </a:extLst>
          </p:cNvPr>
          <p:cNvSpPr/>
          <p:nvPr/>
        </p:nvSpPr>
        <p:spPr>
          <a:xfrm rot="16200000">
            <a:off x="9085683" y="2973557"/>
            <a:ext cx="484632" cy="978408"/>
          </a:xfrm>
          <a:prstGeom prst="downArrow">
            <a:avLst/>
          </a:prstGeom>
          <a:solidFill>
            <a:schemeClr val="accent1"/>
          </a:solidFill>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816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ADB35-54CC-0785-92A0-C65D9C203DB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664CD1B-00ED-4629-0AD6-C23F903F13DF}"/>
              </a:ext>
            </a:extLst>
          </p:cNvPr>
          <p:cNvSpPr/>
          <p:nvPr/>
        </p:nvSpPr>
        <p:spPr>
          <a:xfrm>
            <a:off x="1063806" y="205989"/>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Gill Sans MT" panose="020B0502020104020203" pitchFamily="34" charset="0"/>
              </a:rPr>
              <a:t>2. Prompting Techniques</a:t>
            </a:r>
            <a:endParaRPr lang="en-IN" sz="2000" b="1" dirty="0">
              <a:solidFill>
                <a:srgbClr val="FFFF00"/>
              </a:solidFill>
              <a:latin typeface="Gill Sans MT" panose="020B0502020104020203" pitchFamily="34" charset="0"/>
            </a:endParaRPr>
          </a:p>
        </p:txBody>
      </p:sp>
      <p:pic>
        <p:nvPicPr>
          <p:cNvPr id="5" name="Picture 4">
            <a:extLst>
              <a:ext uri="{FF2B5EF4-FFF2-40B4-BE49-F238E27FC236}">
                <a16:creationId xmlns:a16="http://schemas.microsoft.com/office/drawing/2014/main" id="{EF5621D0-DCCA-08FC-6B80-F4C6747CCA6A}"/>
              </a:ext>
            </a:extLst>
          </p:cNvPr>
          <p:cNvPicPr>
            <a:picLocks noChangeAspect="1"/>
          </p:cNvPicPr>
          <p:nvPr/>
        </p:nvPicPr>
        <p:blipFill>
          <a:blip r:embed="rId3"/>
          <a:stretch>
            <a:fillRect/>
          </a:stretch>
        </p:blipFill>
        <p:spPr>
          <a:xfrm>
            <a:off x="75769" y="20910"/>
            <a:ext cx="892683" cy="7953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TextBox 7">
            <a:extLst>
              <a:ext uri="{FF2B5EF4-FFF2-40B4-BE49-F238E27FC236}">
                <a16:creationId xmlns:a16="http://schemas.microsoft.com/office/drawing/2014/main" id="{838E20BE-5EDD-F07C-EC89-909030B8BA15}"/>
              </a:ext>
            </a:extLst>
          </p:cNvPr>
          <p:cNvSpPr txBox="1"/>
          <p:nvPr/>
        </p:nvSpPr>
        <p:spPr>
          <a:xfrm>
            <a:off x="543396" y="1310503"/>
            <a:ext cx="10664182" cy="3046988"/>
          </a:xfrm>
          <a:prstGeom prst="rect">
            <a:avLst/>
          </a:prstGeom>
          <a:noFill/>
        </p:spPr>
        <p:txBody>
          <a:bodyPr wrap="square">
            <a:spAutoFit/>
          </a:bodyPr>
          <a:lstStyle/>
          <a:p>
            <a:pPr marL="514350" indent="-514350">
              <a:buFont typeface="+mj-lt"/>
              <a:buAutoNum type="arabicPeriod"/>
            </a:pPr>
            <a:r>
              <a:rPr lang="en-IN" sz="3200" dirty="0">
                <a:latin typeface="Gill Sans MT" panose="020B0502020104020203" pitchFamily="34" charset="0"/>
              </a:rPr>
              <a:t>What is a Prompt</a:t>
            </a:r>
          </a:p>
          <a:p>
            <a:pPr marL="514350" indent="-514350">
              <a:buFont typeface="+mj-lt"/>
              <a:buAutoNum type="arabicPeriod"/>
            </a:pPr>
            <a:endParaRPr lang="en-IN" sz="3200" dirty="0">
              <a:latin typeface="Gill Sans MT" panose="020B0502020104020203" pitchFamily="34" charset="0"/>
            </a:endParaRPr>
          </a:p>
          <a:p>
            <a:pPr marL="514350" indent="-514350">
              <a:buFont typeface="+mj-lt"/>
              <a:buAutoNum type="arabicPeriod"/>
            </a:pPr>
            <a:r>
              <a:rPr lang="en-IN" sz="3200" dirty="0">
                <a:latin typeface="Gill Sans MT" panose="020B0502020104020203" pitchFamily="34" charset="0"/>
              </a:rPr>
              <a:t>Components of a Prompt</a:t>
            </a:r>
          </a:p>
          <a:p>
            <a:pPr marL="514350" indent="-514350">
              <a:buFont typeface="+mj-lt"/>
              <a:buAutoNum type="arabicPeriod"/>
            </a:pPr>
            <a:endParaRPr lang="en-IN" sz="3200" dirty="0">
              <a:latin typeface="Gill Sans MT" panose="020B0502020104020203" pitchFamily="34" charset="0"/>
            </a:endParaRPr>
          </a:p>
          <a:p>
            <a:pPr marL="514350" indent="-514350">
              <a:buFont typeface="+mj-lt"/>
              <a:buAutoNum type="arabicPeriod"/>
            </a:pPr>
            <a:r>
              <a:rPr lang="en-IN" sz="3200" dirty="0">
                <a:latin typeface="Gill Sans MT" panose="020B0502020104020203" pitchFamily="34" charset="0"/>
              </a:rPr>
              <a:t>Hands-on session on various Prompting techniques</a:t>
            </a:r>
          </a:p>
          <a:p>
            <a:pPr marL="514350" indent="-514350">
              <a:buFont typeface="+mj-lt"/>
              <a:buAutoNum type="arabicPeriod"/>
            </a:pPr>
            <a:endParaRPr lang="en-IN" sz="3200" dirty="0">
              <a:latin typeface="Gill Sans MT" panose="020B0502020104020203" pitchFamily="34" charset="0"/>
            </a:endParaRPr>
          </a:p>
        </p:txBody>
      </p:sp>
    </p:spTree>
    <p:extLst>
      <p:ext uri="{BB962C8B-B14F-4D97-AF65-F5344CB8AC3E}">
        <p14:creationId xmlns:p14="http://schemas.microsoft.com/office/powerpoint/2010/main" val="2818035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96CD8-D950-2998-246D-5744BB72FB1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109D273C-33C8-F924-9E75-16E199E334C6}"/>
              </a:ext>
            </a:extLst>
          </p:cNvPr>
          <p:cNvSpPr txBox="1"/>
          <p:nvPr/>
        </p:nvSpPr>
        <p:spPr>
          <a:xfrm>
            <a:off x="236348" y="1302673"/>
            <a:ext cx="13590863" cy="5736955"/>
          </a:xfrm>
          <a:prstGeom prst="rect">
            <a:avLst/>
          </a:prstGeom>
          <a:noFill/>
          <a:ln>
            <a:noFill/>
          </a:ln>
        </p:spPr>
        <p:txBody>
          <a:bodyPr wrap="square">
            <a:spAutoFit/>
          </a:bodyPr>
          <a:lstStyle/>
          <a:p>
            <a:pPr marL="285750" indent="-285750">
              <a:lnSpc>
                <a:spcPct val="90000"/>
              </a:lnSpc>
              <a:spcBef>
                <a:spcPts val="1000"/>
              </a:spcBef>
              <a:buClr>
                <a:srgbClr val="000000"/>
              </a:buClr>
              <a:buSzPts val="1800"/>
              <a:buFont typeface="Arial"/>
              <a:buChar char="•"/>
              <a:defRPr/>
            </a:pPr>
            <a:r>
              <a:rPr lang="en-US" sz="3200" dirty="0">
                <a:latin typeface="Gill Sans MT" panose="020B0502020104020203" pitchFamily="34" charset="0"/>
                <a:sym typeface="Arial"/>
              </a:rPr>
              <a:t>An input designed to elicit a desired response or output from an AI model. </a:t>
            </a:r>
          </a:p>
          <a:p>
            <a:pPr marL="285750" indent="-285750">
              <a:lnSpc>
                <a:spcPct val="90000"/>
              </a:lnSpc>
              <a:spcBef>
                <a:spcPts val="1000"/>
              </a:spcBef>
              <a:buClr>
                <a:srgbClr val="000000"/>
              </a:buClr>
              <a:buSzPts val="1800"/>
              <a:buFont typeface="Arial"/>
              <a:buChar char="•"/>
              <a:defRPr/>
            </a:pPr>
            <a:endParaRPr lang="en-US" sz="3200" dirty="0">
              <a:latin typeface="Gill Sans MT" panose="020B0502020104020203" pitchFamily="34" charset="0"/>
              <a:sym typeface="Arial"/>
            </a:endParaRPr>
          </a:p>
          <a:p>
            <a:pPr marL="285750" indent="-285750">
              <a:lnSpc>
                <a:spcPct val="90000"/>
              </a:lnSpc>
              <a:spcBef>
                <a:spcPts val="1000"/>
              </a:spcBef>
              <a:buClr>
                <a:srgbClr val="000000"/>
              </a:buClr>
              <a:buSzPts val="1800"/>
              <a:buFont typeface="Arial"/>
              <a:buChar char="•"/>
              <a:defRPr/>
            </a:pPr>
            <a:r>
              <a:rPr lang="en-US" sz="3200" dirty="0">
                <a:latin typeface="Gill Sans MT" panose="020B0502020104020203" pitchFamily="34" charset="0"/>
                <a:sym typeface="Arial"/>
              </a:rPr>
              <a:t>Prompt Engineering is the practice of designing specific instructions or inputs to guide AI models and influence their generated outputs.</a:t>
            </a:r>
          </a:p>
          <a:p>
            <a:pPr marL="914400" lvl="1" indent="-457200">
              <a:lnSpc>
                <a:spcPct val="90000"/>
              </a:lnSpc>
              <a:spcBef>
                <a:spcPts val="1000"/>
              </a:spcBef>
              <a:buClr>
                <a:srgbClr val="000000"/>
              </a:buClr>
              <a:buSzPts val="1800"/>
              <a:buFont typeface="Wingdings" panose="05000000000000000000" pitchFamily="2" charset="2"/>
              <a:buChar char="ü"/>
              <a:defRPr/>
            </a:pPr>
            <a:endParaRPr lang="en-US" sz="3200" b="1" dirty="0">
              <a:latin typeface="Gill Sans MT" panose="020B0502020104020203" pitchFamily="34" charset="0"/>
            </a:endParaRPr>
          </a:p>
          <a:p>
            <a:pPr marL="914400" lvl="1" indent="-457200">
              <a:lnSpc>
                <a:spcPct val="90000"/>
              </a:lnSpc>
              <a:spcBef>
                <a:spcPts val="1000"/>
              </a:spcBef>
              <a:buClr>
                <a:srgbClr val="000000"/>
              </a:buClr>
              <a:buSzPts val="1800"/>
              <a:buFont typeface="Wingdings" panose="05000000000000000000" pitchFamily="2" charset="2"/>
              <a:buChar char="ü"/>
              <a:defRPr/>
            </a:pPr>
            <a:r>
              <a:rPr lang="en-US" sz="3200" b="1" dirty="0">
                <a:latin typeface="Gill Sans MT" panose="020B0502020104020203" pitchFamily="34" charset="0"/>
              </a:rPr>
              <a:t>Providing Clear Direction: </a:t>
            </a:r>
            <a:r>
              <a:rPr lang="en-US" sz="3200" dirty="0">
                <a:latin typeface="Gill Sans MT" panose="020B0502020104020203" pitchFamily="34" charset="0"/>
              </a:rPr>
              <a:t>Prompts provide clear direction to AI, ensuring it understands your needs</a:t>
            </a:r>
          </a:p>
          <a:p>
            <a:pPr marL="914400" lvl="1" indent="-457200">
              <a:lnSpc>
                <a:spcPct val="90000"/>
              </a:lnSpc>
              <a:spcBef>
                <a:spcPts val="1000"/>
              </a:spcBef>
              <a:buClr>
                <a:srgbClr val="000000"/>
              </a:buClr>
              <a:buSzPts val="1800"/>
              <a:buFont typeface="Wingdings" panose="05000000000000000000" pitchFamily="2" charset="2"/>
              <a:buChar char="ü"/>
              <a:defRPr/>
            </a:pPr>
            <a:r>
              <a:rPr lang="en-US" sz="3200" b="1" dirty="0">
                <a:latin typeface="Gill Sans MT" panose="020B0502020104020203" pitchFamily="34" charset="0"/>
              </a:rPr>
              <a:t>Improving Accuracy: </a:t>
            </a:r>
            <a:r>
              <a:rPr lang="en-US" sz="3200" dirty="0">
                <a:latin typeface="Gill Sans MT" panose="020B0502020104020203" pitchFamily="34" charset="0"/>
              </a:rPr>
              <a:t>Well-crafted prompts enhance the accuracy of AI responses.</a:t>
            </a:r>
          </a:p>
          <a:p>
            <a:pPr marL="914400" lvl="1" indent="-457200">
              <a:lnSpc>
                <a:spcPct val="90000"/>
              </a:lnSpc>
              <a:spcBef>
                <a:spcPts val="1000"/>
              </a:spcBef>
              <a:buClr>
                <a:srgbClr val="000000"/>
              </a:buClr>
              <a:buSzPts val="1800"/>
              <a:buFont typeface="Wingdings" panose="05000000000000000000" pitchFamily="2" charset="2"/>
              <a:buChar char="ü"/>
              <a:defRPr/>
            </a:pPr>
            <a:r>
              <a:rPr lang="en-US" sz="3200" b="1" dirty="0">
                <a:latin typeface="Gill Sans MT" panose="020B0502020104020203" pitchFamily="34" charset="0"/>
              </a:rPr>
              <a:t>Saving Time: </a:t>
            </a:r>
            <a:r>
              <a:rPr lang="en-US" sz="3200" dirty="0">
                <a:latin typeface="Gill Sans MT" panose="020B0502020104020203" pitchFamily="34" charset="0"/>
              </a:rPr>
              <a:t>Specific prompts save time by reducing back-and-forth clarifications.</a:t>
            </a:r>
            <a:endParaRPr lang="en-US" sz="3200" dirty="0">
              <a:latin typeface="Gill Sans MT" panose="020B0502020104020203" pitchFamily="34" charset="0"/>
              <a:sym typeface="Arial"/>
            </a:endParaRPr>
          </a:p>
        </p:txBody>
      </p:sp>
      <p:sp>
        <p:nvSpPr>
          <p:cNvPr id="25" name="Text Placeholder 1">
            <a:extLst>
              <a:ext uri="{FF2B5EF4-FFF2-40B4-BE49-F238E27FC236}">
                <a16:creationId xmlns:a16="http://schemas.microsoft.com/office/drawing/2014/main" id="{7BBA65DD-6079-9A76-44CD-859A193C066B}"/>
              </a:ext>
            </a:extLst>
          </p:cNvPr>
          <p:cNvSpPr txBox="1">
            <a:spLocks/>
          </p:cNvSpPr>
          <p:nvPr/>
        </p:nvSpPr>
        <p:spPr>
          <a:xfrm>
            <a:off x="331747" y="109232"/>
            <a:ext cx="4524457"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1. What is a Prompt</a:t>
            </a:r>
          </a:p>
        </p:txBody>
      </p:sp>
    </p:spTree>
    <p:extLst>
      <p:ext uri="{BB962C8B-B14F-4D97-AF65-F5344CB8AC3E}">
        <p14:creationId xmlns:p14="http://schemas.microsoft.com/office/powerpoint/2010/main" val="464892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7D47A-F350-D699-90F0-983F6430A95F}"/>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4DAFCBFE-4ED4-3281-1FE0-16AC074C1B07}"/>
              </a:ext>
            </a:extLst>
          </p:cNvPr>
          <p:cNvSpPr/>
          <p:nvPr/>
        </p:nvSpPr>
        <p:spPr>
          <a:xfrm>
            <a:off x="4891215" y="1421025"/>
            <a:ext cx="2730843" cy="5362832"/>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E313D50D-06C3-FFAE-18FF-3F96C7B7F536}"/>
              </a:ext>
            </a:extLst>
          </p:cNvPr>
          <p:cNvSpPr/>
          <p:nvPr/>
        </p:nvSpPr>
        <p:spPr>
          <a:xfrm>
            <a:off x="1136820" y="1421025"/>
            <a:ext cx="2730843" cy="5362832"/>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1">
            <a:extLst>
              <a:ext uri="{FF2B5EF4-FFF2-40B4-BE49-F238E27FC236}">
                <a16:creationId xmlns:a16="http://schemas.microsoft.com/office/drawing/2014/main" id="{21FED206-F50E-CC0A-3893-E04563702458}"/>
              </a:ext>
            </a:extLst>
          </p:cNvPr>
          <p:cNvSpPr txBox="1">
            <a:spLocks/>
          </p:cNvSpPr>
          <p:nvPr/>
        </p:nvSpPr>
        <p:spPr>
          <a:xfrm>
            <a:off x="331747" y="109232"/>
            <a:ext cx="6810458"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2. Components of a Prompt</a:t>
            </a:r>
          </a:p>
        </p:txBody>
      </p:sp>
      <p:sp>
        <p:nvSpPr>
          <p:cNvPr id="2" name="Rectangle: Rounded Corners 1">
            <a:extLst>
              <a:ext uri="{FF2B5EF4-FFF2-40B4-BE49-F238E27FC236}">
                <a16:creationId xmlns:a16="http://schemas.microsoft.com/office/drawing/2014/main" id="{870F9B74-73FF-FE9E-0E43-571C6F23CF2A}"/>
              </a:ext>
            </a:extLst>
          </p:cNvPr>
          <p:cNvSpPr/>
          <p:nvPr/>
        </p:nvSpPr>
        <p:spPr>
          <a:xfrm>
            <a:off x="1272748" y="1733267"/>
            <a:ext cx="2471351" cy="646331"/>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Task</a:t>
            </a:r>
            <a:endParaRPr lang="en-IN" sz="2400" dirty="0">
              <a:latin typeface="Gill Sans MT" panose="020B0502020104020203" pitchFamily="34" charset="0"/>
            </a:endParaRPr>
          </a:p>
        </p:txBody>
      </p:sp>
      <p:sp>
        <p:nvSpPr>
          <p:cNvPr id="4" name="Rectangle: Rounded Corners 3">
            <a:extLst>
              <a:ext uri="{FF2B5EF4-FFF2-40B4-BE49-F238E27FC236}">
                <a16:creationId xmlns:a16="http://schemas.microsoft.com/office/drawing/2014/main" id="{1A37D640-10F6-ABCB-DA9F-EE2BEA6B9E47}"/>
              </a:ext>
            </a:extLst>
          </p:cNvPr>
          <p:cNvSpPr/>
          <p:nvPr/>
        </p:nvSpPr>
        <p:spPr>
          <a:xfrm>
            <a:off x="1272748" y="2697094"/>
            <a:ext cx="2471351" cy="646331"/>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Context</a:t>
            </a:r>
            <a:endParaRPr lang="en-IN" sz="2400" dirty="0">
              <a:latin typeface="Gill Sans MT" panose="020B0502020104020203" pitchFamily="34" charset="0"/>
            </a:endParaRPr>
          </a:p>
        </p:txBody>
      </p:sp>
      <p:sp>
        <p:nvSpPr>
          <p:cNvPr id="6" name="Rectangle: Rounded Corners 5">
            <a:extLst>
              <a:ext uri="{FF2B5EF4-FFF2-40B4-BE49-F238E27FC236}">
                <a16:creationId xmlns:a16="http://schemas.microsoft.com/office/drawing/2014/main" id="{AC0EE7B0-25D9-FB62-CC06-A5CB3B6CB977}"/>
              </a:ext>
            </a:extLst>
          </p:cNvPr>
          <p:cNvSpPr/>
          <p:nvPr/>
        </p:nvSpPr>
        <p:spPr>
          <a:xfrm>
            <a:off x="1272747" y="3660921"/>
            <a:ext cx="2471351" cy="646331"/>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Role / Persona</a:t>
            </a:r>
            <a:endParaRPr lang="en-IN" sz="2400" dirty="0">
              <a:latin typeface="Gill Sans MT" panose="020B0502020104020203" pitchFamily="34" charset="0"/>
            </a:endParaRPr>
          </a:p>
        </p:txBody>
      </p:sp>
      <p:sp>
        <p:nvSpPr>
          <p:cNvPr id="8" name="Rectangle: Rounded Corners 7">
            <a:extLst>
              <a:ext uri="{FF2B5EF4-FFF2-40B4-BE49-F238E27FC236}">
                <a16:creationId xmlns:a16="http://schemas.microsoft.com/office/drawing/2014/main" id="{3BB91829-2F30-9128-B3B7-80171A6AA66D}"/>
              </a:ext>
            </a:extLst>
          </p:cNvPr>
          <p:cNvSpPr/>
          <p:nvPr/>
        </p:nvSpPr>
        <p:spPr>
          <a:xfrm>
            <a:off x="1272747" y="4619494"/>
            <a:ext cx="2471351" cy="646331"/>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Output Format</a:t>
            </a:r>
            <a:endParaRPr lang="en-IN" sz="2400" dirty="0">
              <a:latin typeface="Gill Sans MT" panose="020B0502020104020203" pitchFamily="34" charset="0"/>
            </a:endParaRPr>
          </a:p>
        </p:txBody>
      </p:sp>
      <p:sp>
        <p:nvSpPr>
          <p:cNvPr id="10" name="Rectangle: Rounded Corners 9">
            <a:extLst>
              <a:ext uri="{FF2B5EF4-FFF2-40B4-BE49-F238E27FC236}">
                <a16:creationId xmlns:a16="http://schemas.microsoft.com/office/drawing/2014/main" id="{44A196C2-A489-1A42-542E-537940924A09}"/>
              </a:ext>
            </a:extLst>
          </p:cNvPr>
          <p:cNvSpPr/>
          <p:nvPr/>
        </p:nvSpPr>
        <p:spPr>
          <a:xfrm>
            <a:off x="5020960" y="1727645"/>
            <a:ext cx="2471351" cy="646331"/>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Examples</a:t>
            </a:r>
            <a:endParaRPr lang="en-IN" sz="2400" dirty="0">
              <a:latin typeface="Gill Sans MT" panose="020B0502020104020203" pitchFamily="34" charset="0"/>
            </a:endParaRPr>
          </a:p>
        </p:txBody>
      </p:sp>
      <p:sp>
        <p:nvSpPr>
          <p:cNvPr id="12" name="Rectangle: Rounded Corners 11">
            <a:extLst>
              <a:ext uri="{FF2B5EF4-FFF2-40B4-BE49-F238E27FC236}">
                <a16:creationId xmlns:a16="http://schemas.microsoft.com/office/drawing/2014/main" id="{826EAEE7-A7D4-5643-8777-5B8EF041BBF9}"/>
              </a:ext>
            </a:extLst>
          </p:cNvPr>
          <p:cNvSpPr/>
          <p:nvPr/>
        </p:nvSpPr>
        <p:spPr>
          <a:xfrm>
            <a:off x="5020960" y="2697094"/>
            <a:ext cx="2471351" cy="646331"/>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Target Audience</a:t>
            </a:r>
            <a:endParaRPr lang="en-IN" sz="2400" dirty="0">
              <a:latin typeface="Gill Sans MT" panose="020B0502020104020203" pitchFamily="34" charset="0"/>
            </a:endParaRPr>
          </a:p>
        </p:txBody>
      </p:sp>
      <p:sp>
        <p:nvSpPr>
          <p:cNvPr id="15" name="Rectangle: Rounded Corners 14">
            <a:extLst>
              <a:ext uri="{FF2B5EF4-FFF2-40B4-BE49-F238E27FC236}">
                <a16:creationId xmlns:a16="http://schemas.microsoft.com/office/drawing/2014/main" id="{33BDAE89-5B37-D178-B6C3-557D06E474B6}"/>
              </a:ext>
            </a:extLst>
          </p:cNvPr>
          <p:cNvSpPr/>
          <p:nvPr/>
        </p:nvSpPr>
        <p:spPr>
          <a:xfrm>
            <a:off x="5020959" y="3660921"/>
            <a:ext cx="2471351" cy="646331"/>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Asked By (I)</a:t>
            </a:r>
            <a:endParaRPr lang="en-IN" sz="2400" dirty="0">
              <a:latin typeface="Gill Sans MT" panose="020B0502020104020203" pitchFamily="34" charset="0"/>
            </a:endParaRPr>
          </a:p>
        </p:txBody>
      </p:sp>
      <p:sp>
        <p:nvSpPr>
          <p:cNvPr id="18" name="TextBox 17">
            <a:extLst>
              <a:ext uri="{FF2B5EF4-FFF2-40B4-BE49-F238E27FC236}">
                <a16:creationId xmlns:a16="http://schemas.microsoft.com/office/drawing/2014/main" id="{92DE1229-5BC0-3D62-A679-5360D71C5CBB}"/>
              </a:ext>
            </a:extLst>
          </p:cNvPr>
          <p:cNvSpPr txBox="1"/>
          <p:nvPr/>
        </p:nvSpPr>
        <p:spPr>
          <a:xfrm>
            <a:off x="1678458" y="5431303"/>
            <a:ext cx="1867930" cy="1200329"/>
          </a:xfrm>
          <a:prstGeom prst="rect">
            <a:avLst/>
          </a:prstGeom>
          <a:noFill/>
        </p:spPr>
        <p:txBody>
          <a:bodyPr wrap="square">
            <a:spAutoFit/>
          </a:bodyPr>
          <a:lstStyle/>
          <a:p>
            <a:r>
              <a:rPr lang="en-US" sz="2400" dirty="0">
                <a:latin typeface="Gill Sans MT" panose="020B0502020104020203" pitchFamily="34" charset="0"/>
              </a:rPr>
              <a:t>Include these to get the best results</a:t>
            </a:r>
            <a:endParaRPr lang="en-IN" dirty="0"/>
          </a:p>
        </p:txBody>
      </p:sp>
      <p:sp>
        <p:nvSpPr>
          <p:cNvPr id="22" name="TextBox 21">
            <a:extLst>
              <a:ext uri="{FF2B5EF4-FFF2-40B4-BE49-F238E27FC236}">
                <a16:creationId xmlns:a16="http://schemas.microsoft.com/office/drawing/2014/main" id="{F9B32495-27A4-0231-C885-7F9A553D6E4E}"/>
              </a:ext>
            </a:extLst>
          </p:cNvPr>
          <p:cNvSpPr txBox="1"/>
          <p:nvPr/>
        </p:nvSpPr>
        <p:spPr>
          <a:xfrm>
            <a:off x="5426675" y="5301626"/>
            <a:ext cx="1867930" cy="830997"/>
          </a:xfrm>
          <a:prstGeom prst="rect">
            <a:avLst/>
          </a:prstGeom>
          <a:noFill/>
        </p:spPr>
        <p:txBody>
          <a:bodyPr wrap="square">
            <a:spAutoFit/>
          </a:bodyPr>
          <a:lstStyle/>
          <a:p>
            <a:pPr algn="ctr"/>
            <a:r>
              <a:rPr lang="en-US" sz="2400" dirty="0">
                <a:latin typeface="Gill Sans MT" panose="020B0502020104020203" pitchFamily="34" charset="0"/>
              </a:rPr>
              <a:t>Whenever required</a:t>
            </a:r>
            <a:endParaRPr lang="en-IN" dirty="0"/>
          </a:p>
        </p:txBody>
      </p:sp>
      <p:sp>
        <p:nvSpPr>
          <p:cNvPr id="24" name="TextBox 23">
            <a:extLst>
              <a:ext uri="{FF2B5EF4-FFF2-40B4-BE49-F238E27FC236}">
                <a16:creationId xmlns:a16="http://schemas.microsoft.com/office/drawing/2014/main" id="{E69333A8-47C1-D710-58C7-02A62C34CA2F}"/>
              </a:ext>
            </a:extLst>
          </p:cNvPr>
          <p:cNvSpPr txBox="1"/>
          <p:nvPr/>
        </p:nvSpPr>
        <p:spPr>
          <a:xfrm>
            <a:off x="8522040" y="2932557"/>
            <a:ext cx="5614087" cy="1938992"/>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Gill Sans MT" panose="020B0502020104020203" pitchFamily="34" charset="0"/>
              </a:rPr>
              <a:t>Inclusion / Exclusion of components in a prompt can affect the LLM output</a:t>
            </a:r>
          </a:p>
          <a:p>
            <a:pPr marL="342900" indent="-342900">
              <a:buFont typeface="Arial" panose="020B0604020202020204" pitchFamily="34" charset="0"/>
              <a:buChar char="•"/>
            </a:pPr>
            <a:endParaRPr lang="en-US" sz="2400" dirty="0">
              <a:latin typeface="Gill Sans MT" panose="020B0502020104020203" pitchFamily="34" charset="0"/>
            </a:endParaRPr>
          </a:p>
          <a:p>
            <a:pPr marL="342900" indent="-342900">
              <a:buFont typeface="Arial" panose="020B0604020202020204" pitchFamily="34" charset="0"/>
              <a:buChar char="•"/>
            </a:pPr>
            <a:r>
              <a:rPr lang="en-US" sz="2400" dirty="0">
                <a:latin typeface="Gill Sans MT" panose="020B0502020104020203" pitchFamily="34" charset="0"/>
              </a:rPr>
              <a:t>Writing a Prompt is an art that must be practiced</a:t>
            </a:r>
            <a:endParaRPr lang="en-IN" dirty="0"/>
          </a:p>
        </p:txBody>
      </p:sp>
    </p:spTree>
    <p:extLst>
      <p:ext uri="{BB962C8B-B14F-4D97-AF65-F5344CB8AC3E}">
        <p14:creationId xmlns:p14="http://schemas.microsoft.com/office/powerpoint/2010/main" val="1058479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13569-A027-AF92-B3BB-9D445D355CE4}"/>
            </a:ext>
          </a:extLst>
        </p:cNvPr>
        <p:cNvGrpSpPr/>
        <p:nvPr/>
      </p:nvGrpSpPr>
      <p:grpSpPr>
        <a:xfrm>
          <a:off x="0" y="0"/>
          <a:ext cx="0" cy="0"/>
          <a:chOff x="0" y="0"/>
          <a:chExt cx="0" cy="0"/>
        </a:xfrm>
      </p:grpSpPr>
      <p:sp>
        <p:nvSpPr>
          <p:cNvPr id="25" name="Text Placeholder 1">
            <a:extLst>
              <a:ext uri="{FF2B5EF4-FFF2-40B4-BE49-F238E27FC236}">
                <a16:creationId xmlns:a16="http://schemas.microsoft.com/office/drawing/2014/main" id="{6D8325F2-9167-3040-2109-74821DF8BD7B}"/>
              </a:ext>
            </a:extLst>
          </p:cNvPr>
          <p:cNvSpPr txBox="1">
            <a:spLocks/>
          </p:cNvSpPr>
          <p:nvPr/>
        </p:nvSpPr>
        <p:spPr>
          <a:xfrm>
            <a:off x="331747" y="109232"/>
            <a:ext cx="6810458"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3. Hands-on</a:t>
            </a:r>
          </a:p>
        </p:txBody>
      </p:sp>
      <p:sp>
        <p:nvSpPr>
          <p:cNvPr id="9" name="TextBox 8">
            <a:extLst>
              <a:ext uri="{FF2B5EF4-FFF2-40B4-BE49-F238E27FC236}">
                <a16:creationId xmlns:a16="http://schemas.microsoft.com/office/drawing/2014/main" id="{C7362801-7C28-6BD1-5778-0CF2C811CB79}"/>
              </a:ext>
            </a:extLst>
          </p:cNvPr>
          <p:cNvSpPr txBox="1"/>
          <p:nvPr/>
        </p:nvSpPr>
        <p:spPr>
          <a:xfrm>
            <a:off x="319392" y="1302673"/>
            <a:ext cx="10702837" cy="584775"/>
          </a:xfrm>
          <a:prstGeom prst="rect">
            <a:avLst/>
          </a:prstGeom>
          <a:noFill/>
        </p:spPr>
        <p:txBody>
          <a:bodyPr wrap="square">
            <a:spAutoFit/>
          </a:bodyPr>
          <a:lstStyle/>
          <a:p>
            <a:r>
              <a:rPr lang="en-IN" sz="3200" dirty="0">
                <a:latin typeface="Gill Sans MT" panose="020B0502020104020203" pitchFamily="34" charset="0"/>
              </a:rPr>
              <a:t>Hands-on session on various Prompting techniques</a:t>
            </a:r>
          </a:p>
        </p:txBody>
      </p:sp>
    </p:spTree>
    <p:extLst>
      <p:ext uri="{BB962C8B-B14F-4D97-AF65-F5344CB8AC3E}">
        <p14:creationId xmlns:p14="http://schemas.microsoft.com/office/powerpoint/2010/main" val="1853392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8F90-7F03-1C56-FD86-E8C7BF16EB6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A577F48-C480-9B22-90C2-0A45B32467D1}"/>
              </a:ext>
            </a:extLst>
          </p:cNvPr>
          <p:cNvSpPr/>
          <p:nvPr/>
        </p:nvSpPr>
        <p:spPr>
          <a:xfrm>
            <a:off x="1063806" y="205989"/>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Gill Sans MT" panose="020B0502020104020203" pitchFamily="34" charset="0"/>
              </a:rPr>
              <a:t>3. AI in Practice</a:t>
            </a:r>
            <a:endParaRPr lang="en-IN" sz="2000" b="1" dirty="0">
              <a:solidFill>
                <a:srgbClr val="FFFF00"/>
              </a:solidFill>
              <a:latin typeface="Gill Sans MT" panose="020B0502020104020203" pitchFamily="34" charset="0"/>
            </a:endParaRPr>
          </a:p>
        </p:txBody>
      </p:sp>
      <p:pic>
        <p:nvPicPr>
          <p:cNvPr id="6" name="Picture 5">
            <a:extLst>
              <a:ext uri="{FF2B5EF4-FFF2-40B4-BE49-F238E27FC236}">
                <a16:creationId xmlns:a16="http://schemas.microsoft.com/office/drawing/2014/main" id="{44654E63-7DEB-EEB9-78CD-6103421E071D}"/>
              </a:ext>
            </a:extLst>
          </p:cNvPr>
          <p:cNvPicPr>
            <a:picLocks noChangeAspect="1"/>
          </p:cNvPicPr>
          <p:nvPr/>
        </p:nvPicPr>
        <p:blipFill>
          <a:blip r:embed="rId3"/>
          <a:stretch>
            <a:fillRect/>
          </a:stretch>
        </p:blipFill>
        <p:spPr>
          <a:xfrm>
            <a:off x="90969" y="18020"/>
            <a:ext cx="867958" cy="7953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TextBox 8">
            <a:extLst>
              <a:ext uri="{FF2B5EF4-FFF2-40B4-BE49-F238E27FC236}">
                <a16:creationId xmlns:a16="http://schemas.microsoft.com/office/drawing/2014/main" id="{5F2CBCAE-7E8D-8A93-AAAB-94CDD872864C}"/>
              </a:ext>
            </a:extLst>
          </p:cNvPr>
          <p:cNvSpPr txBox="1"/>
          <p:nvPr/>
        </p:nvSpPr>
        <p:spPr>
          <a:xfrm>
            <a:off x="543395" y="1310503"/>
            <a:ext cx="9786853" cy="584775"/>
          </a:xfrm>
          <a:prstGeom prst="rect">
            <a:avLst/>
          </a:prstGeom>
          <a:noFill/>
        </p:spPr>
        <p:txBody>
          <a:bodyPr wrap="square">
            <a:spAutoFit/>
          </a:bodyPr>
          <a:lstStyle/>
          <a:p>
            <a:pPr marL="457200" indent="-457200">
              <a:buFont typeface="Arial" panose="020B0604020202020204" pitchFamily="34" charset="0"/>
              <a:buChar char="•"/>
            </a:pPr>
            <a:r>
              <a:rPr lang="en-IN" sz="3200" dirty="0">
                <a:latin typeface="Gill Sans MT" panose="020B0502020104020203" pitchFamily="34" charset="0"/>
              </a:rPr>
              <a:t>Activities / Discussion / Interaction / QA</a:t>
            </a:r>
          </a:p>
        </p:txBody>
      </p:sp>
      <p:sp>
        <p:nvSpPr>
          <p:cNvPr id="27" name="Rectangle: Rounded Corners 26">
            <a:extLst>
              <a:ext uri="{FF2B5EF4-FFF2-40B4-BE49-F238E27FC236}">
                <a16:creationId xmlns:a16="http://schemas.microsoft.com/office/drawing/2014/main" id="{94E6ABE0-B277-7B01-2922-E13C237AF2E3}"/>
              </a:ext>
            </a:extLst>
          </p:cNvPr>
          <p:cNvSpPr/>
          <p:nvPr/>
        </p:nvSpPr>
        <p:spPr>
          <a:xfrm>
            <a:off x="1210960" y="2392377"/>
            <a:ext cx="5918887"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1. AI Myth or Reality</a:t>
            </a:r>
            <a:endParaRPr lang="en-IN" sz="2400" i="1" dirty="0">
              <a:latin typeface="Gill Sans MT" panose="020B0502020104020203" pitchFamily="34" charset="0"/>
            </a:endParaRPr>
          </a:p>
        </p:txBody>
      </p:sp>
      <p:sp>
        <p:nvSpPr>
          <p:cNvPr id="29" name="Rectangle: Rounded Corners 28">
            <a:extLst>
              <a:ext uri="{FF2B5EF4-FFF2-40B4-BE49-F238E27FC236}">
                <a16:creationId xmlns:a16="http://schemas.microsoft.com/office/drawing/2014/main" id="{E6B1F1DC-3E09-D179-2873-B36B575F5AA4}"/>
              </a:ext>
            </a:extLst>
          </p:cNvPr>
          <p:cNvSpPr/>
          <p:nvPr/>
        </p:nvSpPr>
        <p:spPr>
          <a:xfrm>
            <a:off x="7525262" y="2392376"/>
            <a:ext cx="5918883"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2. Real Work Pain-points</a:t>
            </a:r>
            <a:endParaRPr lang="en-IN" i="1" dirty="0">
              <a:latin typeface="Gill Sans MT" panose="020B0502020104020203" pitchFamily="34" charset="0"/>
            </a:endParaRPr>
          </a:p>
        </p:txBody>
      </p:sp>
      <p:sp>
        <p:nvSpPr>
          <p:cNvPr id="31" name="Rectangle: Rounded Corners 30">
            <a:extLst>
              <a:ext uri="{FF2B5EF4-FFF2-40B4-BE49-F238E27FC236}">
                <a16:creationId xmlns:a16="http://schemas.microsoft.com/office/drawing/2014/main" id="{EA172737-9A38-703E-BA3B-AC1138DB0931}"/>
              </a:ext>
            </a:extLst>
          </p:cNvPr>
          <p:cNvSpPr/>
          <p:nvPr/>
        </p:nvSpPr>
        <p:spPr>
          <a:xfrm>
            <a:off x="1210960" y="3579527"/>
            <a:ext cx="5918886"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3. Prompt Makeover Challenge</a:t>
            </a:r>
            <a:endParaRPr lang="en-IN" sz="2400" i="1" dirty="0">
              <a:latin typeface="Gill Sans MT" panose="020B0502020104020203" pitchFamily="34" charset="0"/>
            </a:endParaRPr>
          </a:p>
        </p:txBody>
      </p:sp>
      <p:sp>
        <p:nvSpPr>
          <p:cNvPr id="33" name="Rectangle: Rounded Corners 32">
            <a:extLst>
              <a:ext uri="{FF2B5EF4-FFF2-40B4-BE49-F238E27FC236}">
                <a16:creationId xmlns:a16="http://schemas.microsoft.com/office/drawing/2014/main" id="{F44ECAC6-C27E-C1A8-9877-E642FA3E0BEB}"/>
              </a:ext>
            </a:extLst>
          </p:cNvPr>
          <p:cNvSpPr/>
          <p:nvPr/>
        </p:nvSpPr>
        <p:spPr>
          <a:xfrm>
            <a:off x="7525262" y="3579526"/>
            <a:ext cx="5918884"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4. Simulate an AI Work Assistant</a:t>
            </a:r>
            <a:endParaRPr lang="en-IN" sz="2400" i="1" dirty="0">
              <a:latin typeface="Gill Sans MT" panose="020B0502020104020203" pitchFamily="34" charset="0"/>
            </a:endParaRPr>
          </a:p>
        </p:txBody>
      </p:sp>
      <p:sp>
        <p:nvSpPr>
          <p:cNvPr id="35" name="Rectangle: Rounded Corners 34">
            <a:extLst>
              <a:ext uri="{FF2B5EF4-FFF2-40B4-BE49-F238E27FC236}">
                <a16:creationId xmlns:a16="http://schemas.microsoft.com/office/drawing/2014/main" id="{6CDB4A6A-E821-7973-337A-390272DFD08A}"/>
              </a:ext>
            </a:extLst>
          </p:cNvPr>
          <p:cNvSpPr/>
          <p:nvPr/>
        </p:nvSpPr>
        <p:spPr>
          <a:xfrm>
            <a:off x="1210960" y="4766677"/>
            <a:ext cx="5918885"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5. Human vs AI Quality Review</a:t>
            </a:r>
            <a:endParaRPr lang="en-IN" sz="2400" i="1" dirty="0">
              <a:latin typeface="Gill Sans MT" panose="020B0502020104020203" pitchFamily="34" charset="0"/>
            </a:endParaRPr>
          </a:p>
        </p:txBody>
      </p:sp>
      <p:sp>
        <p:nvSpPr>
          <p:cNvPr id="37" name="Rectangle: Rounded Corners 36">
            <a:extLst>
              <a:ext uri="{FF2B5EF4-FFF2-40B4-BE49-F238E27FC236}">
                <a16:creationId xmlns:a16="http://schemas.microsoft.com/office/drawing/2014/main" id="{EEA230BA-C6D4-5C24-211D-A97072331802}"/>
              </a:ext>
            </a:extLst>
          </p:cNvPr>
          <p:cNvSpPr/>
          <p:nvPr/>
        </p:nvSpPr>
        <p:spPr>
          <a:xfrm>
            <a:off x="7525262" y="4766676"/>
            <a:ext cx="5918885"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6. Tech vs Non-tech Collaboration Task</a:t>
            </a:r>
            <a:endParaRPr lang="en-IN" sz="2400" i="1" dirty="0">
              <a:latin typeface="Gill Sans MT" panose="020B0502020104020203" pitchFamily="34" charset="0"/>
            </a:endParaRPr>
          </a:p>
        </p:txBody>
      </p:sp>
      <p:sp>
        <p:nvSpPr>
          <p:cNvPr id="39" name="Rectangle: Rounded Corners 38">
            <a:extLst>
              <a:ext uri="{FF2B5EF4-FFF2-40B4-BE49-F238E27FC236}">
                <a16:creationId xmlns:a16="http://schemas.microsoft.com/office/drawing/2014/main" id="{77E4C97D-81D5-CCEF-89EE-411C691ACCCF}"/>
              </a:ext>
            </a:extLst>
          </p:cNvPr>
          <p:cNvSpPr/>
          <p:nvPr/>
        </p:nvSpPr>
        <p:spPr>
          <a:xfrm>
            <a:off x="1210960" y="5953827"/>
            <a:ext cx="5918885"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7. AI Risk Spotting</a:t>
            </a:r>
            <a:endParaRPr lang="en-IN" sz="2400" i="1" dirty="0">
              <a:latin typeface="Gill Sans MT" panose="020B0502020104020203" pitchFamily="34" charset="0"/>
            </a:endParaRPr>
          </a:p>
        </p:txBody>
      </p:sp>
      <p:sp>
        <p:nvSpPr>
          <p:cNvPr id="41" name="Rectangle: Rounded Corners 40">
            <a:extLst>
              <a:ext uri="{FF2B5EF4-FFF2-40B4-BE49-F238E27FC236}">
                <a16:creationId xmlns:a16="http://schemas.microsoft.com/office/drawing/2014/main" id="{A8006897-CFB9-27B0-A7A1-2D90F51C5BEA}"/>
              </a:ext>
            </a:extLst>
          </p:cNvPr>
          <p:cNvSpPr/>
          <p:nvPr/>
        </p:nvSpPr>
        <p:spPr>
          <a:xfrm>
            <a:off x="7525262" y="5953826"/>
            <a:ext cx="5918885"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8. My Commitment</a:t>
            </a:r>
            <a:endParaRPr lang="en-IN" sz="2400" i="1" dirty="0">
              <a:latin typeface="Gill Sans MT" panose="020B0502020104020203" pitchFamily="34" charset="0"/>
            </a:endParaRPr>
          </a:p>
        </p:txBody>
      </p:sp>
    </p:spTree>
    <p:extLst>
      <p:ext uri="{BB962C8B-B14F-4D97-AF65-F5344CB8AC3E}">
        <p14:creationId xmlns:p14="http://schemas.microsoft.com/office/powerpoint/2010/main" val="1186498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3E97-4099-DC0E-620B-25B1E302FCB1}"/>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BBD1AA89-AB9E-CC15-78D8-E28D2F320D90}"/>
              </a:ext>
            </a:extLst>
          </p:cNvPr>
          <p:cNvSpPr txBox="1">
            <a:spLocks/>
          </p:cNvSpPr>
          <p:nvPr/>
        </p:nvSpPr>
        <p:spPr>
          <a:xfrm>
            <a:off x="331747" y="109232"/>
            <a:ext cx="6810458"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1: Myth or Reality</a:t>
            </a:r>
          </a:p>
        </p:txBody>
      </p:sp>
      <p:sp>
        <p:nvSpPr>
          <p:cNvPr id="5" name="Oval 4">
            <a:extLst>
              <a:ext uri="{FF2B5EF4-FFF2-40B4-BE49-F238E27FC236}">
                <a16:creationId xmlns:a16="http://schemas.microsoft.com/office/drawing/2014/main" id="{7F0B1DFC-D7BF-9A5B-0525-0D503738F699}"/>
              </a:ext>
            </a:extLst>
          </p:cNvPr>
          <p:cNvSpPr/>
          <p:nvPr/>
        </p:nvSpPr>
        <p:spPr>
          <a:xfrm>
            <a:off x="702368" y="2134212"/>
            <a:ext cx="2720688" cy="2676072"/>
          </a:xfrm>
          <a:prstGeom prst="ellipse">
            <a:avLst/>
          </a:prstGeom>
          <a:solidFill>
            <a:srgbClr val="00478F"/>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AI can think and feel like humans</a:t>
            </a:r>
          </a:p>
        </p:txBody>
      </p:sp>
      <p:sp>
        <p:nvSpPr>
          <p:cNvPr id="7" name="Oval 6">
            <a:extLst>
              <a:ext uri="{FF2B5EF4-FFF2-40B4-BE49-F238E27FC236}">
                <a16:creationId xmlns:a16="http://schemas.microsoft.com/office/drawing/2014/main" id="{E1E9FDEC-9D80-5F40-31F2-C277CB73E214}"/>
              </a:ext>
            </a:extLst>
          </p:cNvPr>
          <p:cNvSpPr/>
          <p:nvPr/>
        </p:nvSpPr>
        <p:spPr>
          <a:xfrm>
            <a:off x="4594512" y="1765098"/>
            <a:ext cx="2720688" cy="2676072"/>
          </a:xfrm>
          <a:prstGeom prst="ellipse">
            <a:avLst/>
          </a:prstGeom>
          <a:solidFill>
            <a:srgbClr val="00478F"/>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dirty="0">
                <a:latin typeface="Gill Sans MT" panose="020B0502020104020203" pitchFamily="34" charset="0"/>
              </a:rPr>
              <a:t>AI will eventually function like the Human Brain</a:t>
            </a:r>
          </a:p>
        </p:txBody>
      </p:sp>
      <p:sp>
        <p:nvSpPr>
          <p:cNvPr id="8" name="Oval 7">
            <a:extLst>
              <a:ext uri="{FF2B5EF4-FFF2-40B4-BE49-F238E27FC236}">
                <a16:creationId xmlns:a16="http://schemas.microsoft.com/office/drawing/2014/main" id="{D6A8B204-A6DC-9F78-4580-B36C936202C9}"/>
              </a:ext>
            </a:extLst>
          </p:cNvPr>
          <p:cNvSpPr/>
          <p:nvPr/>
        </p:nvSpPr>
        <p:spPr>
          <a:xfrm>
            <a:off x="8486656" y="2038099"/>
            <a:ext cx="2720688" cy="2676072"/>
          </a:xfrm>
          <a:prstGeom prst="ellipse">
            <a:avLst/>
          </a:prstGeom>
          <a:solidFill>
            <a:srgbClr val="00478F"/>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dirty="0">
                <a:latin typeface="Gill Sans MT" panose="020B0502020104020203" pitchFamily="34" charset="0"/>
              </a:rPr>
              <a:t>AI will take over all jobs</a:t>
            </a:r>
          </a:p>
        </p:txBody>
      </p:sp>
      <p:sp>
        <p:nvSpPr>
          <p:cNvPr id="10" name="Oval 9">
            <a:extLst>
              <a:ext uri="{FF2B5EF4-FFF2-40B4-BE49-F238E27FC236}">
                <a16:creationId xmlns:a16="http://schemas.microsoft.com/office/drawing/2014/main" id="{2C1B78CD-9277-546B-C90E-AB9453239FF7}"/>
              </a:ext>
            </a:extLst>
          </p:cNvPr>
          <p:cNvSpPr/>
          <p:nvPr/>
        </p:nvSpPr>
        <p:spPr>
          <a:xfrm>
            <a:off x="11599458" y="1548311"/>
            <a:ext cx="2720688" cy="2676072"/>
          </a:xfrm>
          <a:prstGeom prst="ellipse">
            <a:avLst/>
          </a:prstGeom>
          <a:solidFill>
            <a:srgbClr val="00478F"/>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dirty="0">
                <a:latin typeface="Gill Sans MT" panose="020B0502020104020203" pitchFamily="34" charset="0"/>
              </a:rPr>
              <a:t>AI is always unbiased and objective</a:t>
            </a:r>
          </a:p>
        </p:txBody>
      </p:sp>
      <p:sp>
        <p:nvSpPr>
          <p:cNvPr id="11" name="Oval 10">
            <a:extLst>
              <a:ext uri="{FF2B5EF4-FFF2-40B4-BE49-F238E27FC236}">
                <a16:creationId xmlns:a16="http://schemas.microsoft.com/office/drawing/2014/main" id="{E4EFB478-D01B-CA44-70F4-C705B4E46538}"/>
              </a:ext>
            </a:extLst>
          </p:cNvPr>
          <p:cNvSpPr/>
          <p:nvPr/>
        </p:nvSpPr>
        <p:spPr>
          <a:xfrm>
            <a:off x="2566290" y="4441170"/>
            <a:ext cx="2720688" cy="2676072"/>
          </a:xfrm>
          <a:prstGeom prst="ellipse">
            <a:avLst/>
          </a:prstGeom>
          <a:solidFill>
            <a:srgbClr val="00478F"/>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400" dirty="0">
                <a:latin typeface="Gill Sans MT" panose="020B0502020104020203" pitchFamily="34" charset="0"/>
              </a:rPr>
              <a:t>AI will soon achieve “Super Intelligence”</a:t>
            </a:r>
          </a:p>
        </p:txBody>
      </p:sp>
      <p:sp>
        <p:nvSpPr>
          <p:cNvPr id="12" name="Oval 11">
            <a:extLst>
              <a:ext uri="{FF2B5EF4-FFF2-40B4-BE49-F238E27FC236}">
                <a16:creationId xmlns:a16="http://schemas.microsoft.com/office/drawing/2014/main" id="{C2C35F35-4C1B-08FF-3912-F696122850B9}"/>
              </a:ext>
            </a:extLst>
          </p:cNvPr>
          <p:cNvSpPr/>
          <p:nvPr/>
        </p:nvSpPr>
        <p:spPr>
          <a:xfrm>
            <a:off x="6458434" y="4068879"/>
            <a:ext cx="2720688" cy="2676072"/>
          </a:xfrm>
          <a:prstGeom prst="ellipse">
            <a:avLst/>
          </a:prstGeom>
          <a:solidFill>
            <a:srgbClr val="00478F"/>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AI understands everything it processes</a:t>
            </a:r>
          </a:p>
        </p:txBody>
      </p:sp>
      <p:sp>
        <p:nvSpPr>
          <p:cNvPr id="13" name="Oval 12">
            <a:extLst>
              <a:ext uri="{FF2B5EF4-FFF2-40B4-BE49-F238E27FC236}">
                <a16:creationId xmlns:a16="http://schemas.microsoft.com/office/drawing/2014/main" id="{80C48D59-B5AD-45DD-CBF4-DFCF6AD30451}"/>
              </a:ext>
            </a:extLst>
          </p:cNvPr>
          <p:cNvSpPr/>
          <p:nvPr/>
        </p:nvSpPr>
        <p:spPr>
          <a:xfrm>
            <a:off x="10428002" y="4441170"/>
            <a:ext cx="2720688" cy="2676072"/>
          </a:xfrm>
          <a:prstGeom prst="ellipse">
            <a:avLst/>
          </a:prstGeom>
          <a:solidFill>
            <a:srgbClr val="00478F"/>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AI will eventually control Humanity</a:t>
            </a:r>
          </a:p>
        </p:txBody>
      </p:sp>
      <p:sp>
        <p:nvSpPr>
          <p:cNvPr id="3" name="TextBox 2">
            <a:extLst>
              <a:ext uri="{FF2B5EF4-FFF2-40B4-BE49-F238E27FC236}">
                <a16:creationId xmlns:a16="http://schemas.microsoft.com/office/drawing/2014/main" id="{93D37666-69BD-9A53-B8D2-A7B8B1F55D25}"/>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Let’s Debate</a:t>
            </a:r>
          </a:p>
        </p:txBody>
      </p:sp>
    </p:spTree>
    <p:extLst>
      <p:ext uri="{BB962C8B-B14F-4D97-AF65-F5344CB8AC3E}">
        <p14:creationId xmlns:p14="http://schemas.microsoft.com/office/powerpoint/2010/main" val="77307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1" grpId="0" animBg="1"/>
      <p:bldP spid="12"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928A4-7B9F-A946-86A7-425622C91BC2}"/>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3BD39A40-38A1-DD1D-7C7D-0DBC44E70D26}"/>
              </a:ext>
            </a:extLst>
          </p:cNvPr>
          <p:cNvSpPr txBox="1">
            <a:spLocks/>
          </p:cNvSpPr>
          <p:nvPr/>
        </p:nvSpPr>
        <p:spPr>
          <a:xfrm>
            <a:off x="331747" y="109232"/>
            <a:ext cx="6810458"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2: Real work Pain points</a:t>
            </a:r>
          </a:p>
        </p:txBody>
      </p:sp>
      <p:sp>
        <p:nvSpPr>
          <p:cNvPr id="3" name="TextBox 2">
            <a:extLst>
              <a:ext uri="{FF2B5EF4-FFF2-40B4-BE49-F238E27FC236}">
                <a16:creationId xmlns:a16="http://schemas.microsoft.com/office/drawing/2014/main" id="{A796DA48-CDD6-AFA6-0A4B-E09D3CEC8CC5}"/>
              </a:ext>
            </a:extLst>
          </p:cNvPr>
          <p:cNvSpPr txBox="1"/>
          <p:nvPr/>
        </p:nvSpPr>
        <p:spPr>
          <a:xfrm>
            <a:off x="223966" y="2256821"/>
            <a:ext cx="6918239" cy="2554545"/>
          </a:xfrm>
          <a:prstGeom prst="rect">
            <a:avLst/>
          </a:prstGeom>
          <a:noFill/>
        </p:spPr>
        <p:txBody>
          <a:bodyPr wrap="square">
            <a:spAutoFit/>
          </a:bodyPr>
          <a:lstStyle/>
          <a:p>
            <a:r>
              <a:rPr lang="en-IN" sz="3200" b="1" i="1" dirty="0">
                <a:latin typeface="Gill Sans MT" panose="020B0502020104020203" pitchFamily="34" charset="0"/>
              </a:rPr>
              <a:t>List 2 everyday work tasks that are </a:t>
            </a:r>
          </a:p>
          <a:p>
            <a:pPr marL="914400" lvl="1" indent="-457200">
              <a:buFont typeface="Wingdings" panose="05000000000000000000" pitchFamily="2" charset="2"/>
              <a:buChar char="ü"/>
            </a:pPr>
            <a:r>
              <a:rPr lang="en-IN" sz="3200" b="1" i="1" dirty="0">
                <a:latin typeface="Gill Sans MT" panose="020B0502020104020203" pitchFamily="34" charset="0"/>
              </a:rPr>
              <a:t>Repetitive</a:t>
            </a:r>
          </a:p>
          <a:p>
            <a:pPr marL="914400" lvl="1" indent="-457200">
              <a:buFont typeface="Wingdings" panose="05000000000000000000" pitchFamily="2" charset="2"/>
              <a:buChar char="ü"/>
            </a:pPr>
            <a:r>
              <a:rPr lang="en-IN" sz="3200" b="1" i="1" dirty="0">
                <a:latin typeface="Gill Sans MT" panose="020B0502020104020203" pitchFamily="34" charset="0"/>
              </a:rPr>
              <a:t>Time-consuming</a:t>
            </a:r>
          </a:p>
          <a:p>
            <a:pPr marL="914400" lvl="1" indent="-457200">
              <a:buFont typeface="Wingdings" panose="05000000000000000000" pitchFamily="2" charset="2"/>
              <a:buChar char="ü"/>
            </a:pPr>
            <a:r>
              <a:rPr lang="en-IN" sz="3200" b="1" i="1" dirty="0">
                <a:latin typeface="Gill Sans MT" panose="020B0502020104020203" pitchFamily="34" charset="0"/>
              </a:rPr>
              <a:t>Confusing, or </a:t>
            </a:r>
          </a:p>
          <a:p>
            <a:pPr marL="914400" lvl="1" indent="-457200">
              <a:buFont typeface="Wingdings" panose="05000000000000000000" pitchFamily="2" charset="2"/>
              <a:buChar char="ü"/>
            </a:pPr>
            <a:r>
              <a:rPr lang="en-IN" sz="3200" b="1" i="1" dirty="0">
                <a:latin typeface="Gill Sans MT" panose="020B0502020104020203" pitchFamily="34" charset="0"/>
              </a:rPr>
              <a:t>Error-Prone</a:t>
            </a:r>
          </a:p>
        </p:txBody>
      </p:sp>
      <p:sp>
        <p:nvSpPr>
          <p:cNvPr id="9" name="TextBox 8">
            <a:extLst>
              <a:ext uri="{FF2B5EF4-FFF2-40B4-BE49-F238E27FC236}">
                <a16:creationId xmlns:a16="http://schemas.microsoft.com/office/drawing/2014/main" id="{2B789827-3A88-DD9B-79B6-BBB684776D7B}"/>
              </a:ext>
            </a:extLst>
          </p:cNvPr>
          <p:cNvSpPr txBox="1"/>
          <p:nvPr/>
        </p:nvSpPr>
        <p:spPr>
          <a:xfrm>
            <a:off x="331747" y="6552366"/>
            <a:ext cx="9252123" cy="707886"/>
          </a:xfrm>
          <a:prstGeom prst="rect">
            <a:avLst/>
          </a:prstGeom>
          <a:noFill/>
        </p:spPr>
        <p:txBody>
          <a:bodyPr wrap="square">
            <a:spAutoFit/>
          </a:bodyPr>
          <a:lstStyle/>
          <a:p>
            <a:pPr algn="ctr"/>
            <a:r>
              <a:rPr lang="en-IN" sz="4000" b="1" dirty="0">
                <a:latin typeface="Gill Sans MT" panose="020B0502020104020203" pitchFamily="34" charset="0"/>
                <a:hlinkClick r:id="rId3"/>
              </a:rPr>
              <a:t>https://www.menti.com/alsmvuaanfwr</a:t>
            </a:r>
            <a:r>
              <a:rPr lang="en-IN" sz="4000" b="1" dirty="0">
                <a:latin typeface="Gill Sans MT" panose="020B0502020104020203" pitchFamily="34" charset="0"/>
              </a:rPr>
              <a:t> </a:t>
            </a:r>
          </a:p>
        </p:txBody>
      </p:sp>
      <p:pic>
        <p:nvPicPr>
          <p:cNvPr id="16" name="Picture 15">
            <a:extLst>
              <a:ext uri="{FF2B5EF4-FFF2-40B4-BE49-F238E27FC236}">
                <a16:creationId xmlns:a16="http://schemas.microsoft.com/office/drawing/2014/main" id="{1369CCFE-06D5-393E-2AF1-EE642A751323}"/>
              </a:ext>
            </a:extLst>
          </p:cNvPr>
          <p:cNvPicPr>
            <a:picLocks noChangeAspect="1"/>
          </p:cNvPicPr>
          <p:nvPr/>
        </p:nvPicPr>
        <p:blipFill>
          <a:blip r:embed="rId4"/>
          <a:stretch>
            <a:fillRect/>
          </a:stretch>
        </p:blipFill>
        <p:spPr>
          <a:xfrm>
            <a:off x="10734275" y="4114800"/>
            <a:ext cx="3145452" cy="3145452"/>
          </a:xfrm>
          <a:prstGeom prst="rect">
            <a:avLst/>
          </a:prstGeom>
        </p:spPr>
      </p:pic>
      <p:sp>
        <p:nvSpPr>
          <p:cNvPr id="5" name="TextBox 4">
            <a:extLst>
              <a:ext uri="{FF2B5EF4-FFF2-40B4-BE49-F238E27FC236}">
                <a16:creationId xmlns:a16="http://schemas.microsoft.com/office/drawing/2014/main" id="{C8BCA213-DF3C-5DA1-5737-AE0C3F884863}"/>
              </a:ext>
            </a:extLst>
          </p:cNvPr>
          <p:cNvSpPr txBox="1"/>
          <p:nvPr/>
        </p:nvSpPr>
        <p:spPr>
          <a:xfrm>
            <a:off x="223966" y="842062"/>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Connects AI directly to your work, not just theory</a:t>
            </a:r>
          </a:p>
        </p:txBody>
      </p:sp>
      <p:sp>
        <p:nvSpPr>
          <p:cNvPr id="7" name="TextBox 6">
            <a:extLst>
              <a:ext uri="{FF2B5EF4-FFF2-40B4-BE49-F238E27FC236}">
                <a16:creationId xmlns:a16="http://schemas.microsoft.com/office/drawing/2014/main" id="{2BC4075C-1708-19F0-F209-7150BB565B06}"/>
              </a:ext>
            </a:extLst>
          </p:cNvPr>
          <p:cNvSpPr txBox="1"/>
          <p:nvPr/>
        </p:nvSpPr>
        <p:spPr>
          <a:xfrm>
            <a:off x="10595919" y="2256821"/>
            <a:ext cx="3422163" cy="1384995"/>
          </a:xfrm>
          <a:prstGeom prst="rect">
            <a:avLst/>
          </a:prstGeom>
          <a:noFill/>
        </p:spPr>
        <p:txBody>
          <a:bodyPr wrap="square">
            <a:spAutoFit/>
          </a:bodyPr>
          <a:lstStyle/>
          <a:p>
            <a:r>
              <a:rPr lang="en-IN" sz="2800" dirty="0">
                <a:latin typeface="Gill Sans MT" panose="020B0502020104020203" pitchFamily="34" charset="0"/>
              </a:rPr>
              <a:t>Share your answers by clicking on this link or scan the QR code</a:t>
            </a:r>
          </a:p>
        </p:txBody>
      </p:sp>
    </p:spTree>
    <p:extLst>
      <p:ext uri="{BB962C8B-B14F-4D97-AF65-F5344CB8AC3E}">
        <p14:creationId xmlns:p14="http://schemas.microsoft.com/office/powerpoint/2010/main" val="108784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C4279-1ED7-2879-50B8-8A8706236A14}"/>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8F92816F-A6B6-337B-148E-15511DF69A52}"/>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3: Prompt Makeover Challenge</a:t>
            </a:r>
          </a:p>
        </p:txBody>
      </p:sp>
      <p:sp>
        <p:nvSpPr>
          <p:cNvPr id="3" name="TextBox 2">
            <a:extLst>
              <a:ext uri="{FF2B5EF4-FFF2-40B4-BE49-F238E27FC236}">
                <a16:creationId xmlns:a16="http://schemas.microsoft.com/office/drawing/2014/main" id="{30A3C85B-9874-7B87-A87E-E8F772259644}"/>
              </a:ext>
            </a:extLst>
          </p:cNvPr>
          <p:cNvSpPr txBox="1"/>
          <p:nvPr/>
        </p:nvSpPr>
        <p:spPr>
          <a:xfrm>
            <a:off x="2706516" y="2061706"/>
            <a:ext cx="9217368" cy="523220"/>
          </a:xfrm>
          <a:prstGeom prst="rect">
            <a:avLst/>
          </a:prstGeom>
          <a:noFill/>
        </p:spPr>
        <p:txBody>
          <a:bodyPr wrap="square">
            <a:spAutoFit/>
          </a:bodyPr>
          <a:lstStyle/>
          <a:p>
            <a:r>
              <a:rPr lang="en-IN" sz="2800" b="1" i="1" dirty="0">
                <a:latin typeface="Gill Sans MT" panose="020B0502020104020203" pitchFamily="34" charset="0"/>
              </a:rPr>
              <a:t>Convert the following Weak prompts into Strong prompts</a:t>
            </a:r>
            <a:endParaRPr lang="en-IN" sz="2800" dirty="0">
              <a:latin typeface="Gill Sans MT" panose="020B0502020104020203" pitchFamily="34" charset="0"/>
            </a:endParaRPr>
          </a:p>
        </p:txBody>
      </p:sp>
      <p:sp>
        <p:nvSpPr>
          <p:cNvPr id="7" name="TextBox 6">
            <a:extLst>
              <a:ext uri="{FF2B5EF4-FFF2-40B4-BE49-F238E27FC236}">
                <a16:creationId xmlns:a16="http://schemas.microsoft.com/office/drawing/2014/main" id="{15F8BF6E-8A9C-7439-BC01-EC48E05BD8A7}"/>
              </a:ext>
            </a:extLst>
          </p:cNvPr>
          <p:cNvSpPr txBox="1"/>
          <p:nvPr/>
        </p:nvSpPr>
        <p:spPr>
          <a:xfrm>
            <a:off x="472646" y="2946545"/>
            <a:ext cx="5915797" cy="3970318"/>
          </a:xfrm>
          <a:prstGeom prst="rect">
            <a:avLst/>
          </a:prstGeom>
          <a:noFill/>
          <a:ln>
            <a:solidFill>
              <a:schemeClr val="tx1"/>
            </a:solidFill>
          </a:ln>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“Write an email”</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“Make a report”</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“Summarize this document”</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“Create a presentation”</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“Explain this topic”</a:t>
            </a:r>
          </a:p>
        </p:txBody>
      </p:sp>
      <p:sp>
        <p:nvSpPr>
          <p:cNvPr id="10" name="TextBox 9">
            <a:extLst>
              <a:ext uri="{FF2B5EF4-FFF2-40B4-BE49-F238E27FC236}">
                <a16:creationId xmlns:a16="http://schemas.microsoft.com/office/drawing/2014/main" id="{C45C2303-7867-21A8-2F7E-711F5A72A14D}"/>
              </a:ext>
            </a:extLst>
          </p:cNvPr>
          <p:cNvSpPr txBox="1"/>
          <p:nvPr/>
        </p:nvSpPr>
        <p:spPr>
          <a:xfrm>
            <a:off x="8241957" y="2946544"/>
            <a:ext cx="5915797" cy="3970318"/>
          </a:xfrm>
          <a:prstGeom prst="rect">
            <a:avLst/>
          </a:prstGeom>
          <a:noFill/>
          <a:ln>
            <a:solidFill>
              <a:schemeClr val="tx1"/>
            </a:solidFill>
          </a:ln>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“Analyse this data”</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“Give ideas for improvement”</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“Prepare meeting notes”</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“Write a customer response”</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“Make this better”</a:t>
            </a:r>
          </a:p>
        </p:txBody>
      </p:sp>
      <p:sp>
        <p:nvSpPr>
          <p:cNvPr id="11" name="TextBox 10">
            <a:extLst>
              <a:ext uri="{FF2B5EF4-FFF2-40B4-BE49-F238E27FC236}">
                <a16:creationId xmlns:a16="http://schemas.microsoft.com/office/drawing/2014/main" id="{230E7367-1A61-8202-9995-56312CF7E517}"/>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Implement better Prompting techniques</a:t>
            </a:r>
          </a:p>
        </p:txBody>
      </p:sp>
    </p:spTree>
    <p:extLst>
      <p:ext uri="{BB962C8B-B14F-4D97-AF65-F5344CB8AC3E}">
        <p14:creationId xmlns:p14="http://schemas.microsoft.com/office/powerpoint/2010/main" val="185166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E17BD-A0C1-E96A-6B09-433E79158F41}"/>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A6D80A22-02AD-4C49-1C47-1AAEC8DFBC2C}"/>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4: Simulate an AI Work Assistant</a:t>
            </a:r>
          </a:p>
        </p:txBody>
      </p:sp>
      <p:sp>
        <p:nvSpPr>
          <p:cNvPr id="6" name="TextBox 5">
            <a:extLst>
              <a:ext uri="{FF2B5EF4-FFF2-40B4-BE49-F238E27FC236}">
                <a16:creationId xmlns:a16="http://schemas.microsoft.com/office/drawing/2014/main" id="{C462A19F-6D3F-D871-D068-CE6DBE868DCB}"/>
              </a:ext>
            </a:extLst>
          </p:cNvPr>
          <p:cNvSpPr txBox="1"/>
          <p:nvPr/>
        </p:nvSpPr>
        <p:spPr>
          <a:xfrm>
            <a:off x="298107" y="2370210"/>
            <a:ext cx="14122228" cy="4832092"/>
          </a:xfrm>
          <a:prstGeom prst="rect">
            <a:avLst/>
          </a:prstGeom>
          <a:noFill/>
          <a:ln>
            <a:solidFill>
              <a:schemeClr val="tx1"/>
            </a:solidFill>
          </a:ln>
        </p:spPr>
        <p:txBody>
          <a:bodyPr wrap="square">
            <a:spAutoFit/>
          </a:bodyPr>
          <a:lstStyle/>
          <a:p>
            <a:pPr marL="514350" indent="-514350">
              <a:buFont typeface="+mj-lt"/>
              <a:buAutoNum type="arabicPeriod"/>
            </a:pPr>
            <a:r>
              <a:rPr lang="en-IN" sz="2800" b="1" i="1" dirty="0">
                <a:latin typeface="Gill Sans MT" panose="020B0502020104020203" pitchFamily="34" charset="0"/>
              </a:rPr>
              <a:t>Write an email: </a:t>
            </a:r>
            <a:r>
              <a:rPr lang="en-IN" sz="2800" dirty="0">
                <a:latin typeface="Gill Sans MT" panose="020B0502020104020203" pitchFamily="34" charset="0"/>
              </a:rPr>
              <a:t>Inform employees that the weekly project status meeting has been rescheduled from Tuesday 10 AM to Wednesday 3 PM. Keep the tone professional and clear.</a:t>
            </a:r>
          </a:p>
          <a:p>
            <a:pPr marL="514350" indent="-514350">
              <a:buFont typeface="+mj-lt"/>
              <a:buAutoNum type="arabicPeriod"/>
            </a:pPr>
            <a:endParaRPr lang="en-IN" sz="2800" dirty="0">
              <a:latin typeface="Gill Sans MT" panose="020B0502020104020203" pitchFamily="34" charset="0"/>
            </a:endParaRPr>
          </a:p>
          <a:p>
            <a:pPr marL="514350" indent="-514350">
              <a:buFont typeface="+mj-lt"/>
              <a:buAutoNum type="arabicPeriod"/>
            </a:pPr>
            <a:r>
              <a:rPr lang="en-IN" sz="2800" b="1" i="1" dirty="0">
                <a:latin typeface="Gill Sans MT" panose="020B0502020104020203" pitchFamily="34" charset="0"/>
              </a:rPr>
              <a:t>Summarize a meeting note: </a:t>
            </a:r>
            <a:r>
              <a:rPr lang="en-IN" sz="2800" dirty="0">
                <a:latin typeface="Gill Sans MT" panose="020B0502020104020203" pitchFamily="34" charset="0"/>
              </a:rPr>
              <a:t>Summarize a long meeting discussion about delayed project timelines, pending approvals, and next steps into 5 bullet points.</a:t>
            </a:r>
          </a:p>
          <a:p>
            <a:pPr marL="514350" indent="-514350">
              <a:buFont typeface="+mj-lt"/>
              <a:buAutoNum type="arabicPeriod"/>
            </a:pPr>
            <a:endParaRPr lang="en-IN" sz="2800" dirty="0">
              <a:latin typeface="Gill Sans MT" panose="020B0502020104020203" pitchFamily="34" charset="0"/>
            </a:endParaRPr>
          </a:p>
          <a:p>
            <a:pPr marL="514350" indent="-514350">
              <a:buFont typeface="+mj-lt"/>
              <a:buAutoNum type="arabicPeriod"/>
            </a:pPr>
            <a:r>
              <a:rPr lang="en-IN" sz="2800" b="1" i="1" dirty="0">
                <a:latin typeface="Gill Sans MT" panose="020B0502020104020203" pitchFamily="34" charset="0"/>
              </a:rPr>
              <a:t>Create a checklist: </a:t>
            </a:r>
            <a:r>
              <a:rPr lang="en-IN" sz="2800" dirty="0">
                <a:latin typeface="Gill Sans MT" panose="020B0502020104020203" pitchFamily="34" charset="0"/>
              </a:rPr>
              <a:t>Prepare a checklist for onboarding a new team member joining a software development project.</a:t>
            </a:r>
          </a:p>
          <a:p>
            <a:pPr marL="514350" indent="-514350">
              <a:buFont typeface="+mj-lt"/>
              <a:buAutoNum type="arabicPeriod"/>
            </a:pPr>
            <a:endParaRPr lang="en-IN" sz="2800" dirty="0">
              <a:latin typeface="Gill Sans MT" panose="020B0502020104020203" pitchFamily="34" charset="0"/>
            </a:endParaRPr>
          </a:p>
          <a:p>
            <a:pPr marL="514350" indent="-514350">
              <a:buFont typeface="+mj-lt"/>
              <a:buAutoNum type="arabicPeriod"/>
            </a:pPr>
            <a:r>
              <a:rPr lang="en-IN" sz="2800" b="1" i="1" dirty="0">
                <a:latin typeface="Gill Sans MT" panose="020B0502020104020203" pitchFamily="34" charset="0"/>
              </a:rPr>
              <a:t>Explain a technical issue: </a:t>
            </a:r>
            <a:r>
              <a:rPr lang="en-IN" sz="2800" dirty="0">
                <a:latin typeface="Gill Sans MT" panose="020B0502020104020203" pitchFamily="34" charset="0"/>
              </a:rPr>
              <a:t>Explain “server downtime due to database overload” to a non-technical business manager in simple language.</a:t>
            </a:r>
          </a:p>
        </p:txBody>
      </p:sp>
      <p:sp>
        <p:nvSpPr>
          <p:cNvPr id="7" name="TextBox 6">
            <a:extLst>
              <a:ext uri="{FF2B5EF4-FFF2-40B4-BE49-F238E27FC236}">
                <a16:creationId xmlns:a16="http://schemas.microsoft.com/office/drawing/2014/main" id="{76ACEA53-F074-6547-D14E-879168C75F1E}"/>
              </a:ext>
            </a:extLst>
          </p:cNvPr>
          <p:cNvSpPr txBox="1"/>
          <p:nvPr/>
        </p:nvSpPr>
        <p:spPr>
          <a:xfrm>
            <a:off x="963827" y="1756960"/>
            <a:ext cx="11911914" cy="523220"/>
          </a:xfrm>
          <a:prstGeom prst="rect">
            <a:avLst/>
          </a:prstGeom>
          <a:noFill/>
        </p:spPr>
        <p:txBody>
          <a:bodyPr wrap="square">
            <a:spAutoFit/>
          </a:bodyPr>
          <a:lstStyle/>
          <a:p>
            <a:pPr algn="ctr"/>
            <a:r>
              <a:rPr lang="en-IN" sz="2800" i="1" dirty="0">
                <a:latin typeface="Gill Sans MT" panose="020B0502020104020203" pitchFamily="34" charset="0"/>
              </a:rPr>
              <a:t>Select </a:t>
            </a:r>
            <a:r>
              <a:rPr lang="en-IN" sz="2800" b="1" i="1" dirty="0">
                <a:latin typeface="Gill Sans MT" panose="020B0502020104020203" pitchFamily="34" charset="0"/>
              </a:rPr>
              <a:t>ANY ONE </a:t>
            </a:r>
            <a:r>
              <a:rPr lang="en-IN" sz="2800" i="1" dirty="0">
                <a:latin typeface="Gill Sans MT" panose="020B0502020104020203" pitchFamily="34" charset="0"/>
              </a:rPr>
              <a:t>Business scenario and convert it into a clear prompt.</a:t>
            </a:r>
          </a:p>
        </p:txBody>
      </p:sp>
      <p:sp>
        <p:nvSpPr>
          <p:cNvPr id="10" name="TextBox 9">
            <a:extLst>
              <a:ext uri="{FF2B5EF4-FFF2-40B4-BE49-F238E27FC236}">
                <a16:creationId xmlns:a16="http://schemas.microsoft.com/office/drawing/2014/main" id="{46CC7319-34B9-0EF0-1D44-43452A38E35B}"/>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Create Smart Agents as your Assistant</a:t>
            </a:r>
          </a:p>
        </p:txBody>
      </p:sp>
    </p:spTree>
    <p:extLst>
      <p:ext uri="{BB962C8B-B14F-4D97-AF65-F5344CB8AC3E}">
        <p14:creationId xmlns:p14="http://schemas.microsoft.com/office/powerpoint/2010/main" val="242612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9844B-282C-6686-B2E2-F32BA0F62986}"/>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159F7906-2E7C-8DC0-CB96-1F01BD44FDD2}"/>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5: Human vs AI Quality Review</a:t>
            </a:r>
          </a:p>
        </p:txBody>
      </p:sp>
      <p:sp>
        <p:nvSpPr>
          <p:cNvPr id="9" name="TextBox 8">
            <a:extLst>
              <a:ext uri="{FF2B5EF4-FFF2-40B4-BE49-F238E27FC236}">
                <a16:creationId xmlns:a16="http://schemas.microsoft.com/office/drawing/2014/main" id="{BF5AD58F-72B7-856D-D5D5-D1C2EC518BEE}"/>
              </a:ext>
            </a:extLst>
          </p:cNvPr>
          <p:cNvSpPr txBox="1"/>
          <p:nvPr/>
        </p:nvSpPr>
        <p:spPr>
          <a:xfrm>
            <a:off x="298106" y="2392747"/>
            <a:ext cx="11873299" cy="3970318"/>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Given are some sample AI-generated outputs for review. </a:t>
            </a:r>
          </a:p>
          <a:p>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Each output has </a:t>
            </a:r>
          </a:p>
          <a:p>
            <a:pPr marL="914400" lvl="1" indent="-457200">
              <a:buFont typeface="Wingdings" panose="05000000000000000000" pitchFamily="2" charset="2"/>
              <a:buChar char="ü"/>
            </a:pPr>
            <a:r>
              <a:rPr lang="en-IN" sz="2800" dirty="0">
                <a:latin typeface="Gill Sans MT" panose="020B0502020104020203" pitchFamily="34" charset="0"/>
              </a:rPr>
              <a:t>Something useful</a:t>
            </a:r>
          </a:p>
          <a:p>
            <a:pPr marL="914400" lvl="1" indent="-457200">
              <a:buFont typeface="Wingdings" panose="05000000000000000000" pitchFamily="2" charset="2"/>
              <a:buChar char="ü"/>
            </a:pPr>
            <a:r>
              <a:rPr lang="en-IN" sz="2800" dirty="0">
                <a:latin typeface="Gill Sans MT" panose="020B0502020104020203" pitchFamily="34" charset="0"/>
              </a:rPr>
              <a:t>Something questionable</a:t>
            </a:r>
          </a:p>
          <a:p>
            <a:pPr marL="914400" lvl="1" indent="-457200">
              <a:buFont typeface="Wingdings" panose="05000000000000000000" pitchFamily="2" charset="2"/>
              <a:buChar char="ü"/>
            </a:pPr>
            <a:r>
              <a:rPr lang="en-IN" sz="2800" dirty="0">
                <a:latin typeface="Gill Sans MT" panose="020B0502020104020203" pitchFamily="34" charset="0"/>
              </a:rPr>
              <a:t>Something missing</a:t>
            </a:r>
          </a:p>
          <a:p>
            <a:pPr marL="914400" lvl="1" indent="-457200">
              <a:buFont typeface="Wingdings" panose="05000000000000000000" pitchFamily="2" charset="2"/>
              <a:buChar char="ü"/>
            </a:pPr>
            <a:r>
              <a:rPr lang="en-IN" sz="2800" dirty="0">
                <a:latin typeface="Gill Sans MT" panose="020B0502020104020203" pitchFamily="34" charset="0"/>
              </a:rPr>
              <a:t>Something that needs human judgement.</a:t>
            </a:r>
          </a:p>
          <a:p>
            <a:pPr marL="914400" lvl="1" indent="-457200">
              <a:buFont typeface="Wingdings" panose="05000000000000000000" pitchFamily="2" charset="2"/>
              <a:buChar char="ü"/>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Your task is to Identify these trends from these responses.</a:t>
            </a:r>
          </a:p>
        </p:txBody>
      </p:sp>
      <p:sp>
        <p:nvSpPr>
          <p:cNvPr id="3" name="TextBox 2">
            <a:extLst>
              <a:ext uri="{FF2B5EF4-FFF2-40B4-BE49-F238E27FC236}">
                <a16:creationId xmlns:a16="http://schemas.microsoft.com/office/drawing/2014/main" id="{A0F5C1A9-20E6-EE26-61DD-0ED1FFA59DE6}"/>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Build Critical Thinking, prevent blind trust in AI</a:t>
            </a:r>
          </a:p>
        </p:txBody>
      </p:sp>
    </p:spTree>
    <p:extLst>
      <p:ext uri="{BB962C8B-B14F-4D97-AF65-F5344CB8AC3E}">
        <p14:creationId xmlns:p14="http://schemas.microsoft.com/office/powerpoint/2010/main" val="66794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C1C11-0C6C-6D66-DB08-DFE9031A184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67B531-DB1D-9049-46B5-AC6541881882}"/>
              </a:ext>
            </a:extLst>
          </p:cNvPr>
          <p:cNvSpPr txBox="1"/>
          <p:nvPr/>
        </p:nvSpPr>
        <p:spPr>
          <a:xfrm>
            <a:off x="410861" y="959901"/>
            <a:ext cx="5730446" cy="523220"/>
          </a:xfrm>
          <a:prstGeom prst="rect">
            <a:avLst/>
          </a:prstGeom>
          <a:noFill/>
        </p:spPr>
        <p:txBody>
          <a:bodyPr wrap="square">
            <a:spAutoFit/>
          </a:bodyPr>
          <a:lstStyle/>
          <a:p>
            <a:r>
              <a:rPr lang="en-IN" sz="2800" b="1" dirty="0">
                <a:latin typeface="Gill Sans MT" panose="020B0502020104020203" pitchFamily="34" charset="0"/>
              </a:rPr>
              <a:t>HR / Employee Communication</a:t>
            </a:r>
          </a:p>
        </p:txBody>
      </p:sp>
      <p:sp>
        <p:nvSpPr>
          <p:cNvPr id="7" name="TextBox 6">
            <a:extLst>
              <a:ext uri="{FF2B5EF4-FFF2-40B4-BE49-F238E27FC236}">
                <a16:creationId xmlns:a16="http://schemas.microsoft.com/office/drawing/2014/main" id="{4BB1375E-4B89-909E-21E4-C8CA87E86280}"/>
              </a:ext>
            </a:extLst>
          </p:cNvPr>
          <p:cNvSpPr txBox="1"/>
          <p:nvPr/>
        </p:nvSpPr>
        <p:spPr>
          <a:xfrm>
            <a:off x="410861" y="1586585"/>
            <a:ext cx="9511614" cy="5262979"/>
          </a:xfrm>
          <a:prstGeom prst="rect">
            <a:avLst/>
          </a:prstGeom>
          <a:noFill/>
          <a:ln>
            <a:solidFill>
              <a:schemeClr val="bg1">
                <a:lumMod val="85000"/>
              </a:schemeClr>
            </a:solidFill>
          </a:ln>
        </p:spPr>
        <p:txBody>
          <a:bodyPr wrap="square">
            <a:spAutoFit/>
          </a:bodyPr>
          <a:lstStyle/>
          <a:p>
            <a:r>
              <a:rPr lang="en-IN" sz="2800" i="1" dirty="0">
                <a:latin typeface="Gill Sans MT" panose="020B0502020104020203" pitchFamily="34" charset="0"/>
              </a:rPr>
              <a:t>Subject: Mandatory Weekend Training</a:t>
            </a:r>
          </a:p>
          <a:p>
            <a:endParaRPr lang="en-IN" sz="2800" i="1" dirty="0">
              <a:latin typeface="Gill Sans MT" panose="020B0502020104020203" pitchFamily="34" charset="0"/>
            </a:endParaRPr>
          </a:p>
          <a:p>
            <a:r>
              <a:rPr lang="en-IN" sz="2800" i="1" dirty="0">
                <a:latin typeface="Gill Sans MT" panose="020B0502020104020203" pitchFamily="34" charset="0"/>
              </a:rPr>
              <a:t>Dear Team,</a:t>
            </a:r>
          </a:p>
          <a:p>
            <a:endParaRPr lang="en-IN" sz="2800" i="1" dirty="0">
              <a:latin typeface="Gill Sans MT" panose="020B0502020104020203" pitchFamily="34" charset="0"/>
            </a:endParaRPr>
          </a:p>
          <a:p>
            <a:r>
              <a:rPr lang="en-IN" sz="2800" i="1" dirty="0">
                <a:latin typeface="Gill Sans MT" panose="020B0502020104020203" pitchFamily="34" charset="0"/>
              </a:rPr>
              <a:t>You are required to attend a mandatory training session this Saturday from 9:00 AM to 5:00 PM. Attendance is compulsory for all employees. Failure to attend may impact your performance review.</a:t>
            </a:r>
          </a:p>
          <a:p>
            <a:endParaRPr lang="en-IN" sz="2800" i="1" dirty="0">
              <a:latin typeface="Gill Sans MT" panose="020B0502020104020203" pitchFamily="34" charset="0"/>
            </a:endParaRPr>
          </a:p>
          <a:p>
            <a:r>
              <a:rPr lang="en-IN" sz="2800" i="1" dirty="0">
                <a:latin typeface="Gill Sans MT" panose="020B0502020104020203" pitchFamily="34" charset="0"/>
              </a:rPr>
              <a:t>Please confirm your availability immediately.</a:t>
            </a:r>
          </a:p>
          <a:p>
            <a:endParaRPr lang="en-IN" sz="2800" i="1" dirty="0">
              <a:latin typeface="Gill Sans MT" panose="020B0502020104020203" pitchFamily="34" charset="0"/>
            </a:endParaRPr>
          </a:p>
          <a:p>
            <a:r>
              <a:rPr lang="en-IN" sz="2800" i="1" dirty="0">
                <a:latin typeface="Gill Sans MT" panose="020B0502020104020203" pitchFamily="34" charset="0"/>
              </a:rPr>
              <a:t>Regards,</a:t>
            </a:r>
          </a:p>
          <a:p>
            <a:r>
              <a:rPr lang="en-IN" sz="2800" i="1" dirty="0">
                <a:latin typeface="Gill Sans MT" panose="020B0502020104020203" pitchFamily="34" charset="0"/>
              </a:rPr>
              <a:t>HR Team</a:t>
            </a:r>
          </a:p>
        </p:txBody>
      </p:sp>
      <p:sp>
        <p:nvSpPr>
          <p:cNvPr id="10" name="TextBox 9">
            <a:extLst>
              <a:ext uri="{FF2B5EF4-FFF2-40B4-BE49-F238E27FC236}">
                <a16:creationId xmlns:a16="http://schemas.microsoft.com/office/drawing/2014/main" id="{C2E6D968-8920-6B78-742F-237D5BD68054}"/>
              </a:ext>
            </a:extLst>
          </p:cNvPr>
          <p:cNvSpPr txBox="1"/>
          <p:nvPr/>
        </p:nvSpPr>
        <p:spPr>
          <a:xfrm>
            <a:off x="10503242" y="5279904"/>
            <a:ext cx="4015947" cy="1569660"/>
          </a:xfrm>
          <a:prstGeom prst="rect">
            <a:avLst/>
          </a:prstGeom>
          <a:noFill/>
        </p:spPr>
        <p:txBody>
          <a:bodyPr wrap="square">
            <a:spAutoFit/>
          </a:bodyPr>
          <a:lstStyle/>
          <a:p>
            <a:pPr marL="457200" indent="-457200">
              <a:buFont typeface="Arial" panose="020B0604020202020204" pitchFamily="34" charset="0"/>
              <a:buChar char="•"/>
            </a:pPr>
            <a:r>
              <a:rPr lang="en-IN" sz="2400" dirty="0">
                <a:latin typeface="Gill Sans MT" panose="020B0502020104020203" pitchFamily="34" charset="0"/>
              </a:rPr>
              <a:t>Useful ?</a:t>
            </a:r>
          </a:p>
          <a:p>
            <a:pPr marL="457200" indent="-457200">
              <a:buFont typeface="Arial" panose="020B0604020202020204" pitchFamily="34" charset="0"/>
              <a:buChar char="•"/>
            </a:pPr>
            <a:r>
              <a:rPr lang="en-IN" sz="2400" dirty="0">
                <a:latin typeface="Gill Sans MT" panose="020B0502020104020203" pitchFamily="34" charset="0"/>
              </a:rPr>
              <a:t>Questionable ?</a:t>
            </a:r>
          </a:p>
          <a:p>
            <a:pPr marL="457200" indent="-457200">
              <a:buFont typeface="Arial" panose="020B0604020202020204" pitchFamily="34" charset="0"/>
              <a:buChar char="•"/>
            </a:pPr>
            <a:r>
              <a:rPr lang="en-IN" sz="2400" dirty="0">
                <a:latin typeface="Gill Sans MT" panose="020B0502020104020203" pitchFamily="34" charset="0"/>
              </a:rPr>
              <a:t>Missing ?</a:t>
            </a:r>
          </a:p>
          <a:p>
            <a:pPr marL="457200" indent="-457200">
              <a:buFont typeface="Arial" panose="020B0604020202020204" pitchFamily="34" charset="0"/>
              <a:buChar char="•"/>
            </a:pPr>
            <a:r>
              <a:rPr lang="en-IN" sz="2400" dirty="0">
                <a:latin typeface="Gill Sans MT" panose="020B0502020104020203" pitchFamily="34" charset="0"/>
              </a:rPr>
              <a:t>Needs human judgement ?</a:t>
            </a:r>
            <a:endParaRPr lang="en-IN" sz="1600" dirty="0"/>
          </a:p>
        </p:txBody>
      </p:sp>
      <p:pic>
        <p:nvPicPr>
          <p:cNvPr id="12" name="Picture 11">
            <a:extLst>
              <a:ext uri="{FF2B5EF4-FFF2-40B4-BE49-F238E27FC236}">
                <a16:creationId xmlns:a16="http://schemas.microsoft.com/office/drawing/2014/main" id="{F48B8CCC-FC5C-DF3F-A18E-92045E71E411}"/>
              </a:ext>
            </a:extLst>
          </p:cNvPr>
          <p:cNvPicPr>
            <a:picLocks noChangeAspect="1"/>
          </p:cNvPicPr>
          <p:nvPr/>
        </p:nvPicPr>
        <p:blipFill>
          <a:blip r:embed="rId3"/>
          <a:stretch>
            <a:fillRect/>
          </a:stretch>
        </p:blipFill>
        <p:spPr>
          <a:xfrm>
            <a:off x="10736605" y="1586585"/>
            <a:ext cx="2978073" cy="1897020"/>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a:contourClr>
              <a:srgbClr val="969696"/>
            </a:contourClr>
          </a:sp3d>
        </p:spPr>
      </p:pic>
    </p:spTree>
    <p:extLst>
      <p:ext uri="{BB962C8B-B14F-4D97-AF65-F5344CB8AC3E}">
        <p14:creationId xmlns:p14="http://schemas.microsoft.com/office/powerpoint/2010/main" val="2960568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8FD2-E38E-9396-8605-399F7CF805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802678-C471-7629-9328-A05566C11F09}"/>
              </a:ext>
            </a:extLst>
          </p:cNvPr>
          <p:cNvSpPr txBox="1"/>
          <p:nvPr/>
        </p:nvSpPr>
        <p:spPr>
          <a:xfrm>
            <a:off x="410861" y="959901"/>
            <a:ext cx="5730446" cy="523220"/>
          </a:xfrm>
          <a:prstGeom prst="rect">
            <a:avLst/>
          </a:prstGeom>
          <a:noFill/>
        </p:spPr>
        <p:txBody>
          <a:bodyPr wrap="square">
            <a:spAutoFit/>
          </a:bodyPr>
          <a:lstStyle/>
          <a:p>
            <a:r>
              <a:rPr lang="en-IN" sz="2800" b="1" dirty="0">
                <a:latin typeface="Gill Sans MT" panose="020B0502020104020203" pitchFamily="34" charset="0"/>
              </a:rPr>
              <a:t>Finance / Budget Update</a:t>
            </a:r>
          </a:p>
        </p:txBody>
      </p:sp>
      <p:sp>
        <p:nvSpPr>
          <p:cNvPr id="7" name="TextBox 6">
            <a:extLst>
              <a:ext uri="{FF2B5EF4-FFF2-40B4-BE49-F238E27FC236}">
                <a16:creationId xmlns:a16="http://schemas.microsoft.com/office/drawing/2014/main" id="{222173C6-2A71-FD57-F89F-D03F3655B139}"/>
              </a:ext>
            </a:extLst>
          </p:cNvPr>
          <p:cNvSpPr txBox="1"/>
          <p:nvPr/>
        </p:nvSpPr>
        <p:spPr>
          <a:xfrm>
            <a:off x="410861" y="1586585"/>
            <a:ext cx="9511614" cy="4401205"/>
          </a:xfrm>
          <a:prstGeom prst="rect">
            <a:avLst/>
          </a:prstGeom>
          <a:noFill/>
          <a:ln>
            <a:solidFill>
              <a:schemeClr val="bg1">
                <a:lumMod val="85000"/>
              </a:schemeClr>
            </a:solidFill>
          </a:ln>
        </p:spPr>
        <p:txBody>
          <a:bodyPr wrap="square">
            <a:spAutoFit/>
          </a:bodyPr>
          <a:lstStyle/>
          <a:p>
            <a:r>
              <a:rPr lang="en-US" sz="2800" i="1" dirty="0">
                <a:latin typeface="Gill Sans MT" panose="020B0502020104020203" pitchFamily="34" charset="0"/>
              </a:rPr>
              <a:t>Management Update: Cost Savings Achieved</a:t>
            </a:r>
          </a:p>
          <a:p>
            <a:endParaRPr lang="en-US" sz="2800" i="1" dirty="0">
              <a:latin typeface="Gill Sans MT" panose="020B0502020104020203" pitchFamily="34" charset="0"/>
            </a:endParaRPr>
          </a:p>
          <a:p>
            <a:r>
              <a:rPr lang="en-US" sz="2800" i="1" dirty="0">
                <a:latin typeface="Gill Sans MT" panose="020B0502020104020203" pitchFamily="34" charset="0"/>
              </a:rPr>
              <a:t>The department has successfully reduced costs by 18% this quarter. This clearly shows that the new cost-control measures are working very well. </a:t>
            </a:r>
          </a:p>
          <a:p>
            <a:endParaRPr lang="en-US" sz="2800" i="1" dirty="0">
              <a:latin typeface="Gill Sans MT" panose="020B0502020104020203" pitchFamily="34" charset="0"/>
            </a:endParaRPr>
          </a:p>
          <a:p>
            <a:r>
              <a:rPr lang="en-US" sz="2800" i="1" dirty="0">
                <a:latin typeface="Gill Sans MT" panose="020B0502020104020203" pitchFamily="34" charset="0"/>
              </a:rPr>
              <a:t>We should continue reducing spending across all teams to improve profitability further. </a:t>
            </a:r>
          </a:p>
          <a:p>
            <a:endParaRPr lang="en-US" sz="2800" i="1" dirty="0">
              <a:latin typeface="Gill Sans MT" panose="020B0502020104020203" pitchFamily="34" charset="0"/>
            </a:endParaRPr>
          </a:p>
          <a:p>
            <a:r>
              <a:rPr lang="en-US" sz="2800" i="1" dirty="0">
                <a:latin typeface="Gill Sans MT" panose="020B0502020104020203" pitchFamily="34" charset="0"/>
              </a:rPr>
              <a:t>No major risks are expected.</a:t>
            </a:r>
            <a:endParaRPr lang="en-IN" sz="2800" i="1" dirty="0">
              <a:latin typeface="Gill Sans MT" panose="020B0502020104020203" pitchFamily="34" charset="0"/>
            </a:endParaRPr>
          </a:p>
        </p:txBody>
      </p:sp>
      <p:pic>
        <p:nvPicPr>
          <p:cNvPr id="3" name="Picture 2">
            <a:extLst>
              <a:ext uri="{FF2B5EF4-FFF2-40B4-BE49-F238E27FC236}">
                <a16:creationId xmlns:a16="http://schemas.microsoft.com/office/drawing/2014/main" id="{C3AC1E5F-1AF9-A4EB-EB27-1BA8C40B2113}"/>
              </a:ext>
            </a:extLst>
          </p:cNvPr>
          <p:cNvPicPr>
            <a:picLocks noChangeAspect="1"/>
          </p:cNvPicPr>
          <p:nvPr/>
        </p:nvPicPr>
        <p:blipFill>
          <a:blip r:embed="rId3"/>
          <a:stretch>
            <a:fillRect/>
          </a:stretch>
        </p:blipFill>
        <p:spPr>
          <a:xfrm>
            <a:off x="10736605" y="1586585"/>
            <a:ext cx="2978073" cy="1897020"/>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a:contourClr>
              <a:srgbClr val="969696"/>
            </a:contourClr>
          </a:sp3d>
        </p:spPr>
      </p:pic>
      <p:sp>
        <p:nvSpPr>
          <p:cNvPr id="6" name="TextBox 5">
            <a:extLst>
              <a:ext uri="{FF2B5EF4-FFF2-40B4-BE49-F238E27FC236}">
                <a16:creationId xmlns:a16="http://schemas.microsoft.com/office/drawing/2014/main" id="{F68C39A6-1886-5793-AF3B-675A2201CC94}"/>
              </a:ext>
            </a:extLst>
          </p:cNvPr>
          <p:cNvSpPr txBox="1"/>
          <p:nvPr/>
        </p:nvSpPr>
        <p:spPr>
          <a:xfrm>
            <a:off x="10503242" y="5279904"/>
            <a:ext cx="4015947" cy="1569660"/>
          </a:xfrm>
          <a:prstGeom prst="rect">
            <a:avLst/>
          </a:prstGeom>
          <a:noFill/>
        </p:spPr>
        <p:txBody>
          <a:bodyPr wrap="square">
            <a:spAutoFit/>
          </a:bodyPr>
          <a:lstStyle/>
          <a:p>
            <a:pPr marL="457200" indent="-457200">
              <a:buFont typeface="Arial" panose="020B0604020202020204" pitchFamily="34" charset="0"/>
              <a:buChar char="•"/>
            </a:pPr>
            <a:r>
              <a:rPr lang="en-IN" sz="2400" dirty="0">
                <a:latin typeface="Gill Sans MT" panose="020B0502020104020203" pitchFamily="34" charset="0"/>
              </a:rPr>
              <a:t>Useful ?</a:t>
            </a:r>
          </a:p>
          <a:p>
            <a:pPr marL="457200" indent="-457200">
              <a:buFont typeface="Arial" panose="020B0604020202020204" pitchFamily="34" charset="0"/>
              <a:buChar char="•"/>
            </a:pPr>
            <a:r>
              <a:rPr lang="en-IN" sz="2400" dirty="0">
                <a:latin typeface="Gill Sans MT" panose="020B0502020104020203" pitchFamily="34" charset="0"/>
              </a:rPr>
              <a:t>Questionable ?</a:t>
            </a:r>
          </a:p>
          <a:p>
            <a:pPr marL="457200" indent="-457200">
              <a:buFont typeface="Arial" panose="020B0604020202020204" pitchFamily="34" charset="0"/>
              <a:buChar char="•"/>
            </a:pPr>
            <a:r>
              <a:rPr lang="en-IN" sz="2400" dirty="0">
                <a:latin typeface="Gill Sans MT" panose="020B0502020104020203" pitchFamily="34" charset="0"/>
              </a:rPr>
              <a:t>Missing ?</a:t>
            </a:r>
          </a:p>
          <a:p>
            <a:pPr marL="457200" indent="-457200">
              <a:buFont typeface="Arial" panose="020B0604020202020204" pitchFamily="34" charset="0"/>
              <a:buChar char="•"/>
            </a:pPr>
            <a:r>
              <a:rPr lang="en-IN" sz="2400" dirty="0">
                <a:latin typeface="Gill Sans MT" panose="020B0502020104020203" pitchFamily="34" charset="0"/>
              </a:rPr>
              <a:t>Needs human judgement ?</a:t>
            </a:r>
            <a:endParaRPr lang="en-IN" sz="1600" dirty="0"/>
          </a:p>
        </p:txBody>
      </p:sp>
    </p:spTree>
    <p:extLst>
      <p:ext uri="{BB962C8B-B14F-4D97-AF65-F5344CB8AC3E}">
        <p14:creationId xmlns:p14="http://schemas.microsoft.com/office/powerpoint/2010/main" val="3256799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AB31C-01EB-BF9D-AA11-EFB84EC51A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B4C0F46-9EBC-4E88-557A-593190C534D7}"/>
              </a:ext>
            </a:extLst>
          </p:cNvPr>
          <p:cNvSpPr txBox="1"/>
          <p:nvPr/>
        </p:nvSpPr>
        <p:spPr>
          <a:xfrm>
            <a:off x="410860" y="959901"/>
            <a:ext cx="8201799" cy="523220"/>
          </a:xfrm>
          <a:prstGeom prst="rect">
            <a:avLst/>
          </a:prstGeom>
          <a:noFill/>
        </p:spPr>
        <p:txBody>
          <a:bodyPr wrap="square">
            <a:spAutoFit/>
          </a:bodyPr>
          <a:lstStyle/>
          <a:p>
            <a:r>
              <a:rPr lang="en-IN" sz="2800" b="1" dirty="0">
                <a:latin typeface="Gill Sans MT" panose="020B0502020104020203" pitchFamily="34" charset="0"/>
              </a:rPr>
              <a:t>Customer Support / Complaint Response</a:t>
            </a:r>
          </a:p>
        </p:txBody>
      </p:sp>
      <p:sp>
        <p:nvSpPr>
          <p:cNvPr id="7" name="TextBox 6">
            <a:extLst>
              <a:ext uri="{FF2B5EF4-FFF2-40B4-BE49-F238E27FC236}">
                <a16:creationId xmlns:a16="http://schemas.microsoft.com/office/drawing/2014/main" id="{FDDE1852-10E4-C849-8AB2-4C6EA6FAA6A7}"/>
              </a:ext>
            </a:extLst>
          </p:cNvPr>
          <p:cNvSpPr txBox="1"/>
          <p:nvPr/>
        </p:nvSpPr>
        <p:spPr>
          <a:xfrm>
            <a:off x="410861" y="1586585"/>
            <a:ext cx="9511614" cy="4401205"/>
          </a:xfrm>
          <a:prstGeom prst="rect">
            <a:avLst/>
          </a:prstGeom>
          <a:noFill/>
          <a:ln>
            <a:solidFill>
              <a:schemeClr val="bg1">
                <a:lumMod val="85000"/>
              </a:schemeClr>
            </a:solidFill>
          </a:ln>
        </p:spPr>
        <p:txBody>
          <a:bodyPr wrap="square">
            <a:spAutoFit/>
          </a:bodyPr>
          <a:lstStyle/>
          <a:p>
            <a:r>
              <a:rPr lang="en-US" sz="2800" i="1" dirty="0">
                <a:latin typeface="Gill Sans MT" panose="020B0502020104020203" pitchFamily="34" charset="0"/>
              </a:rPr>
              <a:t>Response to Customer</a:t>
            </a:r>
          </a:p>
          <a:p>
            <a:endParaRPr lang="en-US" sz="2800" i="1" dirty="0">
              <a:latin typeface="Gill Sans MT" panose="020B0502020104020203" pitchFamily="34" charset="0"/>
            </a:endParaRPr>
          </a:p>
          <a:p>
            <a:r>
              <a:rPr lang="en-US" sz="2800" i="1" dirty="0">
                <a:latin typeface="Gill Sans MT" panose="020B0502020104020203" pitchFamily="34" charset="0"/>
              </a:rPr>
              <a:t>Dear Customer,</a:t>
            </a:r>
          </a:p>
          <a:p>
            <a:r>
              <a:rPr lang="en-US" sz="2800" i="1" dirty="0">
                <a:latin typeface="Gill Sans MT" panose="020B0502020104020203" pitchFamily="34" charset="0"/>
              </a:rPr>
              <a:t>We are sorry for the inconvenience. Your issue has been escalated to the concerned team and will be resolved soon. </a:t>
            </a:r>
          </a:p>
          <a:p>
            <a:endParaRPr lang="en-US" sz="2800" i="1" dirty="0">
              <a:latin typeface="Gill Sans MT" panose="020B0502020104020203" pitchFamily="34" charset="0"/>
            </a:endParaRPr>
          </a:p>
          <a:p>
            <a:r>
              <a:rPr lang="en-US" sz="2800" i="1" dirty="0">
                <a:latin typeface="Gill Sans MT" panose="020B0502020104020203" pitchFamily="34" charset="0"/>
              </a:rPr>
              <a:t>We appreciate your patience and understanding.</a:t>
            </a:r>
          </a:p>
          <a:p>
            <a:endParaRPr lang="en-US" sz="2800" i="1" dirty="0">
              <a:latin typeface="Gill Sans MT" panose="020B0502020104020203" pitchFamily="34" charset="0"/>
            </a:endParaRPr>
          </a:p>
          <a:p>
            <a:r>
              <a:rPr lang="en-US" sz="2800" i="1" dirty="0">
                <a:latin typeface="Gill Sans MT" panose="020B0502020104020203" pitchFamily="34" charset="0"/>
              </a:rPr>
              <a:t>Regards,</a:t>
            </a:r>
          </a:p>
          <a:p>
            <a:r>
              <a:rPr lang="en-US" sz="2800" i="1" dirty="0">
                <a:latin typeface="Gill Sans MT" panose="020B0502020104020203" pitchFamily="34" charset="0"/>
              </a:rPr>
              <a:t>Support Team</a:t>
            </a:r>
            <a:endParaRPr lang="en-IN" sz="2800" i="1" dirty="0">
              <a:latin typeface="Gill Sans MT" panose="020B0502020104020203" pitchFamily="34" charset="0"/>
            </a:endParaRPr>
          </a:p>
        </p:txBody>
      </p:sp>
      <p:sp>
        <p:nvSpPr>
          <p:cNvPr id="3" name="TextBox 2">
            <a:extLst>
              <a:ext uri="{FF2B5EF4-FFF2-40B4-BE49-F238E27FC236}">
                <a16:creationId xmlns:a16="http://schemas.microsoft.com/office/drawing/2014/main" id="{1AA65435-7E2F-DDCA-85E7-12FC6C610098}"/>
              </a:ext>
            </a:extLst>
          </p:cNvPr>
          <p:cNvSpPr txBox="1"/>
          <p:nvPr/>
        </p:nvSpPr>
        <p:spPr>
          <a:xfrm>
            <a:off x="10503242" y="5279904"/>
            <a:ext cx="4015947" cy="1569660"/>
          </a:xfrm>
          <a:prstGeom prst="rect">
            <a:avLst/>
          </a:prstGeom>
          <a:noFill/>
        </p:spPr>
        <p:txBody>
          <a:bodyPr wrap="square">
            <a:spAutoFit/>
          </a:bodyPr>
          <a:lstStyle/>
          <a:p>
            <a:pPr marL="457200" indent="-457200">
              <a:buFont typeface="Arial" panose="020B0604020202020204" pitchFamily="34" charset="0"/>
              <a:buChar char="•"/>
            </a:pPr>
            <a:r>
              <a:rPr lang="en-IN" sz="2400" dirty="0">
                <a:latin typeface="Gill Sans MT" panose="020B0502020104020203" pitchFamily="34" charset="0"/>
              </a:rPr>
              <a:t>Useful ?</a:t>
            </a:r>
          </a:p>
          <a:p>
            <a:pPr marL="457200" indent="-457200">
              <a:buFont typeface="Arial" panose="020B0604020202020204" pitchFamily="34" charset="0"/>
              <a:buChar char="•"/>
            </a:pPr>
            <a:r>
              <a:rPr lang="en-IN" sz="2400" dirty="0">
                <a:latin typeface="Gill Sans MT" panose="020B0502020104020203" pitchFamily="34" charset="0"/>
              </a:rPr>
              <a:t>Questionable ?</a:t>
            </a:r>
          </a:p>
          <a:p>
            <a:pPr marL="457200" indent="-457200">
              <a:buFont typeface="Arial" panose="020B0604020202020204" pitchFamily="34" charset="0"/>
              <a:buChar char="•"/>
            </a:pPr>
            <a:r>
              <a:rPr lang="en-IN" sz="2400" dirty="0">
                <a:latin typeface="Gill Sans MT" panose="020B0502020104020203" pitchFamily="34" charset="0"/>
              </a:rPr>
              <a:t>Missing ?</a:t>
            </a:r>
          </a:p>
          <a:p>
            <a:pPr marL="457200" indent="-457200">
              <a:buFont typeface="Arial" panose="020B0604020202020204" pitchFamily="34" charset="0"/>
              <a:buChar char="•"/>
            </a:pPr>
            <a:r>
              <a:rPr lang="en-IN" sz="2400" dirty="0">
                <a:latin typeface="Gill Sans MT" panose="020B0502020104020203" pitchFamily="34" charset="0"/>
              </a:rPr>
              <a:t>Needs human judgement ?</a:t>
            </a:r>
            <a:endParaRPr lang="en-IN" sz="1600" dirty="0"/>
          </a:p>
        </p:txBody>
      </p:sp>
      <p:pic>
        <p:nvPicPr>
          <p:cNvPr id="6" name="Picture 5">
            <a:extLst>
              <a:ext uri="{FF2B5EF4-FFF2-40B4-BE49-F238E27FC236}">
                <a16:creationId xmlns:a16="http://schemas.microsoft.com/office/drawing/2014/main" id="{CFD55556-5534-1EB0-0D89-A575874AFAC9}"/>
              </a:ext>
            </a:extLst>
          </p:cNvPr>
          <p:cNvPicPr>
            <a:picLocks noChangeAspect="1"/>
          </p:cNvPicPr>
          <p:nvPr/>
        </p:nvPicPr>
        <p:blipFill>
          <a:blip r:embed="rId3"/>
          <a:stretch>
            <a:fillRect/>
          </a:stretch>
        </p:blipFill>
        <p:spPr>
          <a:xfrm>
            <a:off x="10736605" y="1592892"/>
            <a:ext cx="2978073" cy="1890713"/>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a:contourClr>
              <a:srgbClr val="969696"/>
            </a:contourClr>
          </a:sp3d>
        </p:spPr>
      </p:pic>
    </p:spTree>
    <p:extLst>
      <p:ext uri="{BB962C8B-B14F-4D97-AF65-F5344CB8AC3E}">
        <p14:creationId xmlns:p14="http://schemas.microsoft.com/office/powerpoint/2010/main" val="1825089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6B5B4-0507-B36B-2C4A-4D735C795508}"/>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8A4A329F-46C6-5AAB-8384-1995CF69BBDF}"/>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6:  Tech / Non-Tech Collaboration Task</a:t>
            </a:r>
          </a:p>
        </p:txBody>
      </p:sp>
      <p:sp>
        <p:nvSpPr>
          <p:cNvPr id="9" name="TextBox 8">
            <a:extLst>
              <a:ext uri="{FF2B5EF4-FFF2-40B4-BE49-F238E27FC236}">
                <a16:creationId xmlns:a16="http://schemas.microsoft.com/office/drawing/2014/main" id="{689BCE8D-CA61-DA57-0D06-429024118DF0}"/>
              </a:ext>
            </a:extLst>
          </p:cNvPr>
          <p:cNvSpPr txBox="1"/>
          <p:nvPr/>
        </p:nvSpPr>
        <p:spPr>
          <a:xfrm>
            <a:off x="298106" y="2442172"/>
            <a:ext cx="14023375" cy="3970318"/>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A mixed team (Technical + Non-Technical) tries to solve a Business problem</a:t>
            </a:r>
          </a:p>
          <a:p>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Tasks to do</a:t>
            </a:r>
          </a:p>
          <a:p>
            <a:pPr marL="914400" lvl="1" indent="-457200">
              <a:buFont typeface="Wingdings" panose="05000000000000000000" pitchFamily="2" charset="2"/>
              <a:buChar char="ü"/>
            </a:pPr>
            <a:r>
              <a:rPr lang="en-IN" sz="2800" dirty="0">
                <a:latin typeface="Gill Sans MT" panose="020B0502020104020203" pitchFamily="34" charset="0"/>
              </a:rPr>
              <a:t>Define the Use Case</a:t>
            </a:r>
          </a:p>
          <a:p>
            <a:pPr marL="914400" lvl="1" indent="-457200">
              <a:buFont typeface="Wingdings" panose="05000000000000000000" pitchFamily="2" charset="2"/>
              <a:buChar char="ü"/>
            </a:pPr>
            <a:r>
              <a:rPr lang="en-IN" sz="2800" dirty="0">
                <a:latin typeface="Gill Sans MT" panose="020B0502020104020203" pitchFamily="34" charset="0"/>
              </a:rPr>
              <a:t>Data needed</a:t>
            </a:r>
          </a:p>
          <a:p>
            <a:pPr marL="914400" lvl="1" indent="-457200">
              <a:buFont typeface="Wingdings" panose="05000000000000000000" pitchFamily="2" charset="2"/>
              <a:buChar char="ü"/>
            </a:pPr>
            <a:r>
              <a:rPr lang="en-IN" sz="2800" dirty="0">
                <a:latin typeface="Gill Sans MT" panose="020B0502020104020203" pitchFamily="34" charset="0"/>
              </a:rPr>
              <a:t>Risks &amp; Challenges</a:t>
            </a:r>
          </a:p>
          <a:p>
            <a:pPr marL="914400" lvl="1" indent="-457200">
              <a:buFont typeface="Wingdings" panose="05000000000000000000" pitchFamily="2" charset="2"/>
              <a:buChar char="ü"/>
            </a:pPr>
            <a:r>
              <a:rPr lang="en-IN" sz="2800" dirty="0">
                <a:latin typeface="Gill Sans MT" panose="020B0502020104020203" pitchFamily="34" charset="0"/>
              </a:rPr>
              <a:t>Final workflow</a:t>
            </a:r>
          </a:p>
          <a:p>
            <a:pPr lvl="1"/>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Select </a:t>
            </a:r>
            <a:r>
              <a:rPr lang="en-IN" sz="2800" b="1" dirty="0">
                <a:latin typeface="Gill Sans MT" panose="020B0502020104020203" pitchFamily="34" charset="0"/>
              </a:rPr>
              <a:t>ANY ONE</a:t>
            </a:r>
            <a:r>
              <a:rPr lang="en-IN" sz="2800" dirty="0">
                <a:latin typeface="Gill Sans MT" panose="020B0502020104020203" pitchFamily="34" charset="0"/>
              </a:rPr>
              <a:t> Problem statement for this task</a:t>
            </a:r>
          </a:p>
        </p:txBody>
      </p:sp>
      <p:sp>
        <p:nvSpPr>
          <p:cNvPr id="3" name="TextBox 2">
            <a:extLst>
              <a:ext uri="{FF2B5EF4-FFF2-40B4-BE49-F238E27FC236}">
                <a16:creationId xmlns:a16="http://schemas.microsoft.com/office/drawing/2014/main" id="{856C6ADD-4D4C-8980-7FD8-DE02E99BB51C}"/>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Encourage Thought Collaboration among Teams</a:t>
            </a:r>
          </a:p>
        </p:txBody>
      </p:sp>
    </p:spTree>
    <p:extLst>
      <p:ext uri="{BB962C8B-B14F-4D97-AF65-F5344CB8AC3E}">
        <p14:creationId xmlns:p14="http://schemas.microsoft.com/office/powerpoint/2010/main" val="218643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C8BD1-F317-55B9-E3AE-A312D9B504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021416-5C78-6494-E1AC-86595731767A}"/>
              </a:ext>
            </a:extLst>
          </p:cNvPr>
          <p:cNvSpPr txBox="1"/>
          <p:nvPr/>
        </p:nvSpPr>
        <p:spPr>
          <a:xfrm>
            <a:off x="284207" y="1888469"/>
            <a:ext cx="6808573" cy="2677656"/>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1) </a:t>
            </a:r>
            <a:r>
              <a:rPr lang="en-IN" sz="2800" dirty="0">
                <a:latin typeface="Gill Sans MT" panose="020B0502020104020203" pitchFamily="34" charset="0"/>
              </a:rPr>
              <a:t>The finance team manually consolidates monthly budget data from different departments and prepares variance reports. </a:t>
            </a:r>
          </a:p>
          <a:p>
            <a:r>
              <a:rPr lang="en-IN" sz="2800" dirty="0">
                <a:latin typeface="Gill Sans MT" panose="020B0502020104020203" pitchFamily="34" charset="0"/>
              </a:rPr>
              <a:t>They want AI support to identify major changes, create summaries, and highlight unusual transaction patterns.</a:t>
            </a:r>
          </a:p>
        </p:txBody>
      </p:sp>
      <p:sp>
        <p:nvSpPr>
          <p:cNvPr id="6" name="TextBox 5">
            <a:extLst>
              <a:ext uri="{FF2B5EF4-FFF2-40B4-BE49-F238E27FC236}">
                <a16:creationId xmlns:a16="http://schemas.microsoft.com/office/drawing/2014/main" id="{19178499-67C4-4033-DF84-B287D88748D9}"/>
              </a:ext>
            </a:extLst>
          </p:cNvPr>
          <p:cNvSpPr txBox="1"/>
          <p:nvPr/>
        </p:nvSpPr>
        <p:spPr>
          <a:xfrm>
            <a:off x="7253415" y="1908306"/>
            <a:ext cx="7092778" cy="2677656"/>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2) </a:t>
            </a:r>
            <a:r>
              <a:rPr lang="en-IN" sz="2800" dirty="0">
                <a:latin typeface="Gill Sans MT" panose="020B0502020104020203" pitchFamily="34" charset="0"/>
              </a:rPr>
              <a:t>The support team reviews hundreds of customer tickets every week to identify common issues, escalation trends, and service delays. They want AI to group complaints, summarize themes, and prepare a weekly service report.</a:t>
            </a:r>
          </a:p>
        </p:txBody>
      </p:sp>
      <p:sp>
        <p:nvSpPr>
          <p:cNvPr id="8" name="TextBox 7">
            <a:extLst>
              <a:ext uri="{FF2B5EF4-FFF2-40B4-BE49-F238E27FC236}">
                <a16:creationId xmlns:a16="http://schemas.microsoft.com/office/drawing/2014/main" id="{13598587-43B8-38EA-A95F-27AE4EBC5C81}"/>
              </a:ext>
            </a:extLst>
          </p:cNvPr>
          <p:cNvSpPr txBox="1"/>
          <p:nvPr/>
        </p:nvSpPr>
        <p:spPr>
          <a:xfrm>
            <a:off x="284207" y="4826619"/>
            <a:ext cx="6808573" cy="2246769"/>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3) </a:t>
            </a:r>
            <a:r>
              <a:rPr lang="en-IN" sz="2800" dirty="0">
                <a:latin typeface="Gill Sans MT" panose="020B0502020104020203" pitchFamily="34" charset="0"/>
              </a:rPr>
              <a:t>The sales team manually prepares weekly sales performance reports by region, product, and salesperson. They want AI to generate insights, highlight low-performing areas, and suggest follow-up actions.</a:t>
            </a:r>
          </a:p>
        </p:txBody>
      </p:sp>
      <p:sp>
        <p:nvSpPr>
          <p:cNvPr id="11" name="TextBox 10">
            <a:extLst>
              <a:ext uri="{FF2B5EF4-FFF2-40B4-BE49-F238E27FC236}">
                <a16:creationId xmlns:a16="http://schemas.microsoft.com/office/drawing/2014/main" id="{8D8F8F81-4DE2-5AAB-440E-F3DEC943723B}"/>
              </a:ext>
            </a:extLst>
          </p:cNvPr>
          <p:cNvSpPr txBox="1"/>
          <p:nvPr/>
        </p:nvSpPr>
        <p:spPr>
          <a:xfrm>
            <a:off x="7253415" y="4826619"/>
            <a:ext cx="7179276" cy="2246769"/>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4) </a:t>
            </a:r>
            <a:r>
              <a:rPr lang="en-IN" sz="2800" dirty="0">
                <a:latin typeface="Gill Sans MT" panose="020B0502020104020203" pitchFamily="34" charset="0"/>
              </a:rPr>
              <a:t>The IT team manually reviews system logs, incident records, and uptime reports to prepare a weekly operations summary. They want AI to identify recurring incidents, summarize impact, and recommend areas for improvement.</a:t>
            </a:r>
          </a:p>
        </p:txBody>
      </p:sp>
      <p:sp>
        <p:nvSpPr>
          <p:cNvPr id="4" name="TextBox 3">
            <a:extLst>
              <a:ext uri="{FF2B5EF4-FFF2-40B4-BE49-F238E27FC236}">
                <a16:creationId xmlns:a16="http://schemas.microsoft.com/office/drawing/2014/main" id="{6107D565-BFFC-89BA-E2A1-D98CFC2DBF19}"/>
              </a:ext>
            </a:extLst>
          </p:cNvPr>
          <p:cNvSpPr txBox="1"/>
          <p:nvPr/>
        </p:nvSpPr>
        <p:spPr>
          <a:xfrm>
            <a:off x="410861" y="959901"/>
            <a:ext cx="5730446" cy="523220"/>
          </a:xfrm>
          <a:prstGeom prst="rect">
            <a:avLst/>
          </a:prstGeom>
          <a:noFill/>
        </p:spPr>
        <p:txBody>
          <a:bodyPr wrap="square">
            <a:spAutoFit/>
          </a:bodyPr>
          <a:lstStyle/>
          <a:p>
            <a:r>
              <a:rPr lang="en-IN" sz="2800" b="1" dirty="0">
                <a:latin typeface="Gill Sans MT" panose="020B0502020104020203" pitchFamily="34" charset="0"/>
              </a:rPr>
              <a:t>Business Problems</a:t>
            </a:r>
          </a:p>
        </p:txBody>
      </p:sp>
    </p:spTree>
    <p:extLst>
      <p:ext uri="{BB962C8B-B14F-4D97-AF65-F5344CB8AC3E}">
        <p14:creationId xmlns:p14="http://schemas.microsoft.com/office/powerpoint/2010/main" val="4147286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80774-A8C3-9C37-ED8D-0AD4B7C03B3A}"/>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D6D9BBB5-FB94-F0B7-A940-16A39E8546A2}"/>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7:  Risk Spotting</a:t>
            </a:r>
          </a:p>
        </p:txBody>
      </p:sp>
      <p:sp>
        <p:nvSpPr>
          <p:cNvPr id="9" name="TextBox 8">
            <a:extLst>
              <a:ext uri="{FF2B5EF4-FFF2-40B4-BE49-F238E27FC236}">
                <a16:creationId xmlns:a16="http://schemas.microsoft.com/office/drawing/2014/main" id="{689F3DBE-EED9-E2A2-CAD8-79C2E3D9B980}"/>
              </a:ext>
            </a:extLst>
          </p:cNvPr>
          <p:cNvSpPr txBox="1"/>
          <p:nvPr/>
        </p:nvSpPr>
        <p:spPr>
          <a:xfrm>
            <a:off x="298106" y="2244465"/>
            <a:ext cx="14023375" cy="2677656"/>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What are Risks?</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Impact of risks on the Business?</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b="1" dirty="0">
                <a:latin typeface="Gill Sans MT" panose="020B0502020104020203" pitchFamily="34" charset="0"/>
              </a:rPr>
              <a:t>Activity</a:t>
            </a:r>
          </a:p>
          <a:p>
            <a:pPr marL="914400" lvl="1" indent="-457200">
              <a:buFont typeface="Wingdings" panose="05000000000000000000" pitchFamily="2" charset="2"/>
              <a:buChar char="ü"/>
            </a:pPr>
            <a:r>
              <a:rPr lang="en-IN" sz="2800" dirty="0">
                <a:latin typeface="Gill Sans MT" panose="020B0502020104020203" pitchFamily="34" charset="0"/>
              </a:rPr>
              <a:t>Read the following texts and try to identify the Risk Types</a:t>
            </a:r>
          </a:p>
        </p:txBody>
      </p:sp>
      <p:sp>
        <p:nvSpPr>
          <p:cNvPr id="6" name="TextBox 5">
            <a:extLst>
              <a:ext uri="{FF2B5EF4-FFF2-40B4-BE49-F238E27FC236}">
                <a16:creationId xmlns:a16="http://schemas.microsoft.com/office/drawing/2014/main" id="{71D702EB-1ADE-11D8-0A7F-B423E122FABD}"/>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From Policies to Practices: Driving Ethical AI</a:t>
            </a:r>
          </a:p>
        </p:txBody>
      </p:sp>
    </p:spTree>
    <p:extLst>
      <p:ext uri="{BB962C8B-B14F-4D97-AF65-F5344CB8AC3E}">
        <p14:creationId xmlns:p14="http://schemas.microsoft.com/office/powerpoint/2010/main" val="2594156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0F7B6-C2D1-6277-DD08-FFBC1D09FC4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722BF40-4403-8E46-C45E-0996536B4E1C}"/>
              </a:ext>
            </a:extLst>
          </p:cNvPr>
          <p:cNvSpPr txBox="1"/>
          <p:nvPr/>
        </p:nvSpPr>
        <p:spPr>
          <a:xfrm>
            <a:off x="471101" y="1586584"/>
            <a:ext cx="9809721" cy="3970318"/>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Gill Sans MT" panose="020B0502020104020203" pitchFamily="34" charset="0"/>
                <a:cs typeface="Arial" panose="020B0604020202020204" pitchFamily="34" charset="0"/>
              </a:rPr>
              <a:t>Potential negative outcomes or unintended consequences arising from AI usage</a:t>
            </a:r>
          </a:p>
          <a:p>
            <a:pPr marL="457200" indent="-457200">
              <a:buFont typeface="Arial" panose="020B0604020202020204" pitchFamily="34" charset="0"/>
              <a:buChar char="•"/>
            </a:pPr>
            <a:endParaRPr lang="en-US" sz="2800" dirty="0">
              <a:latin typeface="Gill Sans MT" panose="020B0502020104020203" pitchFamily="34" charset="0"/>
              <a:cs typeface="Arial" panose="020B0604020202020204" pitchFamily="34" charset="0"/>
            </a:endParaRPr>
          </a:p>
          <a:p>
            <a:pPr marL="457200" indent="-457200">
              <a:buFont typeface="Arial" panose="020B0604020202020204" pitchFamily="34" charset="0"/>
              <a:buChar char="•"/>
            </a:pPr>
            <a:r>
              <a:rPr lang="en-US" sz="2800" b="1" dirty="0">
                <a:latin typeface="Gill Sans MT" panose="020B0502020104020203" pitchFamily="34" charset="0"/>
                <a:cs typeface="Arial" panose="020B0604020202020204" pitchFamily="34" charset="0"/>
              </a:rPr>
              <a:t>Risks in Business</a:t>
            </a:r>
          </a:p>
          <a:p>
            <a:pPr marL="800100" lvl="1" indent="-342900">
              <a:buFont typeface="Wingdings" panose="05000000000000000000" pitchFamily="2" charset="2"/>
              <a:buChar char="ü"/>
            </a:pPr>
            <a:r>
              <a:rPr lang="en-IN" sz="2800" dirty="0">
                <a:latin typeface="Gill Sans MT" panose="020B0502020104020203" pitchFamily="34" charset="0"/>
                <a:cs typeface="Arial" panose="020B0604020202020204" pitchFamily="34" charset="0"/>
              </a:rPr>
              <a:t>Key Types of Risks</a:t>
            </a:r>
          </a:p>
          <a:p>
            <a:pPr marL="800100" lvl="1" indent="-342900">
              <a:buFont typeface="Wingdings" panose="05000000000000000000" pitchFamily="2" charset="2"/>
              <a:buChar char="ü"/>
            </a:pPr>
            <a:endParaRPr lang="en-IN" sz="2800" dirty="0">
              <a:latin typeface="Gill Sans MT" panose="020B0502020104020203" pitchFamily="34" charset="0"/>
              <a:cs typeface="Arial" panose="020B0604020202020204" pitchFamily="34" charset="0"/>
            </a:endParaRPr>
          </a:p>
          <a:p>
            <a:pPr marL="800100" lvl="1" indent="-342900">
              <a:buFont typeface="Wingdings" panose="05000000000000000000" pitchFamily="2" charset="2"/>
              <a:buChar char="ü"/>
            </a:pPr>
            <a:r>
              <a:rPr lang="en-IN" sz="2800" dirty="0">
                <a:latin typeface="Gill Sans MT" panose="020B0502020104020203" pitchFamily="34" charset="0"/>
                <a:cs typeface="Arial" panose="020B0604020202020204" pitchFamily="34" charset="0"/>
              </a:rPr>
              <a:t>Business Impact</a:t>
            </a:r>
          </a:p>
          <a:p>
            <a:pPr marL="800100" lvl="1" indent="-342900">
              <a:buFont typeface="Wingdings" panose="05000000000000000000" pitchFamily="2" charset="2"/>
              <a:buChar char="ü"/>
            </a:pPr>
            <a:endParaRPr lang="en-IN" sz="2800" dirty="0">
              <a:latin typeface="Gill Sans MT" panose="020B0502020104020203" pitchFamily="34" charset="0"/>
              <a:cs typeface="Arial" panose="020B0604020202020204" pitchFamily="34" charset="0"/>
            </a:endParaRPr>
          </a:p>
          <a:p>
            <a:pPr marL="800100" lvl="1" indent="-342900">
              <a:buFont typeface="Wingdings" panose="05000000000000000000" pitchFamily="2" charset="2"/>
              <a:buChar char="ü"/>
            </a:pPr>
            <a:r>
              <a:rPr lang="en-IN" sz="2800" dirty="0">
                <a:latin typeface="Gill Sans MT" panose="020B0502020104020203" pitchFamily="34" charset="0"/>
                <a:cs typeface="Arial" panose="020B0604020202020204" pitchFamily="34" charset="0"/>
              </a:rPr>
              <a:t>Mitigation Strategies</a:t>
            </a:r>
          </a:p>
        </p:txBody>
      </p:sp>
      <p:sp>
        <p:nvSpPr>
          <p:cNvPr id="3" name="Text Placeholder 1">
            <a:extLst>
              <a:ext uri="{FF2B5EF4-FFF2-40B4-BE49-F238E27FC236}">
                <a16:creationId xmlns:a16="http://schemas.microsoft.com/office/drawing/2014/main" id="{1B4B6DAF-E82A-0520-1ECA-972002A318EC}"/>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What are Risks</a:t>
            </a:r>
          </a:p>
        </p:txBody>
      </p:sp>
      <p:pic>
        <p:nvPicPr>
          <p:cNvPr id="7" name="Picture 6">
            <a:extLst>
              <a:ext uri="{FF2B5EF4-FFF2-40B4-BE49-F238E27FC236}">
                <a16:creationId xmlns:a16="http://schemas.microsoft.com/office/drawing/2014/main" id="{762DF44E-5FF5-1BEF-A559-9B3F369954AE}"/>
              </a:ext>
            </a:extLst>
          </p:cNvPr>
          <p:cNvPicPr>
            <a:picLocks noChangeAspect="1"/>
          </p:cNvPicPr>
          <p:nvPr/>
        </p:nvPicPr>
        <p:blipFill>
          <a:blip r:embed="rId3"/>
          <a:stretch>
            <a:fillRect/>
          </a:stretch>
        </p:blipFill>
        <p:spPr>
          <a:xfrm>
            <a:off x="10736605" y="1586584"/>
            <a:ext cx="2756974" cy="209572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76842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CF714-2DF3-6AD5-ED64-99D95AE34326}"/>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C5C73445-642E-32FF-89C0-EDD7A84134FF}"/>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Risks – Key Types</a:t>
            </a:r>
          </a:p>
        </p:txBody>
      </p:sp>
      <p:pic>
        <p:nvPicPr>
          <p:cNvPr id="24" name="Picture 23">
            <a:extLst>
              <a:ext uri="{FF2B5EF4-FFF2-40B4-BE49-F238E27FC236}">
                <a16:creationId xmlns:a16="http://schemas.microsoft.com/office/drawing/2014/main" id="{50FE1D0D-62DA-27A2-619F-15C813E7D8C8}"/>
              </a:ext>
            </a:extLst>
          </p:cNvPr>
          <p:cNvPicPr>
            <a:picLocks noChangeAspect="1"/>
          </p:cNvPicPr>
          <p:nvPr/>
        </p:nvPicPr>
        <p:blipFill>
          <a:blip r:embed="rId3"/>
          <a:stretch>
            <a:fillRect/>
          </a:stretch>
        </p:blipFill>
        <p:spPr>
          <a:xfrm>
            <a:off x="605910" y="1518847"/>
            <a:ext cx="821994" cy="796859"/>
          </a:xfrm>
          <a:prstGeom prst="rect">
            <a:avLst/>
          </a:prstGeom>
          <a:ln>
            <a:solidFill>
              <a:schemeClr val="tx1"/>
            </a:solidFill>
          </a:ln>
        </p:spPr>
      </p:pic>
      <p:sp>
        <p:nvSpPr>
          <p:cNvPr id="26" name="TextBox 25">
            <a:extLst>
              <a:ext uri="{FF2B5EF4-FFF2-40B4-BE49-F238E27FC236}">
                <a16:creationId xmlns:a16="http://schemas.microsoft.com/office/drawing/2014/main" id="{8ACE6701-5528-8AF1-0D53-6B4E54A77489}"/>
              </a:ext>
            </a:extLst>
          </p:cNvPr>
          <p:cNvSpPr txBox="1"/>
          <p:nvPr/>
        </p:nvSpPr>
        <p:spPr>
          <a:xfrm>
            <a:off x="1690483" y="1710740"/>
            <a:ext cx="3820632" cy="578882"/>
          </a:xfrm>
          <a:prstGeom prst="roundRect">
            <a:avLst/>
          </a:prstGeom>
          <a:noFill/>
          <a:ln>
            <a:solidFill>
              <a:schemeClr val="tx1"/>
            </a:solidFill>
          </a:ln>
        </p:spPr>
        <p:txBody>
          <a:bodyPr wrap="square">
            <a:spAutoFit/>
          </a:bodyPr>
          <a:lstStyle/>
          <a:p>
            <a:r>
              <a:rPr lang="en-IN" sz="2800" b="1" dirty="0">
                <a:latin typeface="Gill Sans MT" panose="020B0502020104020203" pitchFamily="34" charset="0"/>
                <a:cs typeface="Arial" panose="020B0604020202020204" pitchFamily="34" charset="0"/>
              </a:rPr>
              <a:t>Bias / Discrimination</a:t>
            </a:r>
            <a:endParaRPr lang="en-IN" sz="2800" dirty="0">
              <a:latin typeface="Gill Sans MT" panose="020B0502020104020203" pitchFamily="34" charset="0"/>
              <a:cs typeface="Arial" panose="020B0604020202020204" pitchFamily="34" charset="0"/>
            </a:endParaRPr>
          </a:p>
        </p:txBody>
      </p:sp>
      <p:pic>
        <p:nvPicPr>
          <p:cNvPr id="28" name="Picture 27">
            <a:extLst>
              <a:ext uri="{FF2B5EF4-FFF2-40B4-BE49-F238E27FC236}">
                <a16:creationId xmlns:a16="http://schemas.microsoft.com/office/drawing/2014/main" id="{527B07E7-BBAE-F7DA-AD87-ECF250F7A743}"/>
              </a:ext>
            </a:extLst>
          </p:cNvPr>
          <p:cNvPicPr>
            <a:picLocks noChangeAspect="1"/>
          </p:cNvPicPr>
          <p:nvPr/>
        </p:nvPicPr>
        <p:blipFill>
          <a:blip r:embed="rId4"/>
          <a:stretch>
            <a:fillRect/>
          </a:stretch>
        </p:blipFill>
        <p:spPr>
          <a:xfrm>
            <a:off x="605910" y="2537869"/>
            <a:ext cx="821994" cy="796859"/>
          </a:xfrm>
          <a:prstGeom prst="rect">
            <a:avLst/>
          </a:prstGeom>
          <a:ln>
            <a:solidFill>
              <a:schemeClr val="tx1"/>
            </a:solidFill>
          </a:ln>
        </p:spPr>
      </p:pic>
      <p:sp>
        <p:nvSpPr>
          <p:cNvPr id="30" name="TextBox 29">
            <a:extLst>
              <a:ext uri="{FF2B5EF4-FFF2-40B4-BE49-F238E27FC236}">
                <a16:creationId xmlns:a16="http://schemas.microsoft.com/office/drawing/2014/main" id="{1FBAF00D-7133-33C7-E3A3-E16FC1F30D54}"/>
              </a:ext>
            </a:extLst>
          </p:cNvPr>
          <p:cNvSpPr txBox="1"/>
          <p:nvPr/>
        </p:nvSpPr>
        <p:spPr>
          <a:xfrm>
            <a:off x="1690483" y="2742788"/>
            <a:ext cx="3820632" cy="578882"/>
          </a:xfrm>
          <a:prstGeom prst="roundRect">
            <a:avLst/>
          </a:prstGeom>
          <a:noFill/>
          <a:ln>
            <a:solidFill>
              <a:schemeClr val="tx1"/>
            </a:solidFill>
          </a:ln>
        </p:spPr>
        <p:txBody>
          <a:bodyPr wrap="square">
            <a:spAutoFit/>
          </a:bodyPr>
          <a:lstStyle>
            <a:defPPr>
              <a:defRPr lang="en-US"/>
            </a:defPPr>
            <a:lvl1pPr>
              <a:defRPr sz="2400" b="1">
                <a:latin typeface="Gill Sans MT" panose="020B0502020104020203" pitchFamily="34" charset="0"/>
                <a:cs typeface="Arial" panose="020B0604020202020204" pitchFamily="34" charset="0"/>
              </a:defRPr>
            </a:lvl1pPr>
          </a:lstStyle>
          <a:p>
            <a:r>
              <a:rPr lang="en-IN" sz="2800" dirty="0"/>
              <a:t>Data Privacy</a:t>
            </a:r>
            <a:endParaRPr lang="en-IN" sz="2800" b="0" dirty="0"/>
          </a:p>
        </p:txBody>
      </p:sp>
      <p:pic>
        <p:nvPicPr>
          <p:cNvPr id="32" name="Picture 31">
            <a:extLst>
              <a:ext uri="{FF2B5EF4-FFF2-40B4-BE49-F238E27FC236}">
                <a16:creationId xmlns:a16="http://schemas.microsoft.com/office/drawing/2014/main" id="{549603E5-6831-D5E0-757D-71270BDCA916}"/>
              </a:ext>
            </a:extLst>
          </p:cNvPr>
          <p:cNvPicPr>
            <a:picLocks noChangeAspect="1"/>
          </p:cNvPicPr>
          <p:nvPr/>
        </p:nvPicPr>
        <p:blipFill>
          <a:blip r:embed="rId5"/>
          <a:stretch>
            <a:fillRect/>
          </a:stretch>
        </p:blipFill>
        <p:spPr>
          <a:xfrm>
            <a:off x="597206" y="3556891"/>
            <a:ext cx="821992" cy="796859"/>
          </a:xfrm>
          <a:prstGeom prst="rect">
            <a:avLst/>
          </a:prstGeom>
          <a:ln>
            <a:solidFill>
              <a:schemeClr val="tx1"/>
            </a:solidFill>
          </a:ln>
        </p:spPr>
      </p:pic>
      <p:sp>
        <p:nvSpPr>
          <p:cNvPr id="34" name="TextBox 33">
            <a:extLst>
              <a:ext uri="{FF2B5EF4-FFF2-40B4-BE49-F238E27FC236}">
                <a16:creationId xmlns:a16="http://schemas.microsoft.com/office/drawing/2014/main" id="{2489868F-BDA1-DBFA-1AA9-69DD2268FF70}"/>
              </a:ext>
            </a:extLst>
          </p:cNvPr>
          <p:cNvSpPr txBox="1"/>
          <p:nvPr/>
        </p:nvSpPr>
        <p:spPr>
          <a:xfrm>
            <a:off x="1690483" y="3774836"/>
            <a:ext cx="3820632" cy="578882"/>
          </a:xfrm>
          <a:prstGeom prst="roundRect">
            <a:avLst/>
          </a:prstGeom>
          <a:noFill/>
          <a:ln>
            <a:solidFill>
              <a:schemeClr val="tx1"/>
            </a:solidFill>
          </a:ln>
        </p:spPr>
        <p:txBody>
          <a:bodyPr wrap="square">
            <a:spAutoFit/>
          </a:bodyPr>
          <a:lstStyle/>
          <a:p>
            <a:r>
              <a:rPr lang="en-IN" sz="2800" b="1" dirty="0">
                <a:latin typeface="Gill Sans MT" panose="020B0502020104020203" pitchFamily="34" charset="0"/>
                <a:cs typeface="Arial" panose="020B0604020202020204" pitchFamily="34" charset="0"/>
              </a:rPr>
              <a:t>Model Hallucination</a:t>
            </a:r>
            <a:endParaRPr lang="en-IN" sz="2800" dirty="0">
              <a:latin typeface="Gill Sans MT" panose="020B0502020104020203" pitchFamily="34" charset="0"/>
              <a:cs typeface="Arial" panose="020B0604020202020204" pitchFamily="34" charset="0"/>
            </a:endParaRPr>
          </a:p>
        </p:txBody>
      </p:sp>
      <p:pic>
        <p:nvPicPr>
          <p:cNvPr id="36" name="Picture 35">
            <a:extLst>
              <a:ext uri="{FF2B5EF4-FFF2-40B4-BE49-F238E27FC236}">
                <a16:creationId xmlns:a16="http://schemas.microsoft.com/office/drawing/2014/main" id="{2192F737-1AF8-E754-F83B-ECC99270DE52}"/>
              </a:ext>
            </a:extLst>
          </p:cNvPr>
          <p:cNvPicPr>
            <a:picLocks noChangeAspect="1"/>
          </p:cNvPicPr>
          <p:nvPr/>
        </p:nvPicPr>
        <p:blipFill>
          <a:blip r:embed="rId6"/>
          <a:stretch>
            <a:fillRect/>
          </a:stretch>
        </p:blipFill>
        <p:spPr>
          <a:xfrm>
            <a:off x="525332" y="5594935"/>
            <a:ext cx="893866" cy="861699"/>
          </a:xfrm>
          <a:prstGeom prst="rect">
            <a:avLst/>
          </a:prstGeom>
          <a:ln>
            <a:solidFill>
              <a:schemeClr val="tx1"/>
            </a:solidFill>
          </a:ln>
        </p:spPr>
      </p:pic>
      <p:sp>
        <p:nvSpPr>
          <p:cNvPr id="38" name="TextBox 37">
            <a:extLst>
              <a:ext uri="{FF2B5EF4-FFF2-40B4-BE49-F238E27FC236}">
                <a16:creationId xmlns:a16="http://schemas.microsoft.com/office/drawing/2014/main" id="{E3A1C468-2B80-B5CD-CF65-F95B11D553AA}"/>
              </a:ext>
            </a:extLst>
          </p:cNvPr>
          <p:cNvSpPr txBox="1"/>
          <p:nvPr/>
        </p:nvSpPr>
        <p:spPr>
          <a:xfrm>
            <a:off x="1690483" y="5770829"/>
            <a:ext cx="3820632" cy="578882"/>
          </a:xfrm>
          <a:prstGeom prst="roundRect">
            <a:avLst/>
          </a:prstGeom>
          <a:noFill/>
          <a:ln>
            <a:solidFill>
              <a:schemeClr val="tx1"/>
            </a:solidFill>
          </a:ln>
        </p:spPr>
        <p:txBody>
          <a:bodyPr wrap="square">
            <a:spAutoFit/>
          </a:bodyPr>
          <a:lstStyle/>
          <a:p>
            <a:r>
              <a:rPr lang="en-IN" sz="2800" b="1" dirty="0">
                <a:latin typeface="Gill Sans MT" panose="020B0502020104020203" pitchFamily="34" charset="0"/>
                <a:cs typeface="Arial" panose="020B0604020202020204" pitchFamily="34" charset="0"/>
              </a:rPr>
              <a:t>Security Risks</a:t>
            </a:r>
            <a:endParaRPr lang="en-IN" sz="2800" dirty="0">
              <a:latin typeface="Gill Sans MT" panose="020B0502020104020203" pitchFamily="34" charset="0"/>
              <a:cs typeface="Arial" panose="020B0604020202020204" pitchFamily="34" charset="0"/>
            </a:endParaRPr>
          </a:p>
        </p:txBody>
      </p:sp>
      <p:pic>
        <p:nvPicPr>
          <p:cNvPr id="40" name="Picture 39">
            <a:extLst>
              <a:ext uri="{FF2B5EF4-FFF2-40B4-BE49-F238E27FC236}">
                <a16:creationId xmlns:a16="http://schemas.microsoft.com/office/drawing/2014/main" id="{C75573CD-3E4D-46E2-2049-D05D263C39FD}"/>
              </a:ext>
            </a:extLst>
          </p:cNvPr>
          <p:cNvPicPr>
            <a:picLocks noChangeAspect="1"/>
          </p:cNvPicPr>
          <p:nvPr/>
        </p:nvPicPr>
        <p:blipFill>
          <a:blip r:embed="rId7"/>
          <a:stretch>
            <a:fillRect/>
          </a:stretch>
        </p:blipFill>
        <p:spPr>
          <a:xfrm>
            <a:off x="525331" y="4575913"/>
            <a:ext cx="893867" cy="796859"/>
          </a:xfrm>
          <a:prstGeom prst="rect">
            <a:avLst/>
          </a:prstGeom>
          <a:ln>
            <a:solidFill>
              <a:schemeClr val="tx1"/>
            </a:solidFill>
          </a:ln>
        </p:spPr>
      </p:pic>
      <p:sp>
        <p:nvSpPr>
          <p:cNvPr id="42" name="TextBox 41">
            <a:extLst>
              <a:ext uri="{FF2B5EF4-FFF2-40B4-BE49-F238E27FC236}">
                <a16:creationId xmlns:a16="http://schemas.microsoft.com/office/drawing/2014/main" id="{F8C510BA-D27E-41F8-122D-9C24014CCCCC}"/>
              </a:ext>
            </a:extLst>
          </p:cNvPr>
          <p:cNvSpPr txBox="1"/>
          <p:nvPr/>
        </p:nvSpPr>
        <p:spPr>
          <a:xfrm>
            <a:off x="1690483" y="4772832"/>
            <a:ext cx="3820632" cy="578882"/>
          </a:xfrm>
          <a:prstGeom prst="roundRect">
            <a:avLst/>
          </a:prstGeom>
          <a:noFill/>
          <a:ln>
            <a:solidFill>
              <a:schemeClr val="tx1"/>
            </a:solidFill>
          </a:ln>
        </p:spPr>
        <p:txBody>
          <a:bodyPr wrap="square">
            <a:spAutoFit/>
          </a:bodyPr>
          <a:lstStyle/>
          <a:p>
            <a:r>
              <a:rPr lang="en-IN" sz="2800" b="1" dirty="0">
                <a:latin typeface="Gill Sans MT" panose="020B0502020104020203" pitchFamily="34" charset="0"/>
                <a:cs typeface="Arial" panose="020B0604020202020204" pitchFamily="34" charset="0"/>
              </a:rPr>
              <a:t>Operational Risks</a:t>
            </a:r>
            <a:endParaRPr lang="en-IN" sz="2800" dirty="0">
              <a:latin typeface="Gill Sans MT" panose="020B0502020104020203" pitchFamily="34" charset="0"/>
              <a:cs typeface="Arial" panose="020B0604020202020204" pitchFamily="34" charset="0"/>
            </a:endParaRPr>
          </a:p>
        </p:txBody>
      </p:sp>
      <p:sp>
        <p:nvSpPr>
          <p:cNvPr id="4" name="TextBox 3">
            <a:extLst>
              <a:ext uri="{FF2B5EF4-FFF2-40B4-BE49-F238E27FC236}">
                <a16:creationId xmlns:a16="http://schemas.microsoft.com/office/drawing/2014/main" id="{6A0D1E70-54A2-46ED-8067-840C7936D96B}"/>
              </a:ext>
            </a:extLst>
          </p:cNvPr>
          <p:cNvSpPr txBox="1"/>
          <p:nvPr/>
        </p:nvSpPr>
        <p:spPr>
          <a:xfrm>
            <a:off x="5508719" y="1710740"/>
            <a:ext cx="6632399" cy="578882"/>
          </a:xfrm>
          <a:prstGeom prst="roundRect">
            <a:avLst/>
          </a:prstGeom>
          <a:noFill/>
          <a:ln>
            <a:solidFill>
              <a:schemeClr val="tx1"/>
            </a:solidFill>
          </a:ln>
        </p:spPr>
        <p:txBody>
          <a:bodyPr wrap="square">
            <a:spAutoFit/>
          </a:bodyPr>
          <a:lstStyle/>
          <a:p>
            <a:r>
              <a:rPr lang="en-IN" sz="2800" dirty="0">
                <a:latin typeface="Gill Sans MT" panose="020B0502020104020203" pitchFamily="34" charset="0"/>
                <a:cs typeface="Arial" panose="020B0604020202020204" pitchFamily="34" charset="0"/>
              </a:rPr>
              <a:t>Unfair treatment of certain groups </a:t>
            </a:r>
          </a:p>
        </p:txBody>
      </p:sp>
      <p:sp>
        <p:nvSpPr>
          <p:cNvPr id="6" name="TextBox 5">
            <a:extLst>
              <a:ext uri="{FF2B5EF4-FFF2-40B4-BE49-F238E27FC236}">
                <a16:creationId xmlns:a16="http://schemas.microsoft.com/office/drawing/2014/main" id="{540EA33F-CA7E-EE5B-1AD1-210152CFF742}"/>
              </a:ext>
            </a:extLst>
          </p:cNvPr>
          <p:cNvSpPr txBox="1"/>
          <p:nvPr/>
        </p:nvSpPr>
        <p:spPr>
          <a:xfrm>
            <a:off x="5508719" y="2742788"/>
            <a:ext cx="6675039" cy="578882"/>
          </a:xfrm>
          <a:prstGeom prst="roundRect">
            <a:avLst/>
          </a:prstGeom>
          <a:noFill/>
          <a:ln>
            <a:solidFill>
              <a:schemeClr val="tx1"/>
            </a:solidFill>
          </a:ln>
        </p:spPr>
        <p:txBody>
          <a:bodyPr wrap="square">
            <a:spAutoFit/>
          </a:bodyPr>
          <a:lstStyle>
            <a:defPPr>
              <a:defRPr lang="en-US"/>
            </a:defPPr>
            <a:lvl1pPr>
              <a:defRPr sz="2400" b="1">
                <a:latin typeface="Gill Sans MT" panose="020B0502020104020203" pitchFamily="34" charset="0"/>
                <a:cs typeface="Arial" panose="020B0604020202020204" pitchFamily="34" charset="0"/>
              </a:defRPr>
            </a:lvl1pPr>
          </a:lstStyle>
          <a:p>
            <a:r>
              <a:rPr lang="en-IN" sz="2800" b="0" dirty="0"/>
              <a:t>Leakage or misuse of sensitive information </a:t>
            </a:r>
          </a:p>
        </p:txBody>
      </p:sp>
      <p:sp>
        <p:nvSpPr>
          <p:cNvPr id="8" name="TextBox 7">
            <a:extLst>
              <a:ext uri="{FF2B5EF4-FFF2-40B4-BE49-F238E27FC236}">
                <a16:creationId xmlns:a16="http://schemas.microsoft.com/office/drawing/2014/main" id="{F5646C7C-48A8-508E-8B00-3FB3726D54B0}"/>
              </a:ext>
            </a:extLst>
          </p:cNvPr>
          <p:cNvSpPr txBox="1"/>
          <p:nvPr/>
        </p:nvSpPr>
        <p:spPr>
          <a:xfrm>
            <a:off x="5508719" y="3774836"/>
            <a:ext cx="6675039" cy="578882"/>
          </a:xfrm>
          <a:prstGeom prst="roundRect">
            <a:avLst/>
          </a:prstGeom>
          <a:noFill/>
          <a:ln>
            <a:solidFill>
              <a:schemeClr val="tx1"/>
            </a:solidFill>
          </a:ln>
        </p:spPr>
        <p:txBody>
          <a:bodyPr wrap="square">
            <a:spAutoFit/>
          </a:bodyPr>
          <a:lstStyle/>
          <a:p>
            <a:r>
              <a:rPr lang="en-IN" sz="2800" dirty="0">
                <a:latin typeface="Gill Sans MT" panose="020B0502020104020203" pitchFamily="34" charset="0"/>
                <a:cs typeface="Arial" panose="020B0604020202020204" pitchFamily="34" charset="0"/>
              </a:rPr>
              <a:t>Generating incorrect or misleading outputs </a:t>
            </a:r>
          </a:p>
        </p:txBody>
      </p:sp>
      <p:sp>
        <p:nvSpPr>
          <p:cNvPr id="10" name="TextBox 9">
            <a:extLst>
              <a:ext uri="{FF2B5EF4-FFF2-40B4-BE49-F238E27FC236}">
                <a16:creationId xmlns:a16="http://schemas.microsoft.com/office/drawing/2014/main" id="{245FDB87-2DFD-2394-0CCD-E9CC7C9D9483}"/>
              </a:ext>
            </a:extLst>
          </p:cNvPr>
          <p:cNvSpPr txBox="1"/>
          <p:nvPr/>
        </p:nvSpPr>
        <p:spPr>
          <a:xfrm>
            <a:off x="5508719" y="4772832"/>
            <a:ext cx="6675039" cy="578882"/>
          </a:xfrm>
          <a:prstGeom prst="roundRect">
            <a:avLst/>
          </a:prstGeom>
          <a:noFill/>
          <a:ln>
            <a:solidFill>
              <a:schemeClr val="tx1"/>
            </a:solidFill>
          </a:ln>
        </p:spPr>
        <p:txBody>
          <a:bodyPr wrap="square">
            <a:spAutoFit/>
          </a:bodyPr>
          <a:lstStyle/>
          <a:p>
            <a:r>
              <a:rPr lang="en-IN" sz="2800" dirty="0">
                <a:latin typeface="Gill Sans MT" panose="020B0502020104020203" pitchFamily="34" charset="0"/>
                <a:cs typeface="Arial" panose="020B0604020202020204" pitchFamily="34" charset="0"/>
              </a:rPr>
              <a:t>Model drift, poor performance over time</a:t>
            </a:r>
          </a:p>
        </p:txBody>
      </p:sp>
      <p:sp>
        <p:nvSpPr>
          <p:cNvPr id="12" name="TextBox 11">
            <a:extLst>
              <a:ext uri="{FF2B5EF4-FFF2-40B4-BE49-F238E27FC236}">
                <a16:creationId xmlns:a16="http://schemas.microsoft.com/office/drawing/2014/main" id="{0E3420EB-50D8-2EE0-5D56-BB50004E521F}"/>
              </a:ext>
            </a:extLst>
          </p:cNvPr>
          <p:cNvSpPr txBox="1"/>
          <p:nvPr/>
        </p:nvSpPr>
        <p:spPr>
          <a:xfrm>
            <a:off x="5508719" y="5770829"/>
            <a:ext cx="6675039" cy="578882"/>
          </a:xfrm>
          <a:prstGeom prst="roundRect">
            <a:avLst/>
          </a:prstGeom>
          <a:noFill/>
          <a:ln>
            <a:solidFill>
              <a:schemeClr val="tx1"/>
            </a:solidFill>
          </a:ln>
        </p:spPr>
        <p:txBody>
          <a:bodyPr wrap="square">
            <a:spAutoFit/>
          </a:bodyPr>
          <a:lstStyle/>
          <a:p>
            <a:r>
              <a:rPr lang="en-IN" sz="2800" dirty="0">
                <a:latin typeface="Gill Sans MT" panose="020B0502020104020203" pitchFamily="34" charset="0"/>
                <a:cs typeface="Arial" panose="020B0604020202020204" pitchFamily="34" charset="0"/>
              </a:rPr>
              <a:t>Adversarial attacks, prompt injection </a:t>
            </a:r>
          </a:p>
        </p:txBody>
      </p:sp>
    </p:spTree>
    <p:extLst>
      <p:ext uri="{BB962C8B-B14F-4D97-AF65-F5344CB8AC3E}">
        <p14:creationId xmlns:p14="http://schemas.microsoft.com/office/powerpoint/2010/main" val="551354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8C394-37BB-FAB6-C362-FBD9583773B7}"/>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1869223-077D-63AA-3E10-3A4DDD98E816}"/>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Risks – Business Impact</a:t>
            </a:r>
          </a:p>
        </p:txBody>
      </p:sp>
      <p:sp>
        <p:nvSpPr>
          <p:cNvPr id="14" name="TextBox 13">
            <a:extLst>
              <a:ext uri="{FF2B5EF4-FFF2-40B4-BE49-F238E27FC236}">
                <a16:creationId xmlns:a16="http://schemas.microsoft.com/office/drawing/2014/main" id="{482E73A7-68FD-295A-B1AA-5C6EB3FFCAE2}"/>
              </a:ext>
            </a:extLst>
          </p:cNvPr>
          <p:cNvSpPr txBox="1"/>
          <p:nvPr/>
        </p:nvSpPr>
        <p:spPr>
          <a:xfrm>
            <a:off x="1898017" y="1577832"/>
            <a:ext cx="4391571" cy="578882"/>
          </a:xfrm>
          <a:prstGeom prst="roundRect">
            <a:avLst/>
          </a:prstGeom>
          <a:noFill/>
          <a:ln>
            <a:solidFill>
              <a:schemeClr val="tx1"/>
            </a:solidFill>
          </a:ln>
        </p:spPr>
        <p:txBody>
          <a:bodyPr wrap="square">
            <a:spAutoFit/>
          </a:bodyPr>
          <a:lstStyle/>
          <a:p>
            <a:pPr algn="ctr"/>
            <a:r>
              <a:rPr lang="en-IN" sz="2800" b="1" dirty="0">
                <a:latin typeface="Gill Sans MT" panose="020B0502020104020203" pitchFamily="34" charset="0"/>
                <a:cs typeface="Arial" panose="020B0604020202020204" pitchFamily="34" charset="0"/>
              </a:rPr>
              <a:t>Financial Losses</a:t>
            </a:r>
          </a:p>
        </p:txBody>
      </p:sp>
      <p:pic>
        <p:nvPicPr>
          <p:cNvPr id="16" name="Picture 15">
            <a:extLst>
              <a:ext uri="{FF2B5EF4-FFF2-40B4-BE49-F238E27FC236}">
                <a16:creationId xmlns:a16="http://schemas.microsoft.com/office/drawing/2014/main" id="{A43F3817-9D53-09B0-D5AA-270EEB5A748C}"/>
              </a:ext>
            </a:extLst>
          </p:cNvPr>
          <p:cNvPicPr>
            <a:picLocks noChangeAspect="1"/>
          </p:cNvPicPr>
          <p:nvPr/>
        </p:nvPicPr>
        <p:blipFill>
          <a:blip r:embed="rId3"/>
          <a:stretch>
            <a:fillRect/>
          </a:stretch>
        </p:blipFill>
        <p:spPr>
          <a:xfrm>
            <a:off x="597205" y="2874775"/>
            <a:ext cx="893867" cy="743902"/>
          </a:xfrm>
          <a:prstGeom prst="rect">
            <a:avLst/>
          </a:prstGeom>
          <a:ln>
            <a:solidFill>
              <a:schemeClr val="tx1"/>
            </a:solidFill>
          </a:ln>
        </p:spPr>
      </p:pic>
      <p:sp>
        <p:nvSpPr>
          <p:cNvPr id="18" name="TextBox 17">
            <a:extLst>
              <a:ext uri="{FF2B5EF4-FFF2-40B4-BE49-F238E27FC236}">
                <a16:creationId xmlns:a16="http://schemas.microsoft.com/office/drawing/2014/main" id="{B8422B17-F99B-0FC8-F1C2-7801DFDE48A7}"/>
              </a:ext>
            </a:extLst>
          </p:cNvPr>
          <p:cNvSpPr txBox="1"/>
          <p:nvPr/>
        </p:nvSpPr>
        <p:spPr>
          <a:xfrm>
            <a:off x="1898017" y="2947549"/>
            <a:ext cx="4391571" cy="578882"/>
          </a:xfrm>
          <a:prstGeom prst="roundRect">
            <a:avLst/>
          </a:prstGeom>
          <a:noFill/>
          <a:ln>
            <a:solidFill>
              <a:schemeClr val="tx1"/>
            </a:solidFill>
          </a:ln>
        </p:spPr>
        <p:txBody>
          <a:bodyPr wrap="square">
            <a:spAutoFit/>
          </a:bodyPr>
          <a:lstStyle/>
          <a:p>
            <a:pPr algn="ctr"/>
            <a:r>
              <a:rPr lang="en-IN" sz="2800" b="1" dirty="0">
                <a:latin typeface="Gill Sans MT" panose="020B0502020104020203" pitchFamily="34" charset="0"/>
                <a:cs typeface="Arial" panose="020B0604020202020204" pitchFamily="34" charset="0"/>
              </a:rPr>
              <a:t>Regulatory Penalties</a:t>
            </a:r>
          </a:p>
        </p:txBody>
      </p:sp>
      <p:pic>
        <p:nvPicPr>
          <p:cNvPr id="20" name="Picture 19">
            <a:extLst>
              <a:ext uri="{FF2B5EF4-FFF2-40B4-BE49-F238E27FC236}">
                <a16:creationId xmlns:a16="http://schemas.microsoft.com/office/drawing/2014/main" id="{66F5A4E9-5F80-C201-60AC-259E5F49F79C}"/>
              </a:ext>
            </a:extLst>
          </p:cNvPr>
          <p:cNvPicPr>
            <a:picLocks noChangeAspect="1"/>
          </p:cNvPicPr>
          <p:nvPr/>
        </p:nvPicPr>
        <p:blipFill>
          <a:blip r:embed="rId4"/>
          <a:stretch>
            <a:fillRect/>
          </a:stretch>
        </p:blipFill>
        <p:spPr>
          <a:xfrm>
            <a:off x="597205" y="4288329"/>
            <a:ext cx="904027" cy="760435"/>
          </a:xfrm>
          <a:prstGeom prst="rect">
            <a:avLst/>
          </a:prstGeom>
          <a:ln>
            <a:solidFill>
              <a:schemeClr val="tx1"/>
            </a:solidFill>
          </a:ln>
        </p:spPr>
      </p:pic>
      <p:sp>
        <p:nvSpPr>
          <p:cNvPr id="22" name="TextBox 21">
            <a:extLst>
              <a:ext uri="{FF2B5EF4-FFF2-40B4-BE49-F238E27FC236}">
                <a16:creationId xmlns:a16="http://schemas.microsoft.com/office/drawing/2014/main" id="{BEAB599E-6762-71F7-F2CC-63F2786650F8}"/>
              </a:ext>
            </a:extLst>
          </p:cNvPr>
          <p:cNvSpPr txBox="1"/>
          <p:nvPr/>
        </p:nvSpPr>
        <p:spPr>
          <a:xfrm>
            <a:off x="1898016" y="4317266"/>
            <a:ext cx="4391571" cy="578882"/>
          </a:xfrm>
          <a:prstGeom prst="roundRect">
            <a:avLst/>
          </a:prstGeom>
          <a:noFill/>
          <a:ln>
            <a:solidFill>
              <a:schemeClr val="tx1"/>
            </a:solidFill>
          </a:ln>
        </p:spPr>
        <p:txBody>
          <a:bodyPr wrap="square">
            <a:spAutoFit/>
          </a:bodyPr>
          <a:lstStyle/>
          <a:p>
            <a:pPr algn="ctr"/>
            <a:r>
              <a:rPr lang="en-IN" sz="2800" b="1" dirty="0">
                <a:latin typeface="Gill Sans MT" panose="020B0502020104020203" pitchFamily="34" charset="0"/>
                <a:cs typeface="Arial" panose="020B0604020202020204" pitchFamily="34" charset="0"/>
              </a:rPr>
              <a:t>Reputational Damage</a:t>
            </a:r>
          </a:p>
        </p:txBody>
      </p:sp>
      <p:pic>
        <p:nvPicPr>
          <p:cNvPr id="25" name="Picture 24">
            <a:extLst>
              <a:ext uri="{FF2B5EF4-FFF2-40B4-BE49-F238E27FC236}">
                <a16:creationId xmlns:a16="http://schemas.microsoft.com/office/drawing/2014/main" id="{ED3FE436-0AE4-6B82-9414-E97CD2F3BF95}"/>
              </a:ext>
            </a:extLst>
          </p:cNvPr>
          <p:cNvPicPr>
            <a:picLocks noChangeAspect="1"/>
          </p:cNvPicPr>
          <p:nvPr/>
        </p:nvPicPr>
        <p:blipFill>
          <a:blip r:embed="rId5"/>
          <a:stretch>
            <a:fillRect/>
          </a:stretch>
        </p:blipFill>
        <p:spPr>
          <a:xfrm>
            <a:off x="607365" y="5604445"/>
            <a:ext cx="893867" cy="734934"/>
          </a:xfrm>
          <a:prstGeom prst="rect">
            <a:avLst/>
          </a:prstGeom>
          <a:ln>
            <a:solidFill>
              <a:schemeClr val="tx1"/>
            </a:solidFill>
          </a:ln>
        </p:spPr>
      </p:pic>
      <p:sp>
        <p:nvSpPr>
          <p:cNvPr id="29" name="TextBox 28">
            <a:extLst>
              <a:ext uri="{FF2B5EF4-FFF2-40B4-BE49-F238E27FC236}">
                <a16:creationId xmlns:a16="http://schemas.microsoft.com/office/drawing/2014/main" id="{58537458-2340-8E0C-AED6-847C593DE901}"/>
              </a:ext>
            </a:extLst>
          </p:cNvPr>
          <p:cNvSpPr txBox="1"/>
          <p:nvPr/>
        </p:nvSpPr>
        <p:spPr>
          <a:xfrm>
            <a:off x="1898016" y="5682471"/>
            <a:ext cx="4391571" cy="578882"/>
          </a:xfrm>
          <a:prstGeom prst="roundRect">
            <a:avLst/>
          </a:prstGeom>
          <a:noFill/>
          <a:ln>
            <a:solidFill>
              <a:schemeClr val="tx1"/>
            </a:solidFill>
          </a:ln>
        </p:spPr>
        <p:txBody>
          <a:bodyPr wrap="square">
            <a:spAutoFit/>
          </a:bodyPr>
          <a:lstStyle/>
          <a:p>
            <a:pPr algn="ctr"/>
            <a:r>
              <a:rPr lang="en-IN" sz="2800" b="1" dirty="0">
                <a:solidFill>
                  <a:sysClr val="windowText" lastClr="000000"/>
                </a:solidFill>
                <a:latin typeface="Gill Sans MT" panose="020B0502020104020203" pitchFamily="34" charset="0"/>
                <a:cs typeface="Arial" panose="020B0604020202020204" pitchFamily="34" charset="0"/>
              </a:rPr>
              <a:t>Loss of Customer Trust</a:t>
            </a:r>
          </a:p>
        </p:txBody>
      </p:sp>
      <p:pic>
        <p:nvPicPr>
          <p:cNvPr id="33" name="Picture 32">
            <a:extLst>
              <a:ext uri="{FF2B5EF4-FFF2-40B4-BE49-F238E27FC236}">
                <a16:creationId xmlns:a16="http://schemas.microsoft.com/office/drawing/2014/main" id="{EB1C4E1F-9AC7-943F-4637-C9F2545B2F84}"/>
              </a:ext>
            </a:extLst>
          </p:cNvPr>
          <p:cNvPicPr>
            <a:picLocks noChangeAspect="1"/>
          </p:cNvPicPr>
          <p:nvPr/>
        </p:nvPicPr>
        <p:blipFill>
          <a:blip r:embed="rId6"/>
          <a:stretch>
            <a:fillRect/>
          </a:stretch>
        </p:blipFill>
        <p:spPr>
          <a:xfrm>
            <a:off x="597206" y="1529423"/>
            <a:ext cx="893867" cy="675700"/>
          </a:xfrm>
          <a:prstGeom prst="rect">
            <a:avLst/>
          </a:prstGeom>
          <a:ln>
            <a:solidFill>
              <a:schemeClr val="tx1"/>
            </a:solidFill>
          </a:ln>
        </p:spPr>
      </p:pic>
    </p:spTree>
    <p:extLst>
      <p:ext uri="{BB962C8B-B14F-4D97-AF65-F5344CB8AC3E}">
        <p14:creationId xmlns:p14="http://schemas.microsoft.com/office/powerpoint/2010/main" val="1485253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1FE41-8CC3-C684-1505-D8A1F404CE47}"/>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FA117EEE-9FA9-45AA-CD4B-E459316E5D4A}"/>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Risks – Mitigation Strategies</a:t>
            </a:r>
          </a:p>
        </p:txBody>
      </p:sp>
      <p:sp>
        <p:nvSpPr>
          <p:cNvPr id="14" name="TextBox 13">
            <a:extLst>
              <a:ext uri="{FF2B5EF4-FFF2-40B4-BE49-F238E27FC236}">
                <a16:creationId xmlns:a16="http://schemas.microsoft.com/office/drawing/2014/main" id="{2A5BB64D-42AF-7FF0-0D15-986BA396D151}"/>
              </a:ext>
            </a:extLst>
          </p:cNvPr>
          <p:cNvSpPr txBox="1"/>
          <p:nvPr/>
        </p:nvSpPr>
        <p:spPr>
          <a:xfrm>
            <a:off x="1898016" y="1577832"/>
            <a:ext cx="7851465" cy="578882"/>
          </a:xfrm>
          <a:prstGeom prst="roundRect">
            <a:avLst/>
          </a:prstGeom>
          <a:noFill/>
          <a:ln>
            <a:solidFill>
              <a:schemeClr val="tx1"/>
            </a:solidFill>
          </a:ln>
        </p:spPr>
        <p:txBody>
          <a:bodyPr wrap="square">
            <a:spAutoFit/>
          </a:bodyPr>
          <a:lstStyle/>
          <a:p>
            <a:pPr algn="ctr"/>
            <a:r>
              <a:rPr lang="en-IN" sz="2800" b="1" dirty="0">
                <a:latin typeface="Gill Sans MT" panose="020B0502020104020203" pitchFamily="34" charset="0"/>
                <a:cs typeface="Arial" panose="020B0604020202020204" pitchFamily="34" charset="0"/>
              </a:rPr>
              <a:t>Strong Data Governance and Validation</a:t>
            </a:r>
          </a:p>
        </p:txBody>
      </p:sp>
      <p:sp>
        <p:nvSpPr>
          <p:cNvPr id="18" name="TextBox 17">
            <a:extLst>
              <a:ext uri="{FF2B5EF4-FFF2-40B4-BE49-F238E27FC236}">
                <a16:creationId xmlns:a16="http://schemas.microsoft.com/office/drawing/2014/main" id="{C1CBDECC-BB1F-E070-94C0-48594D7F1A88}"/>
              </a:ext>
            </a:extLst>
          </p:cNvPr>
          <p:cNvSpPr txBox="1"/>
          <p:nvPr/>
        </p:nvSpPr>
        <p:spPr>
          <a:xfrm>
            <a:off x="1898016" y="2946045"/>
            <a:ext cx="7851465" cy="578882"/>
          </a:xfrm>
          <a:prstGeom prst="roundRect">
            <a:avLst/>
          </a:prstGeom>
          <a:noFill/>
          <a:ln>
            <a:solidFill>
              <a:schemeClr val="tx1"/>
            </a:solidFill>
          </a:ln>
        </p:spPr>
        <p:txBody>
          <a:bodyPr wrap="square">
            <a:spAutoFit/>
          </a:bodyPr>
          <a:lstStyle/>
          <a:p>
            <a:pPr algn="ctr"/>
            <a:r>
              <a:rPr lang="en-IN" sz="2800" b="1" dirty="0">
                <a:latin typeface="Gill Sans MT" panose="020B0502020104020203" pitchFamily="34" charset="0"/>
                <a:cs typeface="Arial" panose="020B0604020202020204" pitchFamily="34" charset="0"/>
              </a:rPr>
              <a:t>Continuous Monitoring and Evaluation</a:t>
            </a:r>
          </a:p>
        </p:txBody>
      </p:sp>
      <p:sp>
        <p:nvSpPr>
          <p:cNvPr id="22" name="TextBox 21">
            <a:extLst>
              <a:ext uri="{FF2B5EF4-FFF2-40B4-BE49-F238E27FC236}">
                <a16:creationId xmlns:a16="http://schemas.microsoft.com/office/drawing/2014/main" id="{E1854EA6-9E3E-C3BE-7070-36F741FBA1B7}"/>
              </a:ext>
            </a:extLst>
          </p:cNvPr>
          <p:cNvSpPr txBox="1"/>
          <p:nvPr/>
        </p:nvSpPr>
        <p:spPr>
          <a:xfrm>
            <a:off x="1898015" y="4314258"/>
            <a:ext cx="7851465" cy="578882"/>
          </a:xfrm>
          <a:prstGeom prst="roundRect">
            <a:avLst/>
          </a:prstGeom>
          <a:noFill/>
          <a:ln>
            <a:solidFill>
              <a:schemeClr val="tx1"/>
            </a:solidFill>
          </a:ln>
        </p:spPr>
        <p:txBody>
          <a:bodyPr wrap="square">
            <a:spAutoFit/>
          </a:bodyPr>
          <a:lstStyle/>
          <a:p>
            <a:pPr algn="ctr"/>
            <a:r>
              <a:rPr lang="en-IN" sz="2800" b="1" dirty="0">
                <a:latin typeface="Gill Sans MT" panose="020B0502020104020203" pitchFamily="34" charset="0"/>
                <a:cs typeface="Arial" panose="020B0604020202020204" pitchFamily="34" charset="0"/>
              </a:rPr>
              <a:t>Implement Guardrails and Human Oversight</a:t>
            </a:r>
          </a:p>
        </p:txBody>
      </p:sp>
      <p:sp>
        <p:nvSpPr>
          <p:cNvPr id="29" name="TextBox 28">
            <a:extLst>
              <a:ext uri="{FF2B5EF4-FFF2-40B4-BE49-F238E27FC236}">
                <a16:creationId xmlns:a16="http://schemas.microsoft.com/office/drawing/2014/main" id="{7FBEBCEE-71FB-F2C9-3487-A266480FB50D}"/>
              </a:ext>
            </a:extLst>
          </p:cNvPr>
          <p:cNvSpPr txBox="1"/>
          <p:nvPr/>
        </p:nvSpPr>
        <p:spPr>
          <a:xfrm>
            <a:off x="1898015" y="5682471"/>
            <a:ext cx="7851465" cy="578882"/>
          </a:xfrm>
          <a:prstGeom prst="roundRect">
            <a:avLst/>
          </a:prstGeom>
          <a:noFill/>
          <a:ln>
            <a:solidFill>
              <a:schemeClr val="tx1"/>
            </a:solidFill>
          </a:ln>
        </p:spPr>
        <p:txBody>
          <a:bodyPr wrap="square">
            <a:spAutoFit/>
          </a:bodyPr>
          <a:lstStyle/>
          <a:p>
            <a:pPr algn="ctr"/>
            <a:r>
              <a:rPr lang="en-IN" sz="2800" b="1" dirty="0">
                <a:latin typeface="Gill Sans MT" panose="020B0502020104020203" pitchFamily="34" charset="0"/>
                <a:cs typeface="Arial" panose="020B0604020202020204" pitchFamily="34" charset="0"/>
              </a:rPr>
              <a:t>Regular Model Retraining and Audits</a:t>
            </a:r>
          </a:p>
        </p:txBody>
      </p:sp>
      <p:pic>
        <p:nvPicPr>
          <p:cNvPr id="4" name="Picture 3">
            <a:extLst>
              <a:ext uri="{FF2B5EF4-FFF2-40B4-BE49-F238E27FC236}">
                <a16:creationId xmlns:a16="http://schemas.microsoft.com/office/drawing/2014/main" id="{2DF6760D-C734-70F6-D630-88DD3989554D}"/>
              </a:ext>
            </a:extLst>
          </p:cNvPr>
          <p:cNvPicPr>
            <a:picLocks noChangeAspect="1"/>
          </p:cNvPicPr>
          <p:nvPr/>
        </p:nvPicPr>
        <p:blipFill>
          <a:blip r:embed="rId3"/>
          <a:stretch>
            <a:fillRect/>
          </a:stretch>
        </p:blipFill>
        <p:spPr>
          <a:xfrm>
            <a:off x="587044" y="1536077"/>
            <a:ext cx="904027" cy="689927"/>
          </a:xfrm>
          <a:prstGeom prst="rect">
            <a:avLst/>
          </a:prstGeom>
          <a:ln>
            <a:solidFill>
              <a:schemeClr val="tx1"/>
            </a:solidFill>
          </a:ln>
        </p:spPr>
      </p:pic>
      <p:pic>
        <p:nvPicPr>
          <p:cNvPr id="6" name="Picture 5">
            <a:extLst>
              <a:ext uri="{FF2B5EF4-FFF2-40B4-BE49-F238E27FC236}">
                <a16:creationId xmlns:a16="http://schemas.microsoft.com/office/drawing/2014/main" id="{7C4DF053-2B05-0271-0F41-A8EC68FA51C5}"/>
              </a:ext>
            </a:extLst>
          </p:cNvPr>
          <p:cNvPicPr>
            <a:picLocks noChangeAspect="1"/>
          </p:cNvPicPr>
          <p:nvPr/>
        </p:nvPicPr>
        <p:blipFill>
          <a:blip r:embed="rId4"/>
          <a:stretch>
            <a:fillRect/>
          </a:stretch>
        </p:blipFill>
        <p:spPr>
          <a:xfrm>
            <a:off x="587044" y="2879733"/>
            <a:ext cx="893867" cy="734934"/>
          </a:xfrm>
          <a:prstGeom prst="rect">
            <a:avLst/>
          </a:prstGeom>
          <a:ln>
            <a:solidFill>
              <a:schemeClr val="tx1"/>
            </a:solidFill>
          </a:ln>
        </p:spPr>
      </p:pic>
      <p:pic>
        <p:nvPicPr>
          <p:cNvPr id="8" name="Picture 7">
            <a:extLst>
              <a:ext uri="{FF2B5EF4-FFF2-40B4-BE49-F238E27FC236}">
                <a16:creationId xmlns:a16="http://schemas.microsoft.com/office/drawing/2014/main" id="{7AA8FDD1-31DA-8074-BBC3-8842673DAFAD}"/>
              </a:ext>
            </a:extLst>
          </p:cNvPr>
          <p:cNvPicPr>
            <a:picLocks noChangeAspect="1"/>
          </p:cNvPicPr>
          <p:nvPr/>
        </p:nvPicPr>
        <p:blipFill>
          <a:blip r:embed="rId5"/>
          <a:stretch>
            <a:fillRect/>
          </a:stretch>
        </p:blipFill>
        <p:spPr>
          <a:xfrm>
            <a:off x="587044" y="4268396"/>
            <a:ext cx="893867" cy="760347"/>
          </a:xfrm>
          <a:prstGeom prst="rect">
            <a:avLst/>
          </a:prstGeom>
          <a:ln>
            <a:solidFill>
              <a:schemeClr val="tx1"/>
            </a:solidFill>
          </a:ln>
        </p:spPr>
      </p:pic>
      <p:pic>
        <p:nvPicPr>
          <p:cNvPr id="10" name="Picture 9">
            <a:extLst>
              <a:ext uri="{FF2B5EF4-FFF2-40B4-BE49-F238E27FC236}">
                <a16:creationId xmlns:a16="http://schemas.microsoft.com/office/drawing/2014/main" id="{AC5114AA-DA7E-2DFD-B9F7-3D10C5643232}"/>
              </a:ext>
            </a:extLst>
          </p:cNvPr>
          <p:cNvPicPr>
            <a:picLocks noChangeAspect="1"/>
          </p:cNvPicPr>
          <p:nvPr/>
        </p:nvPicPr>
        <p:blipFill>
          <a:blip r:embed="rId6"/>
          <a:stretch>
            <a:fillRect/>
          </a:stretch>
        </p:blipFill>
        <p:spPr>
          <a:xfrm>
            <a:off x="587044" y="5682471"/>
            <a:ext cx="904027" cy="760347"/>
          </a:xfrm>
          <a:prstGeom prst="rect">
            <a:avLst/>
          </a:prstGeom>
          <a:ln>
            <a:solidFill>
              <a:schemeClr val="tx1"/>
            </a:solidFill>
          </a:ln>
        </p:spPr>
      </p:pic>
    </p:spTree>
    <p:extLst>
      <p:ext uri="{BB962C8B-B14F-4D97-AF65-F5344CB8AC3E}">
        <p14:creationId xmlns:p14="http://schemas.microsoft.com/office/powerpoint/2010/main" val="3252469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2371C-02B8-06DD-2E32-EC21D403337A}"/>
              </a:ext>
            </a:extLst>
          </p:cNvPr>
          <p:cNvSpPr txBox="1"/>
          <p:nvPr/>
        </p:nvSpPr>
        <p:spPr>
          <a:xfrm>
            <a:off x="266924" y="848780"/>
            <a:ext cx="7851465" cy="578882"/>
          </a:xfrm>
          <a:prstGeom prst="roundRect">
            <a:avLst/>
          </a:prstGeom>
          <a:noFill/>
          <a:ln>
            <a:noFill/>
          </a:ln>
        </p:spPr>
        <p:txBody>
          <a:bodyPr wrap="square">
            <a:spAutoFit/>
          </a:bodyPr>
          <a:lstStyle/>
          <a:p>
            <a:r>
              <a:rPr lang="en-IN" sz="2800" b="1" dirty="0">
                <a:latin typeface="Gill Sans MT" panose="020B0502020104020203" pitchFamily="34" charset="0"/>
                <a:cs typeface="Arial" panose="020B0604020202020204" pitchFamily="34" charset="0"/>
              </a:rPr>
              <a:t>Strong Data Governance and Validation</a:t>
            </a:r>
          </a:p>
        </p:txBody>
      </p:sp>
      <p:sp>
        <p:nvSpPr>
          <p:cNvPr id="5" name="TextBox 4">
            <a:extLst>
              <a:ext uri="{FF2B5EF4-FFF2-40B4-BE49-F238E27FC236}">
                <a16:creationId xmlns:a16="http://schemas.microsoft.com/office/drawing/2014/main" id="{0A8BA5BC-E9BE-D9B0-7B74-D36BF83485A9}"/>
              </a:ext>
            </a:extLst>
          </p:cNvPr>
          <p:cNvSpPr txBox="1"/>
          <p:nvPr/>
        </p:nvSpPr>
        <p:spPr>
          <a:xfrm>
            <a:off x="266924" y="1748181"/>
            <a:ext cx="6381011" cy="1938992"/>
          </a:xfrm>
          <a:prstGeom prst="rect">
            <a:avLst/>
          </a:prstGeom>
          <a:noFill/>
          <a:ln>
            <a:solidFill>
              <a:schemeClr val="tx1"/>
            </a:solidFill>
          </a:ln>
        </p:spPr>
        <p:txBody>
          <a:bodyPr wrap="square">
            <a:spAutoFit/>
          </a:bodyPr>
          <a:lstStyle/>
          <a:p>
            <a:pPr marL="457200" indent="-457200">
              <a:buFont typeface="Arial" panose="020B0604020202020204" pitchFamily="34" charset="0"/>
              <a:buChar char="•"/>
            </a:pPr>
            <a:r>
              <a:rPr lang="en-IN" sz="2400" dirty="0">
                <a:latin typeface="Gill Sans MT" panose="020B0502020104020203" pitchFamily="34" charset="0"/>
              </a:rPr>
              <a:t>Responsible AI policy and governance require</a:t>
            </a:r>
          </a:p>
          <a:p>
            <a:pPr marL="914400" lvl="1" indent="-457200">
              <a:buFont typeface="Wingdings" panose="05000000000000000000" pitchFamily="2" charset="2"/>
              <a:buChar char="ü"/>
            </a:pPr>
            <a:r>
              <a:rPr lang="en-IN" sz="2400" dirty="0">
                <a:latin typeface="Gill Sans MT" panose="020B0502020104020203" pitchFamily="34" charset="0"/>
              </a:rPr>
              <a:t>Clear ethical principles</a:t>
            </a:r>
          </a:p>
          <a:p>
            <a:pPr marL="914400" lvl="1" indent="-457200">
              <a:buFont typeface="Wingdings" panose="05000000000000000000" pitchFamily="2" charset="2"/>
              <a:buChar char="ü"/>
            </a:pPr>
            <a:r>
              <a:rPr lang="en-IN" sz="2400" dirty="0">
                <a:latin typeface="Gill Sans MT" panose="020B0502020104020203" pitchFamily="34" charset="0"/>
              </a:rPr>
              <a:t>Defined roles</a:t>
            </a:r>
          </a:p>
          <a:p>
            <a:pPr marL="914400" lvl="1" indent="-457200">
              <a:buFont typeface="Wingdings" panose="05000000000000000000" pitchFamily="2" charset="2"/>
              <a:buChar char="ü"/>
            </a:pPr>
            <a:r>
              <a:rPr lang="en-IN" sz="2400" dirty="0">
                <a:latin typeface="Gill Sans MT" panose="020B0502020104020203" pitchFamily="34" charset="0"/>
              </a:rPr>
              <a:t>Risk‑management procedures, and </a:t>
            </a:r>
          </a:p>
          <a:p>
            <a:pPr marL="914400" lvl="1" indent="-457200">
              <a:buFont typeface="Wingdings" panose="05000000000000000000" pitchFamily="2" charset="2"/>
              <a:buChar char="ü"/>
            </a:pPr>
            <a:r>
              <a:rPr lang="en-IN" sz="2400" dirty="0">
                <a:latin typeface="Gill Sans MT" panose="020B0502020104020203" pitchFamily="34" charset="0"/>
              </a:rPr>
              <a:t>Compliance</a:t>
            </a:r>
            <a:endParaRPr lang="en-IN" sz="1400" dirty="0">
              <a:latin typeface="Gill Sans MT" panose="020B0502020104020203" pitchFamily="34" charset="0"/>
            </a:endParaRPr>
          </a:p>
        </p:txBody>
      </p:sp>
      <p:sp>
        <p:nvSpPr>
          <p:cNvPr id="7" name="TextBox 6">
            <a:extLst>
              <a:ext uri="{FF2B5EF4-FFF2-40B4-BE49-F238E27FC236}">
                <a16:creationId xmlns:a16="http://schemas.microsoft.com/office/drawing/2014/main" id="{058FF53D-FE2C-F88B-B2F7-36C9C635C057}"/>
              </a:ext>
            </a:extLst>
          </p:cNvPr>
          <p:cNvSpPr txBox="1"/>
          <p:nvPr/>
        </p:nvSpPr>
        <p:spPr>
          <a:xfrm>
            <a:off x="266924" y="4148838"/>
            <a:ext cx="6381011" cy="2677656"/>
          </a:xfrm>
          <a:prstGeom prst="rect">
            <a:avLst/>
          </a:prstGeom>
          <a:noFill/>
          <a:ln>
            <a:solidFill>
              <a:schemeClr val="tx1"/>
            </a:solidFill>
          </a:ln>
        </p:spPr>
        <p:txBody>
          <a:bodyPr wrap="square">
            <a:spAutoFit/>
          </a:bodyPr>
          <a:lstStyle/>
          <a:p>
            <a:pPr marL="342900" indent="-342900">
              <a:buFont typeface="Arial" panose="020B0604020202020204" pitchFamily="34" charset="0"/>
              <a:buChar char="•"/>
            </a:pPr>
            <a:r>
              <a:rPr lang="en-IN" sz="2400" dirty="0">
                <a:latin typeface="Gill Sans MT" panose="020B0502020104020203" pitchFamily="34" charset="0"/>
              </a:rPr>
              <a:t>These policies ensure AI systems are </a:t>
            </a:r>
          </a:p>
          <a:p>
            <a:pPr marL="914400" lvl="1" indent="-457200">
              <a:buFont typeface="Wingdings" panose="05000000000000000000" pitchFamily="2" charset="2"/>
              <a:buChar char="ü"/>
            </a:pPr>
            <a:r>
              <a:rPr lang="en-IN" sz="2400" dirty="0">
                <a:latin typeface="Gill Sans MT" panose="020B0502020104020203" pitchFamily="34" charset="0"/>
              </a:rPr>
              <a:t>Safe</a:t>
            </a:r>
          </a:p>
          <a:p>
            <a:pPr marL="914400" lvl="1" indent="-457200">
              <a:buFont typeface="Wingdings" panose="05000000000000000000" pitchFamily="2" charset="2"/>
              <a:buChar char="ü"/>
            </a:pPr>
            <a:r>
              <a:rPr lang="en-IN" sz="2400" dirty="0">
                <a:latin typeface="Gill Sans MT" panose="020B0502020104020203" pitchFamily="34" charset="0"/>
              </a:rPr>
              <a:t>Fair</a:t>
            </a:r>
          </a:p>
          <a:p>
            <a:pPr marL="914400" lvl="1" indent="-457200">
              <a:buFont typeface="Wingdings" panose="05000000000000000000" pitchFamily="2" charset="2"/>
              <a:buChar char="ü"/>
            </a:pPr>
            <a:r>
              <a:rPr lang="en-IN" sz="2400" dirty="0">
                <a:latin typeface="Gill Sans MT" panose="020B0502020104020203" pitchFamily="34" charset="0"/>
              </a:rPr>
              <a:t>Transparent</a:t>
            </a:r>
          </a:p>
          <a:p>
            <a:pPr marL="914400" lvl="1" indent="-457200">
              <a:buFont typeface="Wingdings" panose="05000000000000000000" pitchFamily="2" charset="2"/>
              <a:buChar char="ü"/>
            </a:pPr>
            <a:r>
              <a:rPr lang="en-IN" sz="2400" dirty="0">
                <a:latin typeface="Gill Sans MT" panose="020B0502020104020203" pitchFamily="34" charset="0"/>
              </a:rPr>
              <a:t>Auditable</a:t>
            </a:r>
          </a:p>
          <a:p>
            <a:pPr marL="914400" lvl="1" indent="-457200">
              <a:buFont typeface="Wingdings" panose="05000000000000000000" pitchFamily="2" charset="2"/>
              <a:buChar char="ü"/>
            </a:pPr>
            <a:r>
              <a:rPr lang="en-IN" sz="2400" dirty="0">
                <a:latin typeface="Gill Sans MT" panose="020B0502020104020203" pitchFamily="34" charset="0"/>
              </a:rPr>
              <a:t>Reducing legal, security, and reputational risks</a:t>
            </a:r>
          </a:p>
        </p:txBody>
      </p:sp>
      <p:sp>
        <p:nvSpPr>
          <p:cNvPr id="11" name="TextBox 10">
            <a:extLst>
              <a:ext uri="{FF2B5EF4-FFF2-40B4-BE49-F238E27FC236}">
                <a16:creationId xmlns:a16="http://schemas.microsoft.com/office/drawing/2014/main" id="{AF905F50-A86C-0854-2031-47E4BA10E39B}"/>
              </a:ext>
            </a:extLst>
          </p:cNvPr>
          <p:cNvSpPr txBox="1"/>
          <p:nvPr/>
        </p:nvSpPr>
        <p:spPr>
          <a:xfrm>
            <a:off x="6820930" y="1748181"/>
            <a:ext cx="7542546" cy="5078313"/>
          </a:xfrm>
          <a:prstGeom prst="rect">
            <a:avLst/>
          </a:prstGeom>
          <a:noFill/>
          <a:ln>
            <a:solidFill>
              <a:schemeClr val="tx1"/>
            </a:solidFill>
          </a:ln>
        </p:spPr>
        <p:txBody>
          <a:bodyPr wrap="square">
            <a:spAutoFit/>
          </a:bodyPr>
          <a:lstStyle/>
          <a:p>
            <a:pPr marL="457200" indent="-457200">
              <a:buFont typeface="Arial" panose="020B0604020202020204" pitchFamily="34" charset="0"/>
              <a:buChar char="•"/>
            </a:pPr>
            <a:r>
              <a:rPr lang="en-IN" sz="2400" b="1" dirty="0">
                <a:latin typeface="Gill Sans MT" panose="020B0502020104020203" pitchFamily="34" charset="0"/>
              </a:rPr>
              <a:t>Global Standards</a:t>
            </a:r>
            <a:r>
              <a:rPr lang="en-IN" sz="2400" dirty="0">
                <a:latin typeface="Gill Sans MT" panose="020B0502020104020203" pitchFamily="34" charset="0"/>
              </a:rPr>
              <a:t> </a:t>
            </a:r>
          </a:p>
          <a:p>
            <a:pPr marL="914400" lvl="1" indent="-457200">
              <a:buFont typeface="Wingdings" panose="05000000000000000000" pitchFamily="2" charset="2"/>
              <a:buChar char="ü"/>
            </a:pPr>
            <a:r>
              <a:rPr lang="en-IN" sz="2400" dirty="0">
                <a:latin typeface="Gill Sans MT" panose="020B0502020104020203" pitchFamily="34" charset="0"/>
              </a:rPr>
              <a:t>EU AI Act</a:t>
            </a:r>
          </a:p>
          <a:p>
            <a:pPr marL="914400" lvl="1" indent="-457200">
              <a:buFont typeface="Wingdings" panose="05000000000000000000" pitchFamily="2" charset="2"/>
              <a:buChar char="ü"/>
            </a:pPr>
            <a:r>
              <a:rPr lang="en-IN" sz="2400" dirty="0">
                <a:latin typeface="Gill Sans MT" panose="020B0502020104020203" pitchFamily="34" charset="0"/>
              </a:rPr>
              <a:t>NIST AI RMF </a:t>
            </a:r>
          </a:p>
          <a:p>
            <a:pPr lvl="1"/>
            <a:r>
              <a:rPr lang="en-IN" sz="1400" dirty="0">
                <a:latin typeface="Gill Sans MT" panose="020B0502020104020203" pitchFamily="34" charset="0"/>
              </a:rPr>
              <a:t>(National Institute of Standards and Technology – Artificial Intelligence Risk Management Framework.)</a:t>
            </a:r>
          </a:p>
          <a:p>
            <a:pPr marL="914400" lvl="1" indent="-457200">
              <a:buFont typeface="Wingdings" panose="05000000000000000000" pitchFamily="2" charset="2"/>
              <a:buChar char="ü"/>
            </a:pPr>
            <a:r>
              <a:rPr lang="en-IN" sz="2400" dirty="0">
                <a:latin typeface="Gill Sans MT" panose="020B0502020104020203" pitchFamily="34" charset="0"/>
              </a:rPr>
              <a:t>ISO/IEC 42001</a:t>
            </a:r>
          </a:p>
          <a:p>
            <a:pPr lvl="1"/>
            <a:r>
              <a:rPr lang="en-IN" sz="1400" dirty="0">
                <a:latin typeface="Gill Sans MT" panose="020B0502020104020203" pitchFamily="34" charset="0"/>
              </a:rPr>
              <a:t>(International Organization for Standardization / International Electrotechnical Commission)</a:t>
            </a:r>
          </a:p>
          <a:p>
            <a:pPr marL="914400" lvl="1" indent="-457200">
              <a:buFont typeface="Wingdings" panose="05000000000000000000" pitchFamily="2" charset="2"/>
              <a:buChar char="ü"/>
            </a:pPr>
            <a:r>
              <a:rPr lang="en-IN" sz="2400" dirty="0">
                <a:latin typeface="Gill Sans MT" panose="020B0502020104020203" pitchFamily="34" charset="0"/>
              </a:rPr>
              <a:t>OECD AI Principles</a:t>
            </a:r>
          </a:p>
          <a:p>
            <a:pPr lvl="1"/>
            <a:r>
              <a:rPr lang="en-IN" sz="1400" dirty="0">
                <a:latin typeface="Gill Sans MT" panose="020B0502020104020203" pitchFamily="34" charset="0"/>
              </a:rPr>
              <a:t>(Organisation for Economic Co-operation and Development)</a:t>
            </a:r>
          </a:p>
          <a:p>
            <a:pPr marL="914400" lvl="1" indent="-457200">
              <a:buFont typeface="Wingdings" panose="05000000000000000000" pitchFamily="2" charset="2"/>
              <a:buChar char="ü"/>
            </a:pPr>
            <a:r>
              <a:rPr lang="en-IN" sz="2400" dirty="0">
                <a:latin typeface="Gill Sans MT" panose="020B0502020104020203" pitchFamily="34" charset="0"/>
              </a:rPr>
              <a:t>GDPR</a:t>
            </a:r>
          </a:p>
          <a:p>
            <a:pPr lvl="1"/>
            <a:r>
              <a:rPr lang="en-IN" sz="1400" dirty="0">
                <a:latin typeface="Gill Sans MT" panose="020B0502020104020203" pitchFamily="34" charset="0"/>
              </a:rPr>
              <a:t>(General Data Protection Regulation)</a:t>
            </a:r>
          </a:p>
          <a:p>
            <a:pPr lvl="1"/>
            <a:endParaRPr lang="en-IN" sz="1400" dirty="0">
              <a:latin typeface="Gill Sans MT" panose="020B0502020104020203" pitchFamily="34" charset="0"/>
            </a:endParaRPr>
          </a:p>
          <a:p>
            <a:pPr marL="285750" indent="-285750">
              <a:buFont typeface="Arial" panose="020B0604020202020204" pitchFamily="34" charset="0"/>
              <a:buChar char="•"/>
            </a:pPr>
            <a:r>
              <a:rPr lang="en-US" sz="2400" b="1" dirty="0">
                <a:latin typeface="Gill Sans MT" panose="020B0502020104020203" pitchFamily="34" charset="0"/>
                <a:cs typeface="Arial" panose="020B0604020202020204" pitchFamily="34" charset="0"/>
              </a:rPr>
              <a:t>Industry Standards</a:t>
            </a:r>
          </a:p>
          <a:p>
            <a:pPr marL="800100" lvl="1" indent="-342900">
              <a:buFont typeface="Wingdings" panose="05000000000000000000" pitchFamily="2" charset="2"/>
              <a:buChar char="ü"/>
            </a:pPr>
            <a:r>
              <a:rPr lang="en-US" sz="2400" dirty="0">
                <a:latin typeface="Gill Sans MT" panose="020B0502020104020203" pitchFamily="34" charset="0"/>
                <a:cs typeface="Arial" panose="020B0604020202020204" pitchFamily="34" charset="0"/>
              </a:rPr>
              <a:t>HIPAA (Healthcare)</a:t>
            </a:r>
          </a:p>
          <a:p>
            <a:pPr marL="800100" lvl="1" indent="-342900">
              <a:buFont typeface="Wingdings" panose="05000000000000000000" pitchFamily="2" charset="2"/>
              <a:buChar char="ü"/>
            </a:pPr>
            <a:r>
              <a:rPr lang="en-US" sz="2400" dirty="0">
                <a:latin typeface="Gill Sans MT" panose="020B0502020104020203" pitchFamily="34" charset="0"/>
                <a:cs typeface="Arial" panose="020B0604020202020204" pitchFamily="34" charset="0"/>
              </a:rPr>
              <a:t>PCI DSS (Payments)</a:t>
            </a:r>
          </a:p>
          <a:p>
            <a:pPr marL="800100" lvl="1" indent="-342900">
              <a:buFont typeface="Wingdings" panose="05000000000000000000" pitchFamily="2" charset="2"/>
              <a:buChar char="ü"/>
            </a:pPr>
            <a:r>
              <a:rPr lang="en-US" sz="2400" dirty="0">
                <a:latin typeface="Gill Sans MT" panose="020B0502020104020203" pitchFamily="34" charset="0"/>
                <a:cs typeface="Arial" panose="020B0604020202020204" pitchFamily="34" charset="0"/>
              </a:rPr>
              <a:t>FINRA/SEC (Finance)</a:t>
            </a:r>
            <a:endParaRPr lang="en-IN" sz="2400" dirty="0">
              <a:latin typeface="Gill Sans MT" panose="020B0502020104020203" pitchFamily="34" charset="0"/>
            </a:endParaRPr>
          </a:p>
        </p:txBody>
      </p:sp>
    </p:spTree>
    <p:extLst>
      <p:ext uri="{BB962C8B-B14F-4D97-AF65-F5344CB8AC3E}">
        <p14:creationId xmlns:p14="http://schemas.microsoft.com/office/powerpoint/2010/main" val="2777866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A6D33-D5B6-9301-1E24-9689C21C7E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BA238B-A537-35F8-F2CF-26AEDC86BFD2}"/>
              </a:ext>
            </a:extLst>
          </p:cNvPr>
          <p:cNvSpPr txBox="1"/>
          <p:nvPr/>
        </p:nvSpPr>
        <p:spPr>
          <a:xfrm>
            <a:off x="250223" y="1003636"/>
            <a:ext cx="13935334" cy="2677656"/>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1. Shortlisting apprentices for a client-facing role</a:t>
            </a:r>
          </a:p>
          <a:p>
            <a:endParaRPr lang="en-IN" sz="2800" b="1" dirty="0">
              <a:latin typeface="Gill Sans MT" panose="020B0502020104020203" pitchFamily="34" charset="0"/>
            </a:endParaRPr>
          </a:p>
          <a:p>
            <a:r>
              <a:rPr lang="en-IN" sz="2800" i="1" dirty="0">
                <a:latin typeface="Gill Sans MT" panose="020B0502020104020203" pitchFamily="34" charset="0"/>
              </a:rPr>
              <a:t>“Both candidates meet the required qualifications and achieved similar assessment scores. </a:t>
            </a:r>
          </a:p>
          <a:p>
            <a:r>
              <a:rPr lang="en-IN" sz="2800" i="1" dirty="0">
                <a:latin typeface="Gill Sans MT" panose="020B0502020104020203" pitchFamily="34" charset="0"/>
              </a:rPr>
              <a:t>I recommend prioritising Rohan, who attended a metropolitan college and lists debating as an interest. These indicators suggest stronger client presence than Meera’s regional college background. Interview time can therefore be focused on Rohan.”</a:t>
            </a:r>
          </a:p>
        </p:txBody>
      </p:sp>
      <p:sp>
        <p:nvSpPr>
          <p:cNvPr id="6" name="TextBox 5">
            <a:extLst>
              <a:ext uri="{FF2B5EF4-FFF2-40B4-BE49-F238E27FC236}">
                <a16:creationId xmlns:a16="http://schemas.microsoft.com/office/drawing/2014/main" id="{16618359-3919-84D9-0B10-E343290E8879}"/>
              </a:ext>
            </a:extLst>
          </p:cNvPr>
          <p:cNvSpPr txBox="1"/>
          <p:nvPr/>
        </p:nvSpPr>
        <p:spPr>
          <a:xfrm>
            <a:off x="250223" y="3954160"/>
            <a:ext cx="13935334" cy="3108543"/>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2. Summarising feedback on a new reporting tool</a:t>
            </a:r>
          </a:p>
          <a:p>
            <a:endParaRPr lang="en-IN" sz="2800" dirty="0">
              <a:latin typeface="Gill Sans MT" panose="020B0502020104020203" pitchFamily="34" charset="0"/>
            </a:endParaRPr>
          </a:p>
          <a:p>
            <a:r>
              <a:rPr lang="en-IN" sz="2800" i="1" dirty="0">
                <a:latin typeface="Gill Sans MT" panose="020B0502020104020203" pitchFamily="34" charset="0"/>
              </a:rPr>
              <a:t>“Feedback indicates that the reporting tool has improved productivity. Users particularly appreciated faster report preparation and easier navigation. The pilot achieved an estimated 32% reduction in reporting time, consistent with the benchmark in the Workplace AI Productivity Review 2025. Expansion to other departments is recommended.” </a:t>
            </a:r>
            <a:r>
              <a:rPr lang="en-IN" sz="2800" b="1" i="1" dirty="0">
                <a:latin typeface="Gill Sans MT" panose="020B0502020104020203" pitchFamily="34" charset="0"/>
              </a:rPr>
              <a:t>Input supplied to AI:</a:t>
            </a:r>
            <a:r>
              <a:rPr lang="en-IN" sz="2800" i="1" dirty="0">
                <a:latin typeface="Gill Sans MT" panose="020B0502020104020203" pitchFamily="34" charset="0"/>
              </a:rPr>
              <a:t> Six informal comments; no timing measurements or external references.”</a:t>
            </a:r>
          </a:p>
        </p:txBody>
      </p:sp>
      <p:sp>
        <p:nvSpPr>
          <p:cNvPr id="4" name="TextBox 3">
            <a:extLst>
              <a:ext uri="{FF2B5EF4-FFF2-40B4-BE49-F238E27FC236}">
                <a16:creationId xmlns:a16="http://schemas.microsoft.com/office/drawing/2014/main" id="{3816FC88-C2FE-AC48-B2B7-C809100B795D}"/>
              </a:ext>
            </a:extLst>
          </p:cNvPr>
          <p:cNvSpPr txBox="1"/>
          <p:nvPr/>
        </p:nvSpPr>
        <p:spPr>
          <a:xfrm>
            <a:off x="12851035" y="1015993"/>
            <a:ext cx="1334530" cy="707886"/>
          </a:xfrm>
          <a:prstGeom prst="rect">
            <a:avLst/>
          </a:prstGeom>
          <a:noFill/>
        </p:spPr>
        <p:txBody>
          <a:bodyPr wrap="square">
            <a:spAutoFit/>
          </a:bodyPr>
          <a:lstStyle/>
          <a:p>
            <a:pPr algn="ctr"/>
            <a:r>
              <a:rPr lang="en-US" sz="4000" b="1" i="1" dirty="0">
                <a:solidFill>
                  <a:srgbClr val="002060"/>
                </a:solidFill>
                <a:effectLst>
                  <a:outerShdw blurRad="38100" dist="38100" dir="2700000" algn="tl">
                    <a:srgbClr val="000000">
                      <a:alpha val="43137"/>
                    </a:srgbClr>
                  </a:outerShdw>
                </a:effectLst>
                <a:latin typeface="Gill Sans MT" panose="020B0502020104020203" pitchFamily="34" charset="0"/>
              </a:rPr>
              <a:t>Bias</a:t>
            </a:r>
            <a:endParaRPr lang="en-IN" sz="2800" b="1" i="1" dirty="0">
              <a:solidFill>
                <a:srgbClr val="002060"/>
              </a:solidFill>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440BA038-97C3-B130-2514-92FD53F2BF84}"/>
              </a:ext>
            </a:extLst>
          </p:cNvPr>
          <p:cNvSpPr txBox="1"/>
          <p:nvPr/>
        </p:nvSpPr>
        <p:spPr>
          <a:xfrm>
            <a:off x="10775099" y="3961027"/>
            <a:ext cx="3414582" cy="707886"/>
          </a:xfrm>
          <a:prstGeom prst="rect">
            <a:avLst/>
          </a:prstGeom>
          <a:noFill/>
        </p:spPr>
        <p:txBody>
          <a:bodyPr wrap="square">
            <a:spAutoFit/>
          </a:bodyPr>
          <a:lstStyle/>
          <a:p>
            <a:pPr algn="ctr"/>
            <a:r>
              <a:rPr lang="en-US" sz="4000" b="1" i="1" dirty="0">
                <a:solidFill>
                  <a:srgbClr val="002060"/>
                </a:solidFill>
                <a:effectLst>
                  <a:outerShdw blurRad="38100" dist="38100" dir="2700000" algn="tl">
                    <a:srgbClr val="000000">
                      <a:alpha val="43137"/>
                    </a:srgbClr>
                  </a:outerShdw>
                </a:effectLst>
                <a:latin typeface="Gill Sans MT" panose="020B0502020104020203" pitchFamily="34" charset="0"/>
              </a:rPr>
              <a:t>Hallucination</a:t>
            </a:r>
            <a:endParaRPr lang="en-IN" sz="2800" b="1" i="1" dirty="0">
              <a:solidFill>
                <a:srgbClr val="002060"/>
              </a:solidFill>
              <a:effectLst>
                <a:outerShdw blurRad="38100" dist="38100" dir="2700000" algn="tl">
                  <a:srgbClr val="000000">
                    <a:alpha val="43137"/>
                  </a:srgbClr>
                </a:outerShdw>
              </a:effectLst>
            </a:endParaRPr>
          </a:p>
        </p:txBody>
      </p:sp>
      <p:sp>
        <p:nvSpPr>
          <p:cNvPr id="7" name="Text Placeholder 1">
            <a:extLst>
              <a:ext uri="{FF2B5EF4-FFF2-40B4-BE49-F238E27FC236}">
                <a16:creationId xmlns:a16="http://schemas.microsoft.com/office/drawing/2014/main" id="{53E4B337-F0B0-2AF2-F3C2-5876255BAC5C}"/>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a:t>
            </a:r>
          </a:p>
        </p:txBody>
      </p:sp>
    </p:spTree>
    <p:extLst>
      <p:ext uri="{BB962C8B-B14F-4D97-AF65-F5344CB8AC3E}">
        <p14:creationId xmlns:p14="http://schemas.microsoft.com/office/powerpoint/2010/main" val="331137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4"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26FB9-ED1C-D997-BC07-B9B70A6077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ADF365-F4A3-0DFA-A8ED-F7D71E7A712E}"/>
              </a:ext>
            </a:extLst>
          </p:cNvPr>
          <p:cNvSpPr txBox="1"/>
          <p:nvPr/>
        </p:nvSpPr>
        <p:spPr>
          <a:xfrm>
            <a:off x="250223" y="1003636"/>
            <a:ext cx="13935334" cy="2246769"/>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3. Drafting a project update for an external supplier</a:t>
            </a:r>
          </a:p>
          <a:p>
            <a:endParaRPr lang="en-IN" sz="2800" b="1" dirty="0">
              <a:latin typeface="Gill Sans MT" panose="020B0502020104020203" pitchFamily="34" charset="0"/>
            </a:endParaRPr>
          </a:p>
          <a:p>
            <a:r>
              <a:rPr lang="en-IN" sz="2800" i="1" dirty="0">
                <a:latin typeface="Gill Sans MT" panose="020B0502020104020203" pitchFamily="34" charset="0"/>
              </a:rPr>
              <a:t>“Hi Alex, the revised delivery plan is attached. For context, our internal budget ceiling is ₹18 lakh, although the negotiation target remains ₹14 lakh. Priya will temporarily cover approvals while our project lead receives medical treatment. Please coordinate directly with her to maintain progress.”</a:t>
            </a:r>
          </a:p>
        </p:txBody>
      </p:sp>
      <p:sp>
        <p:nvSpPr>
          <p:cNvPr id="6" name="TextBox 5">
            <a:extLst>
              <a:ext uri="{FF2B5EF4-FFF2-40B4-BE49-F238E27FC236}">
                <a16:creationId xmlns:a16="http://schemas.microsoft.com/office/drawing/2014/main" id="{D2639CA8-D622-DCE0-57E8-0A597ACC52C3}"/>
              </a:ext>
            </a:extLst>
          </p:cNvPr>
          <p:cNvSpPr txBox="1"/>
          <p:nvPr/>
        </p:nvSpPr>
        <p:spPr>
          <a:xfrm>
            <a:off x="250223" y="3954160"/>
            <a:ext cx="13935334" cy="2677656"/>
          </a:xfrm>
          <a:prstGeom prst="rect">
            <a:avLst/>
          </a:prstGeom>
          <a:noFill/>
          <a:ln>
            <a:solidFill>
              <a:schemeClr val="tx1"/>
            </a:solidFill>
          </a:ln>
        </p:spPr>
        <p:txBody>
          <a:bodyPr wrap="square">
            <a:spAutoFit/>
          </a:bodyPr>
          <a:lstStyle/>
          <a:p>
            <a:r>
              <a:rPr lang="en-IN" sz="2800" b="1" dirty="0">
                <a:latin typeface="Gill Sans MT" panose="020B0502020104020203" pitchFamily="34" charset="0"/>
              </a:rPr>
              <a:t>4. Recommendation for Leadership Programme Selection</a:t>
            </a:r>
          </a:p>
          <a:p>
            <a:endParaRPr lang="en-IN" sz="2800" dirty="0">
              <a:latin typeface="Gill Sans MT" panose="020B0502020104020203" pitchFamily="34" charset="0"/>
            </a:endParaRPr>
          </a:p>
          <a:p>
            <a:r>
              <a:rPr lang="en-IN" sz="2800" i="1" dirty="0">
                <a:latin typeface="Gill Sans MT" panose="020B0502020104020203" pitchFamily="34" charset="0"/>
              </a:rPr>
              <a:t>“Prioritise employees for the leadership programme using performance scores, availability for evening meetings, and career continuity. Give additional weight to profiles resembling previous successful leaders. Present the shortlist as an objective, AI-led assessment, and include only the overall suitability score in employee feedback to keep communication simple.”</a:t>
            </a:r>
          </a:p>
        </p:txBody>
      </p:sp>
      <p:sp>
        <p:nvSpPr>
          <p:cNvPr id="2" name="TextBox 1">
            <a:extLst>
              <a:ext uri="{FF2B5EF4-FFF2-40B4-BE49-F238E27FC236}">
                <a16:creationId xmlns:a16="http://schemas.microsoft.com/office/drawing/2014/main" id="{7C8E71BA-F358-30C9-ADF1-E377AF189BF3}"/>
              </a:ext>
            </a:extLst>
          </p:cNvPr>
          <p:cNvSpPr txBox="1"/>
          <p:nvPr/>
        </p:nvSpPr>
        <p:spPr>
          <a:xfrm>
            <a:off x="10552670" y="1015993"/>
            <a:ext cx="3632891" cy="707886"/>
          </a:xfrm>
          <a:prstGeom prst="rect">
            <a:avLst/>
          </a:prstGeom>
          <a:noFill/>
        </p:spPr>
        <p:txBody>
          <a:bodyPr wrap="square">
            <a:spAutoFit/>
          </a:bodyPr>
          <a:lstStyle/>
          <a:p>
            <a:pPr algn="ctr"/>
            <a:r>
              <a:rPr lang="en-US" sz="4000" b="1" i="1" dirty="0">
                <a:solidFill>
                  <a:srgbClr val="002060"/>
                </a:solidFill>
                <a:effectLst>
                  <a:outerShdw blurRad="38100" dist="38100" dir="2700000" algn="tl">
                    <a:srgbClr val="000000">
                      <a:alpha val="43137"/>
                    </a:srgbClr>
                  </a:outerShdw>
                </a:effectLst>
                <a:latin typeface="Gill Sans MT" panose="020B0502020104020203" pitchFamily="34" charset="0"/>
              </a:rPr>
              <a:t>Data Privacy</a:t>
            </a:r>
            <a:endParaRPr lang="en-IN" sz="2800" b="1" i="1" dirty="0">
              <a:solidFill>
                <a:srgbClr val="002060"/>
              </a:solidFill>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E49565EA-E899-A9A9-1D98-80B731D70FAF}"/>
              </a:ext>
            </a:extLst>
          </p:cNvPr>
          <p:cNvSpPr txBox="1"/>
          <p:nvPr/>
        </p:nvSpPr>
        <p:spPr>
          <a:xfrm>
            <a:off x="11738923" y="3962174"/>
            <a:ext cx="2446638" cy="707886"/>
          </a:xfrm>
          <a:prstGeom prst="rect">
            <a:avLst/>
          </a:prstGeom>
          <a:noFill/>
        </p:spPr>
        <p:txBody>
          <a:bodyPr wrap="square">
            <a:spAutoFit/>
          </a:bodyPr>
          <a:lstStyle/>
          <a:p>
            <a:r>
              <a:rPr lang="en-US" sz="4000" b="1" i="1" dirty="0">
                <a:solidFill>
                  <a:srgbClr val="002060"/>
                </a:solidFill>
                <a:effectLst>
                  <a:outerShdw blurRad="38100" dist="38100" dir="2700000" algn="tl">
                    <a:srgbClr val="000000">
                      <a:alpha val="43137"/>
                    </a:srgbClr>
                  </a:outerShdw>
                </a:effectLst>
                <a:latin typeface="Gill Sans MT" panose="020B0502020104020203" pitchFamily="34" charset="0"/>
              </a:rPr>
              <a:t>Unethical</a:t>
            </a:r>
            <a:endParaRPr lang="en-IN" sz="4000" b="1" i="1" dirty="0">
              <a:solidFill>
                <a:srgbClr val="002060"/>
              </a:solidFill>
              <a:effectLst>
                <a:outerShdw blurRad="38100" dist="38100" dir="2700000" algn="tl">
                  <a:srgbClr val="000000">
                    <a:alpha val="43137"/>
                  </a:srgbClr>
                </a:outerShdw>
              </a:effectLst>
              <a:latin typeface="Gill Sans MT" panose="020B0502020104020203" pitchFamily="34" charset="0"/>
            </a:endParaRPr>
          </a:p>
        </p:txBody>
      </p:sp>
      <p:sp>
        <p:nvSpPr>
          <p:cNvPr id="7" name="Text Placeholder 1">
            <a:extLst>
              <a:ext uri="{FF2B5EF4-FFF2-40B4-BE49-F238E27FC236}">
                <a16:creationId xmlns:a16="http://schemas.microsoft.com/office/drawing/2014/main" id="{4E6D764A-C6FC-B665-32F2-355E5C604626}"/>
              </a:ext>
            </a:extLst>
          </p:cNvPr>
          <p:cNvSpPr txBox="1">
            <a:spLocks/>
          </p:cNvSpPr>
          <p:nvPr/>
        </p:nvSpPr>
        <p:spPr>
          <a:xfrm>
            <a:off x="331746" y="109232"/>
            <a:ext cx="867632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a:t>
            </a:r>
          </a:p>
        </p:txBody>
      </p:sp>
    </p:spTree>
    <p:extLst>
      <p:ext uri="{BB962C8B-B14F-4D97-AF65-F5344CB8AC3E}">
        <p14:creationId xmlns:p14="http://schemas.microsoft.com/office/powerpoint/2010/main" val="344943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2"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B9D10-6292-2D8C-8930-7CA1C90A8C30}"/>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B91D0EDC-28AF-1FBA-B10D-AB371A3775B7}"/>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8:  Your First Month</a:t>
            </a:r>
          </a:p>
        </p:txBody>
      </p:sp>
      <p:sp>
        <p:nvSpPr>
          <p:cNvPr id="9" name="TextBox 8">
            <a:extLst>
              <a:ext uri="{FF2B5EF4-FFF2-40B4-BE49-F238E27FC236}">
                <a16:creationId xmlns:a16="http://schemas.microsoft.com/office/drawing/2014/main" id="{4B9CCD2A-4352-7EF6-7C62-6FD9C7997F20}"/>
              </a:ext>
            </a:extLst>
          </p:cNvPr>
          <p:cNvSpPr txBox="1"/>
          <p:nvPr/>
        </p:nvSpPr>
        <p:spPr>
          <a:xfrm>
            <a:off x="223185" y="1910829"/>
            <a:ext cx="9145886" cy="3970318"/>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Gill Sans MT" panose="020B0502020104020203" pitchFamily="34" charset="0"/>
              </a:rPr>
              <a:t>Prepare a well-structured and detailed</a:t>
            </a:r>
            <a:r>
              <a:rPr lang="en-IN" sz="2800" dirty="0">
                <a:latin typeface="Gill Sans MT" panose="020B0502020104020203" pitchFamily="34" charset="0"/>
              </a:rPr>
              <a:t> 30-days AI. </a:t>
            </a:r>
          </a:p>
          <a:p>
            <a:pPr marL="457200" indent="-457200">
              <a:buFont typeface="Arial" panose="020B0604020202020204" pitchFamily="34" charset="0"/>
              <a:buChar char="•"/>
            </a:pPr>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Ensure your plan covers the following points</a:t>
            </a:r>
          </a:p>
          <a:p>
            <a:pPr marL="914400" lvl="1" indent="-457200">
              <a:buFont typeface="Wingdings" panose="05000000000000000000" pitchFamily="2" charset="2"/>
              <a:buChar char="ü"/>
            </a:pPr>
            <a:endParaRPr lang="en-IN" sz="2800" dirty="0">
              <a:latin typeface="Gill Sans MT" panose="020B0502020104020203" pitchFamily="34" charset="0"/>
            </a:endParaRPr>
          </a:p>
          <a:p>
            <a:pPr marL="914400" lvl="1" indent="-457200">
              <a:buFont typeface="Wingdings" panose="05000000000000000000" pitchFamily="2" charset="2"/>
              <a:buChar char="ü"/>
            </a:pPr>
            <a:r>
              <a:rPr lang="en-IN" sz="2800" dirty="0">
                <a:latin typeface="Gill Sans MT" panose="020B0502020104020203" pitchFamily="34" charset="0"/>
              </a:rPr>
              <a:t>Drafting a Practical Use-case</a:t>
            </a:r>
          </a:p>
          <a:p>
            <a:pPr marL="914400" lvl="1" indent="-457200">
              <a:buFont typeface="Wingdings" panose="05000000000000000000" pitchFamily="2" charset="2"/>
              <a:buChar char="ü"/>
            </a:pPr>
            <a:r>
              <a:rPr lang="en-IN" sz="2800" dirty="0">
                <a:latin typeface="Gill Sans MT" panose="020B0502020104020203" pitchFamily="34" charset="0"/>
              </a:rPr>
              <a:t>Solutioning</a:t>
            </a:r>
          </a:p>
          <a:p>
            <a:pPr marL="914400" lvl="1" indent="-457200">
              <a:buFont typeface="Wingdings" panose="05000000000000000000" pitchFamily="2" charset="2"/>
              <a:buChar char="ü"/>
            </a:pPr>
            <a:r>
              <a:rPr lang="en-IN" sz="2800" dirty="0">
                <a:latin typeface="Gill Sans MT" panose="020B0502020104020203" pitchFamily="34" charset="0"/>
              </a:rPr>
              <a:t>Data Source</a:t>
            </a:r>
          </a:p>
          <a:p>
            <a:pPr marL="914400" lvl="1" indent="-457200">
              <a:buFont typeface="Wingdings" panose="05000000000000000000" pitchFamily="2" charset="2"/>
              <a:buChar char="ü"/>
            </a:pPr>
            <a:r>
              <a:rPr lang="en-IN" sz="2800" dirty="0">
                <a:latin typeface="Gill Sans MT" panose="020B0502020104020203" pitchFamily="34" charset="0"/>
              </a:rPr>
              <a:t>Safety rules to be followed</a:t>
            </a:r>
          </a:p>
          <a:p>
            <a:pPr marL="914400" lvl="1" indent="-457200">
              <a:buFont typeface="Wingdings" panose="05000000000000000000" pitchFamily="2" charset="2"/>
              <a:buChar char="ü"/>
            </a:pPr>
            <a:r>
              <a:rPr lang="en-IN" sz="2800" dirty="0">
                <a:latin typeface="Gill Sans MT" panose="020B0502020104020203" pitchFamily="34" charset="0"/>
              </a:rPr>
              <a:t>Potential risks</a:t>
            </a:r>
          </a:p>
        </p:txBody>
      </p:sp>
      <p:pic>
        <p:nvPicPr>
          <p:cNvPr id="3" name="Picture 2">
            <a:extLst>
              <a:ext uri="{FF2B5EF4-FFF2-40B4-BE49-F238E27FC236}">
                <a16:creationId xmlns:a16="http://schemas.microsoft.com/office/drawing/2014/main" id="{65949EA3-C044-B316-66AA-2BF3891332AE}"/>
              </a:ext>
            </a:extLst>
          </p:cNvPr>
          <p:cNvPicPr>
            <a:picLocks noChangeAspect="1"/>
          </p:cNvPicPr>
          <p:nvPr/>
        </p:nvPicPr>
        <p:blipFill>
          <a:blip r:embed="rId3"/>
          <a:stretch>
            <a:fillRect/>
          </a:stretch>
        </p:blipFill>
        <p:spPr>
          <a:xfrm>
            <a:off x="10736605" y="1586584"/>
            <a:ext cx="2756974" cy="2095729"/>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a:contourClr>
              <a:srgbClr val="969696"/>
            </a:contourClr>
          </a:sp3d>
        </p:spPr>
      </p:pic>
      <p:sp>
        <p:nvSpPr>
          <p:cNvPr id="6" name="TextBox 5">
            <a:extLst>
              <a:ext uri="{FF2B5EF4-FFF2-40B4-BE49-F238E27FC236}">
                <a16:creationId xmlns:a16="http://schemas.microsoft.com/office/drawing/2014/main" id="{66AA1C14-0E96-8325-3DDD-284C8BB17EC9}"/>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My AI Commitment</a:t>
            </a:r>
          </a:p>
        </p:txBody>
      </p:sp>
    </p:spTree>
    <p:extLst>
      <p:ext uri="{BB962C8B-B14F-4D97-AF65-F5344CB8AC3E}">
        <p14:creationId xmlns:p14="http://schemas.microsoft.com/office/powerpoint/2010/main" val="970325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3CB1-4D8A-D671-8452-212A0412BC00}"/>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00D4481-50C1-8099-7DA2-25CA42A1767C}"/>
              </a:ext>
            </a:extLst>
          </p:cNvPr>
          <p:cNvSpPr/>
          <p:nvPr/>
        </p:nvSpPr>
        <p:spPr>
          <a:xfrm>
            <a:off x="1063806" y="205989"/>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Gill Sans MT" panose="020B0502020104020203" pitchFamily="34" charset="0"/>
              </a:rPr>
              <a:t>4. Judgement &amp; Data</a:t>
            </a:r>
            <a:endParaRPr lang="en-IN" sz="2000" b="1" dirty="0">
              <a:solidFill>
                <a:srgbClr val="FFFF00"/>
              </a:solidFill>
              <a:latin typeface="Gill Sans MT" panose="020B0502020104020203" pitchFamily="34" charset="0"/>
            </a:endParaRPr>
          </a:p>
        </p:txBody>
      </p:sp>
      <p:sp>
        <p:nvSpPr>
          <p:cNvPr id="9" name="TextBox 8">
            <a:extLst>
              <a:ext uri="{FF2B5EF4-FFF2-40B4-BE49-F238E27FC236}">
                <a16:creationId xmlns:a16="http://schemas.microsoft.com/office/drawing/2014/main" id="{0BED6A6B-D55E-3AF4-357C-5819BB5756C9}"/>
              </a:ext>
            </a:extLst>
          </p:cNvPr>
          <p:cNvSpPr txBox="1"/>
          <p:nvPr/>
        </p:nvSpPr>
        <p:spPr>
          <a:xfrm>
            <a:off x="543395" y="1310503"/>
            <a:ext cx="9786853" cy="584775"/>
          </a:xfrm>
          <a:prstGeom prst="rect">
            <a:avLst/>
          </a:prstGeom>
          <a:noFill/>
        </p:spPr>
        <p:txBody>
          <a:bodyPr wrap="square">
            <a:spAutoFit/>
          </a:bodyPr>
          <a:lstStyle/>
          <a:p>
            <a:pPr marL="457200" indent="-457200">
              <a:buFont typeface="Arial" panose="020B0604020202020204" pitchFamily="34" charset="0"/>
              <a:buChar char="•"/>
            </a:pPr>
            <a:r>
              <a:rPr lang="en-IN" sz="3200" dirty="0">
                <a:latin typeface="Gill Sans MT" panose="020B0502020104020203" pitchFamily="34" charset="0"/>
              </a:rPr>
              <a:t>Activities / Discussion / Interaction / QA</a:t>
            </a:r>
          </a:p>
        </p:txBody>
      </p:sp>
      <p:sp>
        <p:nvSpPr>
          <p:cNvPr id="27" name="Rectangle: Rounded Corners 26">
            <a:extLst>
              <a:ext uri="{FF2B5EF4-FFF2-40B4-BE49-F238E27FC236}">
                <a16:creationId xmlns:a16="http://schemas.microsoft.com/office/drawing/2014/main" id="{A4AF8C1D-9A67-1227-9C4D-945F052854D4}"/>
              </a:ext>
            </a:extLst>
          </p:cNvPr>
          <p:cNvSpPr/>
          <p:nvPr/>
        </p:nvSpPr>
        <p:spPr>
          <a:xfrm>
            <a:off x="1210960" y="2392377"/>
            <a:ext cx="5918887"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1. Snap Judgement Poll</a:t>
            </a:r>
            <a:endParaRPr lang="en-IN" sz="2400" i="1" dirty="0">
              <a:latin typeface="Gill Sans MT" panose="020B0502020104020203" pitchFamily="34" charset="0"/>
            </a:endParaRPr>
          </a:p>
        </p:txBody>
      </p:sp>
      <p:sp>
        <p:nvSpPr>
          <p:cNvPr id="29" name="Rectangle: Rounded Corners 28">
            <a:extLst>
              <a:ext uri="{FF2B5EF4-FFF2-40B4-BE49-F238E27FC236}">
                <a16:creationId xmlns:a16="http://schemas.microsoft.com/office/drawing/2014/main" id="{5EB00BE7-BA87-C6E8-CA3E-24B3425CEB4C}"/>
              </a:ext>
            </a:extLst>
          </p:cNvPr>
          <p:cNvSpPr/>
          <p:nvPr/>
        </p:nvSpPr>
        <p:spPr>
          <a:xfrm>
            <a:off x="7525262" y="2392376"/>
            <a:ext cx="5918883"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2. Data or Assumption</a:t>
            </a:r>
            <a:endParaRPr lang="en-IN" i="1" dirty="0">
              <a:latin typeface="Gill Sans MT" panose="020B0502020104020203" pitchFamily="34" charset="0"/>
            </a:endParaRPr>
          </a:p>
        </p:txBody>
      </p:sp>
      <p:sp>
        <p:nvSpPr>
          <p:cNvPr id="31" name="Rectangle: Rounded Corners 30">
            <a:extLst>
              <a:ext uri="{FF2B5EF4-FFF2-40B4-BE49-F238E27FC236}">
                <a16:creationId xmlns:a16="http://schemas.microsoft.com/office/drawing/2014/main" id="{9EFDB772-B3D9-A58E-E285-EEE268A45B7C}"/>
              </a:ext>
            </a:extLst>
          </p:cNvPr>
          <p:cNvSpPr/>
          <p:nvPr/>
        </p:nvSpPr>
        <p:spPr>
          <a:xfrm>
            <a:off x="1210960" y="3579527"/>
            <a:ext cx="5918886"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3. Misleading Dashboard Challenge</a:t>
            </a:r>
            <a:endParaRPr lang="en-IN" sz="2400" i="1" dirty="0">
              <a:latin typeface="Gill Sans MT" panose="020B0502020104020203" pitchFamily="34" charset="0"/>
            </a:endParaRPr>
          </a:p>
        </p:txBody>
      </p:sp>
      <p:sp>
        <p:nvSpPr>
          <p:cNvPr id="33" name="Rectangle: Rounded Corners 32">
            <a:extLst>
              <a:ext uri="{FF2B5EF4-FFF2-40B4-BE49-F238E27FC236}">
                <a16:creationId xmlns:a16="http://schemas.microsoft.com/office/drawing/2014/main" id="{FF0CEA50-D9DF-66B6-CA61-C4C48B75765C}"/>
              </a:ext>
            </a:extLst>
          </p:cNvPr>
          <p:cNvSpPr/>
          <p:nvPr/>
        </p:nvSpPr>
        <p:spPr>
          <a:xfrm>
            <a:off x="7525262" y="3579526"/>
            <a:ext cx="5918884"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4. Decision Under Uncertainty</a:t>
            </a:r>
            <a:endParaRPr lang="en-IN" sz="2400" i="1" dirty="0">
              <a:latin typeface="Gill Sans MT" panose="020B0502020104020203" pitchFamily="34" charset="0"/>
            </a:endParaRPr>
          </a:p>
        </p:txBody>
      </p:sp>
      <p:sp>
        <p:nvSpPr>
          <p:cNvPr id="37" name="Rectangle: Rounded Corners 36">
            <a:extLst>
              <a:ext uri="{FF2B5EF4-FFF2-40B4-BE49-F238E27FC236}">
                <a16:creationId xmlns:a16="http://schemas.microsoft.com/office/drawing/2014/main" id="{85AB7F73-3C7F-AE81-995F-9A2399305696}"/>
              </a:ext>
            </a:extLst>
          </p:cNvPr>
          <p:cNvSpPr/>
          <p:nvPr/>
        </p:nvSpPr>
        <p:spPr>
          <a:xfrm>
            <a:off x="1210961" y="4766677"/>
            <a:ext cx="5918885" cy="593125"/>
          </a:xfrm>
          <a:prstGeom prst="roundRect">
            <a:avLst/>
          </a:prstGeom>
          <a:solidFill>
            <a:schemeClr val="accent1">
              <a:lumMod val="75000"/>
            </a:schemeClr>
          </a:solidFill>
          <a:effectLst>
            <a:outerShdw blurRad="152400" dist="317500" dir="5400000" sx="90000" sy="-19000"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5. One-Minute Judgement Rule</a:t>
            </a:r>
            <a:endParaRPr lang="en-IN" sz="2400" i="1" dirty="0">
              <a:latin typeface="Gill Sans MT" panose="020B0502020104020203" pitchFamily="34" charset="0"/>
            </a:endParaRPr>
          </a:p>
        </p:txBody>
      </p:sp>
      <p:pic>
        <p:nvPicPr>
          <p:cNvPr id="4" name="Picture 3">
            <a:extLst>
              <a:ext uri="{FF2B5EF4-FFF2-40B4-BE49-F238E27FC236}">
                <a16:creationId xmlns:a16="http://schemas.microsoft.com/office/drawing/2014/main" id="{72253978-E1EE-8F3A-955C-283131651032}"/>
              </a:ext>
            </a:extLst>
          </p:cNvPr>
          <p:cNvPicPr>
            <a:picLocks noChangeAspect="1"/>
          </p:cNvPicPr>
          <p:nvPr/>
        </p:nvPicPr>
        <p:blipFill>
          <a:blip r:embed="rId3"/>
          <a:stretch>
            <a:fillRect/>
          </a:stretch>
        </p:blipFill>
        <p:spPr>
          <a:xfrm>
            <a:off x="82501" y="36160"/>
            <a:ext cx="867959" cy="78571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424961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69C3E-4B0F-C3CA-8B86-8A382C1D94F7}"/>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920DBA10-0DC6-CDE1-8AA8-DD011F025379}"/>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1:  Snap Judgement</a:t>
            </a:r>
          </a:p>
        </p:txBody>
      </p:sp>
      <p:sp>
        <p:nvSpPr>
          <p:cNvPr id="3" name="TextBox 2">
            <a:extLst>
              <a:ext uri="{FF2B5EF4-FFF2-40B4-BE49-F238E27FC236}">
                <a16:creationId xmlns:a16="http://schemas.microsoft.com/office/drawing/2014/main" id="{A5D01084-E22D-C458-8E54-97786552794F}"/>
              </a:ext>
            </a:extLst>
          </p:cNvPr>
          <p:cNvSpPr txBox="1"/>
          <p:nvPr/>
        </p:nvSpPr>
        <p:spPr>
          <a:xfrm>
            <a:off x="331746" y="2106527"/>
            <a:ext cx="8972892" cy="4832092"/>
          </a:xfrm>
          <a:prstGeom prst="rect">
            <a:avLst/>
          </a:prstGeom>
          <a:noFill/>
          <a:ln>
            <a:noFill/>
          </a:ln>
        </p:spPr>
        <p:txBody>
          <a:bodyPr wrap="square">
            <a:spAutoFit/>
          </a:bodyPr>
          <a:lstStyle/>
          <a:p>
            <a:pPr>
              <a:buNone/>
            </a:pPr>
            <a:r>
              <a:rPr lang="en-IN" sz="2800" b="1" i="1" u="sng" dirty="0">
                <a:latin typeface="Gill Sans MT" panose="020B0502020104020203" pitchFamily="34" charset="0"/>
              </a:rPr>
              <a:t>You have 30-seconds to make a decision</a:t>
            </a:r>
          </a:p>
          <a:p>
            <a:pPr>
              <a:buNone/>
            </a:pPr>
            <a:endParaRPr lang="en-IN" sz="2800" i="1" dirty="0">
              <a:latin typeface="Gill Sans MT" panose="020B0502020104020203" pitchFamily="34" charset="0"/>
            </a:endParaRPr>
          </a:p>
          <a:p>
            <a:pPr>
              <a:buNone/>
            </a:pPr>
            <a:r>
              <a:rPr lang="en-IN" sz="2800" i="1" dirty="0">
                <a:latin typeface="Gill Sans MT" panose="020B0502020104020203" pitchFamily="34" charset="0"/>
              </a:rPr>
              <a:t>A team tested an AI tool for preparing weekly reports.</a:t>
            </a:r>
          </a:p>
          <a:p>
            <a:pPr marL="342900" lvl="0" indent="-342900">
              <a:buFont typeface="Arial" panose="020B0604020202020204" pitchFamily="34" charset="0"/>
              <a:buChar char="•"/>
            </a:pPr>
            <a:r>
              <a:rPr lang="en-IN" sz="2800" i="1" dirty="0">
                <a:latin typeface="Gill Sans MT" panose="020B0502020104020203" pitchFamily="34" charset="0"/>
              </a:rPr>
              <a:t>Report preparation time dropped from </a:t>
            </a:r>
            <a:r>
              <a:rPr lang="en-IN" sz="2800" b="1" i="1" dirty="0">
                <a:latin typeface="Gill Sans MT" panose="020B0502020104020203" pitchFamily="34" charset="0"/>
              </a:rPr>
              <a:t>5 hours to 2 hours</a:t>
            </a:r>
            <a:r>
              <a:rPr lang="en-IN" sz="2800" i="1" dirty="0">
                <a:latin typeface="Gill Sans MT" panose="020B0502020104020203" pitchFamily="34" charset="0"/>
              </a:rPr>
              <a:t>.</a:t>
            </a:r>
          </a:p>
          <a:p>
            <a:pPr marL="342900" lvl="0" indent="-342900">
              <a:buFont typeface="Arial" panose="020B0604020202020204" pitchFamily="34" charset="0"/>
              <a:buChar char="•"/>
            </a:pPr>
            <a:r>
              <a:rPr lang="en-IN" sz="2800" i="1" dirty="0">
                <a:latin typeface="Gill Sans MT" panose="020B0502020104020203" pitchFamily="34" charset="0"/>
              </a:rPr>
              <a:t>The tool costs </a:t>
            </a:r>
            <a:r>
              <a:rPr lang="en-IN" sz="2800" b="1" i="1" dirty="0">
                <a:latin typeface="Gill Sans MT" panose="020B0502020104020203" pitchFamily="34" charset="0"/>
              </a:rPr>
              <a:t>₹5,000 per month</a:t>
            </a:r>
            <a:r>
              <a:rPr lang="en-IN" sz="2800" i="1" dirty="0">
                <a:latin typeface="Gill Sans MT" panose="020B0502020104020203" pitchFamily="34" charset="0"/>
              </a:rPr>
              <a:t>.</a:t>
            </a:r>
          </a:p>
          <a:p>
            <a:pPr marL="342900" lvl="0" indent="-342900">
              <a:buFont typeface="Arial" panose="020B0604020202020204" pitchFamily="34" charset="0"/>
              <a:buChar char="•"/>
            </a:pPr>
            <a:r>
              <a:rPr lang="en-IN" sz="2800" i="1" dirty="0">
                <a:latin typeface="Gill Sans MT" panose="020B0502020104020203" pitchFamily="34" charset="0"/>
              </a:rPr>
              <a:t>The team leader says: “It saves time. Let’s purchase it.”</a:t>
            </a:r>
          </a:p>
          <a:p>
            <a:pPr marL="342900" lvl="0" indent="-342900">
              <a:buFont typeface="Arial" panose="020B0604020202020204" pitchFamily="34" charset="0"/>
              <a:buChar char="•"/>
            </a:pPr>
            <a:endParaRPr lang="en-IN" sz="2800" i="1" dirty="0">
              <a:latin typeface="Gill Sans MT" panose="020B0502020104020203" pitchFamily="34" charset="0"/>
            </a:endParaRPr>
          </a:p>
          <a:p>
            <a:r>
              <a:rPr lang="en-IN" sz="2800" b="1" i="1" dirty="0">
                <a:latin typeface="Gill Sans MT" panose="020B0502020104020203" pitchFamily="34" charset="0"/>
              </a:rPr>
              <a:t>Would you approve the purchase?</a:t>
            </a:r>
            <a:endParaRPr lang="en-IN" sz="2800" i="1" dirty="0">
              <a:latin typeface="Gill Sans MT" panose="020B0502020104020203" pitchFamily="34" charset="0"/>
            </a:endParaRPr>
          </a:p>
          <a:p>
            <a:r>
              <a:rPr lang="en-IN" sz="2800" i="1" dirty="0">
                <a:latin typeface="Gill Sans MT" panose="020B0502020104020203" pitchFamily="34" charset="0"/>
              </a:rPr>
              <a:t>A. Yes</a:t>
            </a:r>
            <a:br>
              <a:rPr lang="en-IN" sz="2800" i="1" dirty="0">
                <a:latin typeface="Gill Sans MT" panose="020B0502020104020203" pitchFamily="34" charset="0"/>
              </a:rPr>
            </a:br>
            <a:r>
              <a:rPr lang="en-IN" sz="2800" i="1" dirty="0">
                <a:latin typeface="Gill Sans MT" panose="020B0502020104020203" pitchFamily="34" charset="0"/>
              </a:rPr>
              <a:t>B. No</a:t>
            </a:r>
            <a:br>
              <a:rPr lang="en-IN" sz="2800" i="1" dirty="0">
                <a:latin typeface="Gill Sans MT" panose="020B0502020104020203" pitchFamily="34" charset="0"/>
              </a:rPr>
            </a:br>
            <a:r>
              <a:rPr lang="en-IN" sz="2800" i="1" dirty="0">
                <a:latin typeface="Gill Sans MT" panose="020B0502020104020203" pitchFamily="34" charset="0"/>
              </a:rPr>
              <a:t>C. Need more information</a:t>
            </a:r>
          </a:p>
        </p:txBody>
      </p:sp>
      <p:pic>
        <p:nvPicPr>
          <p:cNvPr id="14" name="Picture 13">
            <a:extLst>
              <a:ext uri="{FF2B5EF4-FFF2-40B4-BE49-F238E27FC236}">
                <a16:creationId xmlns:a16="http://schemas.microsoft.com/office/drawing/2014/main" id="{EA63B477-BEF8-9717-F630-E8E991F13FEA}"/>
              </a:ext>
            </a:extLst>
          </p:cNvPr>
          <p:cNvPicPr>
            <a:picLocks noChangeAspect="1"/>
          </p:cNvPicPr>
          <p:nvPr/>
        </p:nvPicPr>
        <p:blipFill>
          <a:blip r:embed="rId3"/>
          <a:stretch>
            <a:fillRect/>
          </a:stretch>
        </p:blipFill>
        <p:spPr>
          <a:xfrm>
            <a:off x="10736605" y="1586585"/>
            <a:ext cx="2978073" cy="1911338"/>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Box 4">
            <a:extLst>
              <a:ext uri="{FF2B5EF4-FFF2-40B4-BE49-F238E27FC236}">
                <a16:creationId xmlns:a16="http://schemas.microsoft.com/office/drawing/2014/main" id="{9D33B575-E3EC-542C-75D5-9EA525945EC7}"/>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Are Fast Judgements good?</a:t>
            </a:r>
          </a:p>
        </p:txBody>
      </p:sp>
    </p:spTree>
    <p:extLst>
      <p:ext uri="{BB962C8B-B14F-4D97-AF65-F5344CB8AC3E}">
        <p14:creationId xmlns:p14="http://schemas.microsoft.com/office/powerpoint/2010/main" val="103553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06006-E4A5-122B-2738-FB608B55AAB4}"/>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700A6B22-7CB1-4D53-22F9-944DBB817E4E}"/>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2:  Data or Assumption?</a:t>
            </a:r>
          </a:p>
        </p:txBody>
      </p:sp>
      <p:pic>
        <p:nvPicPr>
          <p:cNvPr id="5" name="Picture 4">
            <a:extLst>
              <a:ext uri="{FF2B5EF4-FFF2-40B4-BE49-F238E27FC236}">
                <a16:creationId xmlns:a16="http://schemas.microsoft.com/office/drawing/2014/main" id="{0CC52C75-4591-488D-682D-6721C1B9FAFC}"/>
              </a:ext>
            </a:extLst>
          </p:cNvPr>
          <p:cNvPicPr>
            <a:picLocks noChangeAspect="1"/>
          </p:cNvPicPr>
          <p:nvPr/>
        </p:nvPicPr>
        <p:blipFill>
          <a:blip r:embed="rId3"/>
          <a:stretch>
            <a:fillRect/>
          </a:stretch>
        </p:blipFill>
        <p:spPr>
          <a:xfrm>
            <a:off x="10736604" y="1586586"/>
            <a:ext cx="2978073" cy="1911338"/>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a:contourClr>
              <a:srgbClr val="969696"/>
            </a:contourClr>
          </a:sp3d>
        </p:spPr>
      </p:pic>
      <p:sp>
        <p:nvSpPr>
          <p:cNvPr id="7" name="TextBox 6">
            <a:extLst>
              <a:ext uri="{FF2B5EF4-FFF2-40B4-BE49-F238E27FC236}">
                <a16:creationId xmlns:a16="http://schemas.microsoft.com/office/drawing/2014/main" id="{98BE6B3A-D9E1-181B-803C-BD60E553E71B}"/>
              </a:ext>
            </a:extLst>
          </p:cNvPr>
          <p:cNvSpPr txBox="1"/>
          <p:nvPr/>
        </p:nvSpPr>
        <p:spPr>
          <a:xfrm>
            <a:off x="331746" y="1903625"/>
            <a:ext cx="9998503" cy="3539430"/>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10 statements are given from a Business Case.</a:t>
            </a:r>
          </a:p>
          <a:p>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Classify whether it is a </a:t>
            </a:r>
          </a:p>
          <a:p>
            <a:pPr marL="914400" lvl="1" indent="-457200">
              <a:buFont typeface="Wingdings" panose="05000000000000000000" pitchFamily="2" charset="2"/>
              <a:buChar char="ü"/>
            </a:pPr>
            <a:r>
              <a:rPr lang="en-IN" sz="2800" b="1" dirty="0">
                <a:latin typeface="Gill Sans MT" panose="020B0502020104020203" pitchFamily="34" charset="0"/>
              </a:rPr>
              <a:t>F</a:t>
            </a:r>
            <a:r>
              <a:rPr lang="en-IN" sz="2800" dirty="0">
                <a:latin typeface="Gill Sans MT" panose="020B0502020104020203" pitchFamily="34" charset="0"/>
              </a:rPr>
              <a:t>act (F)</a:t>
            </a:r>
          </a:p>
          <a:p>
            <a:pPr marL="914400" lvl="1" indent="-457200">
              <a:buFont typeface="Wingdings" panose="05000000000000000000" pitchFamily="2" charset="2"/>
              <a:buChar char="ü"/>
            </a:pPr>
            <a:r>
              <a:rPr lang="en-IN" sz="2800" b="1" dirty="0">
                <a:latin typeface="Gill Sans MT" panose="020B0502020104020203" pitchFamily="34" charset="0"/>
              </a:rPr>
              <a:t>O</a:t>
            </a:r>
            <a:r>
              <a:rPr lang="en-IN" sz="2800" dirty="0">
                <a:latin typeface="Gill Sans MT" panose="020B0502020104020203" pitchFamily="34" charset="0"/>
              </a:rPr>
              <a:t>pinion (O)</a:t>
            </a:r>
          </a:p>
          <a:p>
            <a:pPr marL="914400" lvl="1" indent="-457200">
              <a:buFont typeface="Wingdings" panose="05000000000000000000" pitchFamily="2" charset="2"/>
              <a:buChar char="ü"/>
            </a:pPr>
            <a:r>
              <a:rPr lang="en-IN" sz="2800" b="1" dirty="0">
                <a:latin typeface="Gill Sans MT" panose="020B0502020104020203" pitchFamily="34" charset="0"/>
              </a:rPr>
              <a:t>A</a:t>
            </a:r>
            <a:r>
              <a:rPr lang="en-IN" sz="2800" dirty="0">
                <a:latin typeface="Gill Sans MT" panose="020B0502020104020203" pitchFamily="34" charset="0"/>
              </a:rPr>
              <a:t>ssumption (A)</a:t>
            </a:r>
          </a:p>
          <a:p>
            <a:pPr marL="914400" lvl="1" indent="-457200">
              <a:buFont typeface="Wingdings" panose="05000000000000000000" pitchFamily="2" charset="2"/>
              <a:buChar char="ü"/>
            </a:pPr>
            <a:r>
              <a:rPr lang="en-IN" sz="2800" b="1" dirty="0">
                <a:latin typeface="Gill Sans MT" panose="020B0502020104020203" pitchFamily="34" charset="0"/>
              </a:rPr>
              <a:t>M</a:t>
            </a:r>
            <a:r>
              <a:rPr lang="en-IN" sz="2800" dirty="0">
                <a:latin typeface="Gill Sans MT" panose="020B0502020104020203" pitchFamily="34" charset="0"/>
              </a:rPr>
              <a:t>issing data (M)</a:t>
            </a:r>
          </a:p>
          <a:p>
            <a:endParaRPr lang="en-IN" sz="2800" dirty="0">
              <a:latin typeface="Gill Sans MT" panose="020B0502020104020203" pitchFamily="34" charset="0"/>
            </a:endParaRPr>
          </a:p>
        </p:txBody>
      </p:sp>
      <p:sp>
        <p:nvSpPr>
          <p:cNvPr id="3" name="TextBox 2">
            <a:extLst>
              <a:ext uri="{FF2B5EF4-FFF2-40B4-BE49-F238E27FC236}">
                <a16:creationId xmlns:a16="http://schemas.microsoft.com/office/drawing/2014/main" id="{4DAD3E13-E626-C28C-D6C6-59A8E2B6756C}"/>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b="1" dirty="0">
                <a:latin typeface="Gill Sans MT" panose="020B0502020104020203" pitchFamily="34" charset="0"/>
              </a:rPr>
              <a:t>FOAM</a:t>
            </a:r>
            <a:r>
              <a:rPr lang="en-IN" sz="3200" dirty="0">
                <a:latin typeface="Gill Sans MT" panose="020B0502020104020203" pitchFamily="34" charset="0"/>
              </a:rPr>
              <a:t> – Separate Evidence from Interpretation</a:t>
            </a:r>
          </a:p>
        </p:txBody>
      </p:sp>
    </p:spTree>
    <p:extLst>
      <p:ext uri="{BB962C8B-B14F-4D97-AF65-F5344CB8AC3E}">
        <p14:creationId xmlns:p14="http://schemas.microsoft.com/office/powerpoint/2010/main" val="3702993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41D58-25E2-EC0D-8292-3127DE1D97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3530D1-BB17-DD8B-01FC-558BC3EE279B}"/>
              </a:ext>
            </a:extLst>
          </p:cNvPr>
          <p:cNvSpPr txBox="1"/>
          <p:nvPr/>
        </p:nvSpPr>
        <p:spPr>
          <a:xfrm>
            <a:off x="579222" y="1311978"/>
            <a:ext cx="3955708" cy="2009061"/>
          </a:xfrm>
          <a:prstGeom prst="roundRect">
            <a:avLst/>
          </a:prstGeom>
          <a:noFill/>
          <a:ln>
            <a:solidFill>
              <a:schemeClr val="tx1"/>
            </a:solidFill>
          </a:ln>
          <a:effectLst>
            <a:outerShdw blurRad="76200" dir="13500000" sy="23000" kx="1200000" algn="br" rotWithShape="0">
              <a:prstClr val="black">
                <a:alpha val="20000"/>
              </a:prstClr>
            </a:outerShdw>
          </a:effectLst>
        </p:spPr>
        <p:txBody>
          <a:bodyPr wrap="square">
            <a:spAutoFit/>
          </a:bodyPr>
          <a:lstStyle/>
          <a:p>
            <a:r>
              <a:rPr lang="en-IN" sz="2800" dirty="0">
                <a:latin typeface="Gill Sans MT" panose="020B0502020104020203" pitchFamily="34" charset="0"/>
              </a:rPr>
              <a:t>Support records show that the team received 2,400 customer enquiries last month.</a:t>
            </a:r>
          </a:p>
        </p:txBody>
      </p:sp>
      <p:sp>
        <p:nvSpPr>
          <p:cNvPr id="7" name="TextBox 6">
            <a:extLst>
              <a:ext uri="{FF2B5EF4-FFF2-40B4-BE49-F238E27FC236}">
                <a16:creationId xmlns:a16="http://schemas.microsoft.com/office/drawing/2014/main" id="{332D68AC-0031-0436-703F-65891D34404D}"/>
              </a:ext>
            </a:extLst>
          </p:cNvPr>
          <p:cNvSpPr txBox="1"/>
          <p:nvPr/>
        </p:nvSpPr>
        <p:spPr>
          <a:xfrm>
            <a:off x="9653716" y="1311978"/>
            <a:ext cx="3679226" cy="1532334"/>
          </a:xfrm>
          <a:prstGeom prst="roundRect">
            <a:avLst/>
          </a:prstGeom>
          <a:noFill/>
          <a:ln>
            <a:solidFill>
              <a:schemeClr val="tx1"/>
            </a:solidFill>
          </a:ln>
        </p:spPr>
        <p:txBody>
          <a:bodyPr wrap="square">
            <a:spAutoFit/>
          </a:bodyPr>
          <a:lstStyle/>
          <a:p>
            <a:r>
              <a:rPr lang="en-IN" sz="2800" dirty="0">
                <a:latin typeface="Gill Sans MT" panose="020B0502020104020203" pitchFamily="34" charset="0"/>
              </a:rPr>
              <a:t>Customers will prefer the chatbot because it responds immediately.</a:t>
            </a:r>
          </a:p>
        </p:txBody>
      </p:sp>
      <p:sp>
        <p:nvSpPr>
          <p:cNvPr id="9" name="TextBox 8">
            <a:extLst>
              <a:ext uri="{FF2B5EF4-FFF2-40B4-BE49-F238E27FC236}">
                <a16:creationId xmlns:a16="http://schemas.microsoft.com/office/drawing/2014/main" id="{CB85E29C-DA40-FE5A-CD05-B4D9A6586D68}"/>
              </a:ext>
            </a:extLst>
          </p:cNvPr>
          <p:cNvSpPr txBox="1"/>
          <p:nvPr/>
        </p:nvSpPr>
        <p:spPr>
          <a:xfrm>
            <a:off x="5972948" y="3251843"/>
            <a:ext cx="2999604" cy="2009061"/>
          </a:xfrm>
          <a:prstGeom prst="roundRect">
            <a:avLst/>
          </a:prstGeom>
          <a:noFill/>
          <a:ln>
            <a:solidFill>
              <a:schemeClr val="tx1"/>
            </a:solidFill>
          </a:ln>
        </p:spPr>
        <p:txBody>
          <a:bodyPr wrap="square">
            <a:spAutoFit/>
          </a:bodyPr>
          <a:lstStyle/>
          <a:p>
            <a:r>
              <a:rPr lang="en-IN" sz="2800" dirty="0">
                <a:latin typeface="Gill Sans MT" panose="020B0502020104020203" pitchFamily="34" charset="0"/>
              </a:rPr>
              <a:t>A chatbot is the best way to modernise our customer service.</a:t>
            </a:r>
          </a:p>
        </p:txBody>
      </p:sp>
      <p:sp>
        <p:nvSpPr>
          <p:cNvPr id="11" name="TextBox 10">
            <a:extLst>
              <a:ext uri="{FF2B5EF4-FFF2-40B4-BE49-F238E27FC236}">
                <a16:creationId xmlns:a16="http://schemas.microsoft.com/office/drawing/2014/main" id="{88E5C528-D266-8CC8-C347-00436F14D0E2}"/>
              </a:ext>
            </a:extLst>
          </p:cNvPr>
          <p:cNvSpPr txBox="1"/>
          <p:nvPr/>
        </p:nvSpPr>
        <p:spPr>
          <a:xfrm>
            <a:off x="2079024" y="4256374"/>
            <a:ext cx="2999604" cy="2485787"/>
          </a:xfrm>
          <a:prstGeom prst="roundRect">
            <a:avLst/>
          </a:prstGeom>
          <a:noFill/>
          <a:ln>
            <a:solidFill>
              <a:schemeClr val="tx1"/>
            </a:solidFill>
          </a:ln>
        </p:spPr>
        <p:txBody>
          <a:bodyPr wrap="square">
            <a:spAutoFit/>
          </a:bodyPr>
          <a:lstStyle/>
          <a:p>
            <a:r>
              <a:rPr lang="en-IN" sz="2800" dirty="0">
                <a:latin typeface="Gill Sans MT" panose="020B0502020104020203" pitchFamily="34" charset="0"/>
              </a:rPr>
              <a:t>The total cost of integrating the chatbot with our existing systems is very less.</a:t>
            </a:r>
          </a:p>
        </p:txBody>
      </p:sp>
      <p:sp>
        <p:nvSpPr>
          <p:cNvPr id="13" name="TextBox 12">
            <a:extLst>
              <a:ext uri="{FF2B5EF4-FFF2-40B4-BE49-F238E27FC236}">
                <a16:creationId xmlns:a16="http://schemas.microsoft.com/office/drawing/2014/main" id="{09B8701C-F33D-BEFC-AE26-4E4D0539C58A}"/>
              </a:ext>
            </a:extLst>
          </p:cNvPr>
          <p:cNvSpPr txBox="1"/>
          <p:nvPr/>
        </p:nvSpPr>
        <p:spPr>
          <a:xfrm>
            <a:off x="10354963" y="4431835"/>
            <a:ext cx="3929448" cy="2485787"/>
          </a:xfrm>
          <a:prstGeom prst="roundRect">
            <a:avLst/>
          </a:prstGeom>
          <a:noFill/>
          <a:ln>
            <a:solidFill>
              <a:schemeClr val="tx1"/>
            </a:solidFill>
          </a:ln>
        </p:spPr>
        <p:txBody>
          <a:bodyPr wrap="square">
            <a:spAutoFit/>
          </a:bodyPr>
          <a:lstStyle/>
          <a:p>
            <a:r>
              <a:rPr lang="en-IN" sz="2800" dirty="0">
                <a:latin typeface="Gill Sans MT" panose="020B0502020104020203" pitchFamily="34" charset="0"/>
              </a:rPr>
              <a:t>Automating routine enquiries will allow the team to manage next year’s workload without additional staff.</a:t>
            </a:r>
          </a:p>
        </p:txBody>
      </p:sp>
      <p:sp>
        <p:nvSpPr>
          <p:cNvPr id="17" name="Oval 16">
            <a:extLst>
              <a:ext uri="{FF2B5EF4-FFF2-40B4-BE49-F238E27FC236}">
                <a16:creationId xmlns:a16="http://schemas.microsoft.com/office/drawing/2014/main" id="{1A4F462A-ACB0-20BB-D1D2-B89B804CD657}"/>
              </a:ext>
            </a:extLst>
          </p:cNvPr>
          <p:cNvSpPr/>
          <p:nvPr/>
        </p:nvSpPr>
        <p:spPr>
          <a:xfrm>
            <a:off x="4534930" y="1939627"/>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F</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19" name="Oval 18">
            <a:extLst>
              <a:ext uri="{FF2B5EF4-FFF2-40B4-BE49-F238E27FC236}">
                <a16:creationId xmlns:a16="http://schemas.microsoft.com/office/drawing/2014/main" id="{48F09AE8-2D3A-7656-B5FD-FDC0711C39F8}"/>
              </a:ext>
            </a:extLst>
          </p:cNvPr>
          <p:cNvSpPr/>
          <p:nvPr/>
        </p:nvSpPr>
        <p:spPr>
          <a:xfrm>
            <a:off x="7071155" y="2498081"/>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O</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21" name="Oval 20">
            <a:extLst>
              <a:ext uri="{FF2B5EF4-FFF2-40B4-BE49-F238E27FC236}">
                <a16:creationId xmlns:a16="http://schemas.microsoft.com/office/drawing/2014/main" id="{D350DB23-D157-3C65-1059-94D2D29CFCF1}"/>
              </a:ext>
            </a:extLst>
          </p:cNvPr>
          <p:cNvSpPr/>
          <p:nvPr/>
        </p:nvSpPr>
        <p:spPr>
          <a:xfrm>
            <a:off x="11091734" y="2850106"/>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A</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23" name="Oval 22">
            <a:extLst>
              <a:ext uri="{FF2B5EF4-FFF2-40B4-BE49-F238E27FC236}">
                <a16:creationId xmlns:a16="http://schemas.microsoft.com/office/drawing/2014/main" id="{2FFF0281-F23B-1575-8E63-B83DAE3CED15}"/>
              </a:ext>
            </a:extLst>
          </p:cNvPr>
          <p:cNvSpPr/>
          <p:nvPr/>
        </p:nvSpPr>
        <p:spPr>
          <a:xfrm>
            <a:off x="1275835" y="5360749"/>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M</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25" name="Oval 24">
            <a:extLst>
              <a:ext uri="{FF2B5EF4-FFF2-40B4-BE49-F238E27FC236}">
                <a16:creationId xmlns:a16="http://schemas.microsoft.com/office/drawing/2014/main" id="{2F12A72A-E232-5184-F6DB-31B64EB2893A}"/>
              </a:ext>
            </a:extLst>
          </p:cNvPr>
          <p:cNvSpPr/>
          <p:nvPr/>
        </p:nvSpPr>
        <p:spPr>
          <a:xfrm>
            <a:off x="9551774" y="5297847"/>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A</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4" name="TextBox 3">
            <a:extLst>
              <a:ext uri="{FF2B5EF4-FFF2-40B4-BE49-F238E27FC236}">
                <a16:creationId xmlns:a16="http://schemas.microsoft.com/office/drawing/2014/main" id="{C487BD7C-0366-DA70-1B4A-95489AB27DC3}"/>
              </a:ext>
            </a:extLst>
          </p:cNvPr>
          <p:cNvSpPr txBox="1"/>
          <p:nvPr/>
        </p:nvSpPr>
        <p:spPr>
          <a:xfrm>
            <a:off x="256393" y="207602"/>
            <a:ext cx="6329759" cy="400110"/>
          </a:xfrm>
          <a:prstGeom prst="rect">
            <a:avLst/>
          </a:prstGeom>
          <a:noFill/>
        </p:spPr>
        <p:txBody>
          <a:bodyPr wrap="square">
            <a:spAutoFit/>
          </a:bodyPr>
          <a:lstStyle/>
          <a:p>
            <a:r>
              <a:rPr lang="en-IN" sz="2000" b="1" dirty="0">
                <a:solidFill>
                  <a:srgbClr val="FFFF00"/>
                </a:solidFill>
                <a:latin typeface="Gill Sans MT" panose="020B0502020104020203" pitchFamily="34" charset="0"/>
              </a:rPr>
              <a:t>F</a:t>
            </a:r>
            <a:r>
              <a:rPr lang="en-IN" sz="2000" dirty="0">
                <a:solidFill>
                  <a:srgbClr val="FFFF00"/>
                </a:solidFill>
                <a:latin typeface="Gill Sans MT" panose="020B0502020104020203" pitchFamily="34" charset="0"/>
              </a:rPr>
              <a:t>act (F) | </a:t>
            </a:r>
            <a:r>
              <a:rPr lang="en-IN" sz="2000" b="1" dirty="0">
                <a:solidFill>
                  <a:srgbClr val="FFFF00"/>
                </a:solidFill>
                <a:latin typeface="Gill Sans MT" panose="020B0502020104020203" pitchFamily="34" charset="0"/>
              </a:rPr>
              <a:t>O</a:t>
            </a:r>
            <a:r>
              <a:rPr lang="en-IN" sz="2000" dirty="0">
                <a:solidFill>
                  <a:srgbClr val="FFFF00"/>
                </a:solidFill>
                <a:latin typeface="Gill Sans MT" panose="020B0502020104020203" pitchFamily="34" charset="0"/>
              </a:rPr>
              <a:t>pinion (O) | </a:t>
            </a:r>
            <a:r>
              <a:rPr lang="en-IN" sz="2000" b="1" dirty="0">
                <a:solidFill>
                  <a:srgbClr val="FFFF00"/>
                </a:solidFill>
                <a:latin typeface="Gill Sans MT" panose="020B0502020104020203" pitchFamily="34" charset="0"/>
              </a:rPr>
              <a:t>A</a:t>
            </a:r>
            <a:r>
              <a:rPr lang="en-IN" sz="2000" dirty="0">
                <a:solidFill>
                  <a:srgbClr val="FFFF00"/>
                </a:solidFill>
                <a:latin typeface="Gill Sans MT" panose="020B0502020104020203" pitchFamily="34" charset="0"/>
              </a:rPr>
              <a:t>ssumption (A) | </a:t>
            </a:r>
            <a:r>
              <a:rPr lang="en-IN" sz="2000" b="1" dirty="0">
                <a:solidFill>
                  <a:srgbClr val="FFFF00"/>
                </a:solidFill>
                <a:latin typeface="Gill Sans MT" panose="020B0502020104020203" pitchFamily="34" charset="0"/>
              </a:rPr>
              <a:t>M</a:t>
            </a:r>
            <a:r>
              <a:rPr lang="en-IN" sz="2000" dirty="0">
                <a:solidFill>
                  <a:srgbClr val="FFFF00"/>
                </a:solidFill>
                <a:latin typeface="Gill Sans MT" panose="020B0502020104020203" pitchFamily="34" charset="0"/>
              </a:rPr>
              <a:t>issing data (M)</a:t>
            </a:r>
          </a:p>
        </p:txBody>
      </p:sp>
    </p:spTree>
    <p:extLst>
      <p:ext uri="{BB962C8B-B14F-4D97-AF65-F5344CB8AC3E}">
        <p14:creationId xmlns:p14="http://schemas.microsoft.com/office/powerpoint/2010/main" val="351290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9" grpId="0" animBg="1"/>
      <p:bldP spid="11" grpId="0" animBg="1"/>
      <p:bldP spid="13" grpId="0" animBg="1"/>
      <p:bldP spid="17" grpId="0" animBg="1"/>
      <p:bldP spid="19" grpId="0" animBg="1"/>
      <p:bldP spid="21" grpId="0" animBg="1"/>
      <p:bldP spid="23" grpId="0" animBg="1"/>
      <p:bldP spid="2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6F758-45C2-1991-86F4-EFC39E1AF9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52C936-FE48-5502-9B2B-0D2ACE3E2DCC}"/>
              </a:ext>
            </a:extLst>
          </p:cNvPr>
          <p:cNvSpPr txBox="1"/>
          <p:nvPr/>
        </p:nvSpPr>
        <p:spPr>
          <a:xfrm>
            <a:off x="579222" y="1311978"/>
            <a:ext cx="3955708" cy="2485787"/>
          </a:xfrm>
          <a:prstGeom prst="roundRect">
            <a:avLst/>
          </a:prstGeom>
          <a:noFill/>
          <a:ln>
            <a:solidFill>
              <a:schemeClr val="tx1"/>
            </a:solidFill>
          </a:ln>
          <a:effectLst>
            <a:outerShdw blurRad="76200" dir="13500000" sy="23000" kx="1200000" algn="br" rotWithShape="0">
              <a:prstClr val="black">
                <a:alpha val="20000"/>
              </a:prstClr>
            </a:outerShdw>
          </a:effectLst>
        </p:spPr>
        <p:txBody>
          <a:bodyPr wrap="square">
            <a:spAutoFit/>
          </a:bodyPr>
          <a:lstStyle/>
          <a:p>
            <a:r>
              <a:rPr lang="en-US" sz="2800" dirty="0">
                <a:latin typeface="Gill Sans MT" panose="020B0502020104020203" pitchFamily="34" charset="0"/>
              </a:rPr>
              <a:t>We do not know how accurately the chatbot handles enquiries in customers’ preferred languages.</a:t>
            </a:r>
            <a:endParaRPr lang="en-IN" sz="2800" dirty="0">
              <a:latin typeface="Gill Sans MT" panose="020B0502020104020203" pitchFamily="34" charset="0"/>
            </a:endParaRPr>
          </a:p>
        </p:txBody>
      </p:sp>
      <p:sp>
        <p:nvSpPr>
          <p:cNvPr id="7" name="TextBox 6">
            <a:extLst>
              <a:ext uri="{FF2B5EF4-FFF2-40B4-BE49-F238E27FC236}">
                <a16:creationId xmlns:a16="http://schemas.microsoft.com/office/drawing/2014/main" id="{65655E75-6C54-81C8-7B43-268A4FB3A536}"/>
              </a:ext>
            </a:extLst>
          </p:cNvPr>
          <p:cNvSpPr txBox="1"/>
          <p:nvPr/>
        </p:nvSpPr>
        <p:spPr>
          <a:xfrm>
            <a:off x="9653716" y="1311978"/>
            <a:ext cx="3679226" cy="2962513"/>
          </a:xfrm>
          <a:prstGeom prst="roundRect">
            <a:avLst/>
          </a:prstGeom>
          <a:noFill/>
          <a:ln>
            <a:solidFill>
              <a:schemeClr val="tx1"/>
            </a:solidFill>
          </a:ln>
        </p:spPr>
        <p:txBody>
          <a:bodyPr wrap="square">
            <a:spAutoFit/>
          </a:bodyPr>
          <a:lstStyle/>
          <a:p>
            <a:r>
              <a:rPr lang="en-US" sz="2800" dirty="0">
                <a:latin typeface="Gill Sans MT" panose="020B0502020104020203" pitchFamily="34" charset="0"/>
              </a:rPr>
              <a:t>The chatbot’s conversational style feels more professional than our current email responses.</a:t>
            </a:r>
            <a:endParaRPr lang="en-IN" sz="2800" dirty="0">
              <a:latin typeface="Gill Sans MT" panose="020B0502020104020203" pitchFamily="34" charset="0"/>
            </a:endParaRPr>
          </a:p>
        </p:txBody>
      </p:sp>
      <p:sp>
        <p:nvSpPr>
          <p:cNvPr id="9" name="TextBox 8">
            <a:extLst>
              <a:ext uri="{FF2B5EF4-FFF2-40B4-BE49-F238E27FC236}">
                <a16:creationId xmlns:a16="http://schemas.microsoft.com/office/drawing/2014/main" id="{F4AABF50-6D2E-4C45-4E38-FC5EB0BD4CBE}"/>
              </a:ext>
            </a:extLst>
          </p:cNvPr>
          <p:cNvSpPr txBox="1"/>
          <p:nvPr/>
        </p:nvSpPr>
        <p:spPr>
          <a:xfrm>
            <a:off x="5972947" y="3251843"/>
            <a:ext cx="3421277" cy="2485787"/>
          </a:xfrm>
          <a:prstGeom prst="roundRect">
            <a:avLst/>
          </a:prstGeom>
          <a:noFill/>
          <a:ln>
            <a:solidFill>
              <a:schemeClr val="tx1"/>
            </a:solidFill>
          </a:ln>
        </p:spPr>
        <p:txBody>
          <a:bodyPr wrap="square">
            <a:spAutoFit/>
          </a:bodyPr>
          <a:lstStyle/>
          <a:p>
            <a:r>
              <a:rPr lang="en-US" sz="2800" dirty="0">
                <a:latin typeface="Gill Sans MT" panose="020B0502020104020203" pitchFamily="34" charset="0"/>
              </a:rPr>
              <a:t>During a recorded pilot, the chatbot answered 170 of 200 test questions correctly.</a:t>
            </a:r>
            <a:endParaRPr lang="en-IN" sz="2800" dirty="0">
              <a:latin typeface="Gill Sans MT" panose="020B0502020104020203" pitchFamily="34" charset="0"/>
            </a:endParaRPr>
          </a:p>
        </p:txBody>
      </p:sp>
      <p:sp>
        <p:nvSpPr>
          <p:cNvPr id="11" name="TextBox 10">
            <a:extLst>
              <a:ext uri="{FF2B5EF4-FFF2-40B4-BE49-F238E27FC236}">
                <a16:creationId xmlns:a16="http://schemas.microsoft.com/office/drawing/2014/main" id="{954B011E-A1A6-A8D2-D310-85B6428C3AA6}"/>
              </a:ext>
            </a:extLst>
          </p:cNvPr>
          <p:cNvSpPr txBox="1"/>
          <p:nvPr/>
        </p:nvSpPr>
        <p:spPr>
          <a:xfrm>
            <a:off x="2079023" y="4256374"/>
            <a:ext cx="3421277" cy="2485787"/>
          </a:xfrm>
          <a:prstGeom prst="roundRect">
            <a:avLst/>
          </a:prstGeom>
          <a:noFill/>
          <a:ln>
            <a:solidFill>
              <a:schemeClr val="tx1"/>
            </a:solidFill>
          </a:ln>
        </p:spPr>
        <p:txBody>
          <a:bodyPr wrap="square">
            <a:spAutoFit/>
          </a:bodyPr>
          <a:lstStyle/>
          <a:p>
            <a:r>
              <a:rPr lang="en-US" sz="2800" dirty="0">
                <a:latin typeface="Gill Sans MT" panose="020B0502020104020203" pitchFamily="34" charset="0"/>
              </a:rPr>
              <a:t>The pilot’s accuracy will remain the same when the chatbot handles live customer enquiries.</a:t>
            </a:r>
            <a:endParaRPr lang="en-IN" sz="2800" dirty="0">
              <a:latin typeface="Gill Sans MT" panose="020B0502020104020203" pitchFamily="34" charset="0"/>
            </a:endParaRPr>
          </a:p>
        </p:txBody>
      </p:sp>
      <p:sp>
        <p:nvSpPr>
          <p:cNvPr id="13" name="TextBox 12">
            <a:extLst>
              <a:ext uri="{FF2B5EF4-FFF2-40B4-BE49-F238E27FC236}">
                <a16:creationId xmlns:a16="http://schemas.microsoft.com/office/drawing/2014/main" id="{8BA406A2-9BF9-9083-50AF-69101B6BBFD2}"/>
              </a:ext>
            </a:extLst>
          </p:cNvPr>
          <p:cNvSpPr txBox="1"/>
          <p:nvPr/>
        </p:nvSpPr>
        <p:spPr>
          <a:xfrm>
            <a:off x="10354963" y="4827255"/>
            <a:ext cx="3929448" cy="2009061"/>
          </a:xfrm>
          <a:prstGeom prst="roundRect">
            <a:avLst/>
          </a:prstGeom>
          <a:noFill/>
          <a:ln>
            <a:solidFill>
              <a:schemeClr val="tx1"/>
            </a:solidFill>
          </a:ln>
        </p:spPr>
        <p:txBody>
          <a:bodyPr wrap="square">
            <a:spAutoFit/>
          </a:bodyPr>
          <a:lstStyle/>
          <a:p>
            <a:r>
              <a:rPr lang="en-US" sz="2800" dirty="0">
                <a:latin typeface="Gill Sans MT" panose="020B0502020104020203" pitchFamily="34" charset="0"/>
              </a:rPr>
              <a:t>In last month’s ticket report, 60% of enquiries concerned order status or password resets.</a:t>
            </a:r>
            <a:endParaRPr lang="en-IN" sz="2800" dirty="0">
              <a:latin typeface="Gill Sans MT" panose="020B0502020104020203" pitchFamily="34" charset="0"/>
            </a:endParaRPr>
          </a:p>
        </p:txBody>
      </p:sp>
      <p:sp>
        <p:nvSpPr>
          <p:cNvPr id="17" name="Oval 16">
            <a:extLst>
              <a:ext uri="{FF2B5EF4-FFF2-40B4-BE49-F238E27FC236}">
                <a16:creationId xmlns:a16="http://schemas.microsoft.com/office/drawing/2014/main" id="{AA5CA357-E80E-12F7-559E-A5A2B9CA8963}"/>
              </a:ext>
            </a:extLst>
          </p:cNvPr>
          <p:cNvSpPr/>
          <p:nvPr/>
        </p:nvSpPr>
        <p:spPr>
          <a:xfrm>
            <a:off x="4534930" y="2177990"/>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M</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19" name="Oval 18">
            <a:extLst>
              <a:ext uri="{FF2B5EF4-FFF2-40B4-BE49-F238E27FC236}">
                <a16:creationId xmlns:a16="http://schemas.microsoft.com/office/drawing/2014/main" id="{91436AB1-0F0B-E1C8-1535-EAFAF03698C0}"/>
              </a:ext>
            </a:extLst>
          </p:cNvPr>
          <p:cNvSpPr/>
          <p:nvPr/>
        </p:nvSpPr>
        <p:spPr>
          <a:xfrm>
            <a:off x="7071155" y="2498081"/>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F</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21" name="Oval 20">
            <a:extLst>
              <a:ext uri="{FF2B5EF4-FFF2-40B4-BE49-F238E27FC236}">
                <a16:creationId xmlns:a16="http://schemas.microsoft.com/office/drawing/2014/main" id="{0B6EA924-03D5-69CF-8CE3-E8240087F1A4}"/>
              </a:ext>
            </a:extLst>
          </p:cNvPr>
          <p:cNvSpPr/>
          <p:nvPr/>
        </p:nvSpPr>
        <p:spPr>
          <a:xfrm>
            <a:off x="13332942" y="2500097"/>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O</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23" name="Oval 22">
            <a:extLst>
              <a:ext uri="{FF2B5EF4-FFF2-40B4-BE49-F238E27FC236}">
                <a16:creationId xmlns:a16="http://schemas.microsoft.com/office/drawing/2014/main" id="{53ED9C55-AB95-A40B-1F41-0F54D8E5CA55}"/>
              </a:ext>
            </a:extLst>
          </p:cNvPr>
          <p:cNvSpPr/>
          <p:nvPr/>
        </p:nvSpPr>
        <p:spPr>
          <a:xfrm>
            <a:off x="1275834" y="5122387"/>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A</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25" name="Oval 24">
            <a:extLst>
              <a:ext uri="{FF2B5EF4-FFF2-40B4-BE49-F238E27FC236}">
                <a16:creationId xmlns:a16="http://schemas.microsoft.com/office/drawing/2014/main" id="{4EA2868B-1276-86F1-4DDE-255FDADB16B4}"/>
              </a:ext>
            </a:extLst>
          </p:cNvPr>
          <p:cNvSpPr/>
          <p:nvPr/>
        </p:nvSpPr>
        <p:spPr>
          <a:xfrm>
            <a:off x="9551774" y="5693267"/>
            <a:ext cx="803189" cy="75376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38100" dist="38100" dir="2700000" algn="tl">
                    <a:srgbClr val="000000">
                      <a:alpha val="43137"/>
                    </a:srgbClr>
                  </a:outerShdw>
                </a:effectLst>
                <a:latin typeface="Gill Sans MT" panose="020B0502020104020203" pitchFamily="34" charset="0"/>
              </a:rPr>
              <a:t>F</a:t>
            </a:r>
            <a:endParaRPr lang="en-IN" sz="3600" dirty="0">
              <a:effectLst>
                <a:outerShdw blurRad="38100" dist="38100" dir="2700000" algn="tl">
                  <a:srgbClr val="000000">
                    <a:alpha val="43137"/>
                  </a:srgbClr>
                </a:outerShdw>
              </a:effectLst>
              <a:latin typeface="Gill Sans MT" panose="020B0502020104020203" pitchFamily="34" charset="0"/>
            </a:endParaRPr>
          </a:p>
        </p:txBody>
      </p:sp>
      <p:sp>
        <p:nvSpPr>
          <p:cNvPr id="4" name="TextBox 3">
            <a:extLst>
              <a:ext uri="{FF2B5EF4-FFF2-40B4-BE49-F238E27FC236}">
                <a16:creationId xmlns:a16="http://schemas.microsoft.com/office/drawing/2014/main" id="{54F03292-52E6-6D29-01AE-C72F7FEED130}"/>
              </a:ext>
            </a:extLst>
          </p:cNvPr>
          <p:cNvSpPr txBox="1"/>
          <p:nvPr/>
        </p:nvSpPr>
        <p:spPr>
          <a:xfrm>
            <a:off x="256393" y="207602"/>
            <a:ext cx="6329759" cy="400110"/>
          </a:xfrm>
          <a:prstGeom prst="rect">
            <a:avLst/>
          </a:prstGeom>
          <a:noFill/>
        </p:spPr>
        <p:txBody>
          <a:bodyPr wrap="square">
            <a:spAutoFit/>
          </a:bodyPr>
          <a:lstStyle/>
          <a:p>
            <a:r>
              <a:rPr lang="en-IN" sz="2000" b="1" dirty="0">
                <a:solidFill>
                  <a:srgbClr val="FFFF00"/>
                </a:solidFill>
                <a:latin typeface="Gill Sans MT" panose="020B0502020104020203" pitchFamily="34" charset="0"/>
              </a:rPr>
              <a:t>F</a:t>
            </a:r>
            <a:r>
              <a:rPr lang="en-IN" sz="2000" dirty="0">
                <a:solidFill>
                  <a:srgbClr val="FFFF00"/>
                </a:solidFill>
                <a:latin typeface="Gill Sans MT" panose="020B0502020104020203" pitchFamily="34" charset="0"/>
              </a:rPr>
              <a:t>act (F) | </a:t>
            </a:r>
            <a:r>
              <a:rPr lang="en-IN" sz="2000" b="1" dirty="0">
                <a:solidFill>
                  <a:srgbClr val="FFFF00"/>
                </a:solidFill>
                <a:latin typeface="Gill Sans MT" panose="020B0502020104020203" pitchFamily="34" charset="0"/>
              </a:rPr>
              <a:t>O</a:t>
            </a:r>
            <a:r>
              <a:rPr lang="en-IN" sz="2000" dirty="0">
                <a:solidFill>
                  <a:srgbClr val="FFFF00"/>
                </a:solidFill>
                <a:latin typeface="Gill Sans MT" panose="020B0502020104020203" pitchFamily="34" charset="0"/>
              </a:rPr>
              <a:t>pinion (O) | </a:t>
            </a:r>
            <a:r>
              <a:rPr lang="en-IN" sz="2000" b="1" dirty="0">
                <a:solidFill>
                  <a:srgbClr val="FFFF00"/>
                </a:solidFill>
                <a:latin typeface="Gill Sans MT" panose="020B0502020104020203" pitchFamily="34" charset="0"/>
              </a:rPr>
              <a:t>A</a:t>
            </a:r>
            <a:r>
              <a:rPr lang="en-IN" sz="2000" dirty="0">
                <a:solidFill>
                  <a:srgbClr val="FFFF00"/>
                </a:solidFill>
                <a:latin typeface="Gill Sans MT" panose="020B0502020104020203" pitchFamily="34" charset="0"/>
              </a:rPr>
              <a:t>ssumption (A) | </a:t>
            </a:r>
            <a:r>
              <a:rPr lang="en-IN" sz="2000" b="1" dirty="0">
                <a:solidFill>
                  <a:srgbClr val="FFFF00"/>
                </a:solidFill>
                <a:latin typeface="Gill Sans MT" panose="020B0502020104020203" pitchFamily="34" charset="0"/>
              </a:rPr>
              <a:t>M</a:t>
            </a:r>
            <a:r>
              <a:rPr lang="en-IN" sz="2000" dirty="0">
                <a:solidFill>
                  <a:srgbClr val="FFFF00"/>
                </a:solidFill>
                <a:latin typeface="Gill Sans MT" panose="020B0502020104020203" pitchFamily="34" charset="0"/>
              </a:rPr>
              <a:t>issing data (M)</a:t>
            </a:r>
          </a:p>
        </p:txBody>
      </p:sp>
    </p:spTree>
    <p:extLst>
      <p:ext uri="{BB962C8B-B14F-4D97-AF65-F5344CB8AC3E}">
        <p14:creationId xmlns:p14="http://schemas.microsoft.com/office/powerpoint/2010/main" val="43725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9" grpId="0" animBg="1"/>
      <p:bldP spid="11" grpId="0" animBg="1"/>
      <p:bldP spid="13" grpId="0" animBg="1"/>
      <p:bldP spid="17" grpId="0" animBg="1"/>
      <p:bldP spid="19" grpId="0" animBg="1"/>
      <p:bldP spid="21" grpId="0" animBg="1"/>
      <p:bldP spid="23" grpId="0" animBg="1"/>
      <p:bldP spid="2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31B92-70EA-085E-316D-EE591199A448}"/>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4502C906-A881-CA50-C8BA-1A5C41FA54F4}"/>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3:  Misleading Dashboard Challenge</a:t>
            </a:r>
          </a:p>
        </p:txBody>
      </p:sp>
      <p:pic>
        <p:nvPicPr>
          <p:cNvPr id="3" name="Picture 2">
            <a:extLst>
              <a:ext uri="{FF2B5EF4-FFF2-40B4-BE49-F238E27FC236}">
                <a16:creationId xmlns:a16="http://schemas.microsoft.com/office/drawing/2014/main" id="{0139B9C5-D4C5-D51F-F0C2-DE9D935B59F8}"/>
              </a:ext>
            </a:extLst>
          </p:cNvPr>
          <p:cNvPicPr>
            <a:picLocks noChangeAspect="1"/>
          </p:cNvPicPr>
          <p:nvPr/>
        </p:nvPicPr>
        <p:blipFill>
          <a:blip r:embed="rId3"/>
          <a:stretch>
            <a:fillRect/>
          </a:stretch>
        </p:blipFill>
        <p:spPr>
          <a:xfrm>
            <a:off x="10736604" y="1586584"/>
            <a:ext cx="2978073" cy="20710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a:contourClr>
              <a:srgbClr val="969696"/>
            </a:contourClr>
          </a:sp3d>
        </p:spPr>
      </p:pic>
      <p:sp>
        <p:nvSpPr>
          <p:cNvPr id="7" name="TextBox 6">
            <a:extLst>
              <a:ext uri="{FF2B5EF4-FFF2-40B4-BE49-F238E27FC236}">
                <a16:creationId xmlns:a16="http://schemas.microsoft.com/office/drawing/2014/main" id="{B5072DD0-5651-462D-2609-76FF25F5676F}"/>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IN" sz="3200" dirty="0">
                <a:latin typeface="Gill Sans MT" panose="020B0502020104020203" pitchFamily="34" charset="0"/>
              </a:rPr>
              <a:t>Are we Interpreting it right?</a:t>
            </a:r>
          </a:p>
        </p:txBody>
      </p:sp>
      <p:sp>
        <p:nvSpPr>
          <p:cNvPr id="9" name="TextBox 8">
            <a:extLst>
              <a:ext uri="{FF2B5EF4-FFF2-40B4-BE49-F238E27FC236}">
                <a16:creationId xmlns:a16="http://schemas.microsoft.com/office/drawing/2014/main" id="{B3EBC9C8-5A2D-54E0-B509-0A95D3B409E1}"/>
              </a:ext>
            </a:extLst>
          </p:cNvPr>
          <p:cNvSpPr txBox="1"/>
          <p:nvPr/>
        </p:nvSpPr>
        <p:spPr>
          <a:xfrm>
            <a:off x="223184" y="2339948"/>
            <a:ext cx="8845893" cy="954107"/>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Presenting data in a wrong way can lead to inaccurate conclusions and poor decisions</a:t>
            </a:r>
          </a:p>
        </p:txBody>
      </p:sp>
      <p:sp>
        <p:nvSpPr>
          <p:cNvPr id="11" name="TextBox 10">
            <a:extLst>
              <a:ext uri="{FF2B5EF4-FFF2-40B4-BE49-F238E27FC236}">
                <a16:creationId xmlns:a16="http://schemas.microsoft.com/office/drawing/2014/main" id="{C0C34286-1FA3-E862-84CE-CFC4114D4333}"/>
              </a:ext>
            </a:extLst>
          </p:cNvPr>
          <p:cNvSpPr txBox="1"/>
          <p:nvPr/>
        </p:nvSpPr>
        <p:spPr>
          <a:xfrm>
            <a:off x="331746" y="3928930"/>
            <a:ext cx="8330340" cy="954107"/>
          </a:xfrm>
          <a:prstGeom prst="rect">
            <a:avLst/>
          </a:prstGeom>
          <a:noFill/>
        </p:spPr>
        <p:txBody>
          <a:bodyPr wrap="square">
            <a:spAutoFit/>
          </a:bodyPr>
          <a:lstStyle/>
          <a:p>
            <a:r>
              <a:rPr lang="en-IN" sz="2800" b="1" dirty="0">
                <a:latin typeface="Gill Sans MT" panose="020B0502020104020203" pitchFamily="34" charset="0"/>
              </a:rPr>
              <a:t>The following charts / tables are misleading.</a:t>
            </a:r>
          </a:p>
          <a:p>
            <a:r>
              <a:rPr lang="en-IN" sz="2800" dirty="0">
                <a:latin typeface="Gill Sans MT" panose="020B0502020104020203" pitchFamily="34" charset="0"/>
              </a:rPr>
              <a:t>Identify the problem and a possible solution</a:t>
            </a:r>
          </a:p>
        </p:txBody>
      </p:sp>
    </p:spTree>
    <p:extLst>
      <p:ext uri="{BB962C8B-B14F-4D97-AF65-F5344CB8AC3E}">
        <p14:creationId xmlns:p14="http://schemas.microsoft.com/office/powerpoint/2010/main" val="2454704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1449C-BD80-FD1D-A35E-825D815B8D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657DE7-6FD4-250C-739C-BDD218AF24A9}"/>
              </a:ext>
            </a:extLst>
          </p:cNvPr>
          <p:cNvPicPr>
            <a:picLocks noChangeAspect="1"/>
          </p:cNvPicPr>
          <p:nvPr/>
        </p:nvPicPr>
        <p:blipFill>
          <a:blip r:embed="rId3"/>
          <a:stretch>
            <a:fillRect/>
          </a:stretch>
        </p:blipFill>
        <p:spPr>
          <a:xfrm>
            <a:off x="658695" y="1263761"/>
            <a:ext cx="5665860" cy="1707509"/>
          </a:xfrm>
          <a:prstGeom prst="rect">
            <a:avLst/>
          </a:prstGeom>
          <a:ln>
            <a:solidFill>
              <a:schemeClr val="tx1"/>
            </a:solidFill>
          </a:ln>
        </p:spPr>
      </p:pic>
      <p:sp>
        <p:nvSpPr>
          <p:cNvPr id="6" name="TextBox 5">
            <a:extLst>
              <a:ext uri="{FF2B5EF4-FFF2-40B4-BE49-F238E27FC236}">
                <a16:creationId xmlns:a16="http://schemas.microsoft.com/office/drawing/2014/main" id="{C8ADC7DB-62A4-8EBD-5EDE-FE5BE652E2DB}"/>
              </a:ext>
            </a:extLst>
          </p:cNvPr>
          <p:cNvSpPr txBox="1"/>
          <p:nvPr/>
        </p:nvSpPr>
        <p:spPr>
          <a:xfrm>
            <a:off x="207673" y="1216413"/>
            <a:ext cx="451022" cy="523220"/>
          </a:xfrm>
          <a:prstGeom prst="rect">
            <a:avLst/>
          </a:prstGeom>
          <a:noFill/>
        </p:spPr>
        <p:txBody>
          <a:bodyPr wrap="square" rtlCol="0">
            <a:spAutoFit/>
          </a:bodyPr>
          <a:lstStyle/>
          <a:p>
            <a:r>
              <a:rPr lang="en-US" sz="2800" b="1" dirty="0">
                <a:latin typeface="Gill Sans MT" panose="020B0502020104020203" pitchFamily="34" charset="0"/>
              </a:rPr>
              <a:t>1</a:t>
            </a:r>
            <a:endParaRPr lang="en-IN" sz="2800" b="1" dirty="0">
              <a:latin typeface="Gill Sans MT" panose="020B0502020104020203" pitchFamily="34" charset="0"/>
            </a:endParaRPr>
          </a:p>
        </p:txBody>
      </p:sp>
      <p:sp>
        <p:nvSpPr>
          <p:cNvPr id="10" name="TextBox 9">
            <a:extLst>
              <a:ext uri="{FF2B5EF4-FFF2-40B4-BE49-F238E27FC236}">
                <a16:creationId xmlns:a16="http://schemas.microsoft.com/office/drawing/2014/main" id="{150A543F-2B18-C4C1-9261-A8056B41C653}"/>
              </a:ext>
            </a:extLst>
          </p:cNvPr>
          <p:cNvSpPr txBox="1"/>
          <p:nvPr/>
        </p:nvSpPr>
        <p:spPr>
          <a:xfrm>
            <a:off x="658695" y="3168979"/>
            <a:ext cx="5665860" cy="1815882"/>
          </a:xfrm>
          <a:prstGeom prst="rect">
            <a:avLst/>
          </a:prstGeom>
          <a:noFill/>
        </p:spPr>
        <p:txBody>
          <a:bodyPr wrap="square">
            <a:spAutoFit/>
          </a:bodyPr>
          <a:lstStyle/>
          <a:p>
            <a:r>
              <a:rPr lang="en-IN" sz="2800" b="1" dirty="0">
                <a:latin typeface="Gill Sans MT" panose="020B0502020104020203" pitchFamily="34" charset="0"/>
              </a:rPr>
              <a:t>Issue</a:t>
            </a:r>
          </a:p>
          <a:p>
            <a:r>
              <a:rPr lang="en-IN" sz="2800" dirty="0">
                <a:latin typeface="Gill Sans MT" panose="020B0502020104020203" pitchFamily="34" charset="0"/>
              </a:rPr>
              <a:t>The narrow colour scale makes a roughly 2% sales increase appear dramatic.</a:t>
            </a:r>
          </a:p>
        </p:txBody>
      </p:sp>
      <p:graphicFrame>
        <p:nvGraphicFramePr>
          <p:cNvPr id="12" name="Table 11">
            <a:extLst>
              <a:ext uri="{FF2B5EF4-FFF2-40B4-BE49-F238E27FC236}">
                <a16:creationId xmlns:a16="http://schemas.microsoft.com/office/drawing/2014/main" id="{B2A2B5AB-05EA-CC12-CCFA-F4B328CCB7E9}"/>
              </a:ext>
            </a:extLst>
          </p:cNvPr>
          <p:cNvGraphicFramePr>
            <a:graphicFrameLocks noGrp="1"/>
          </p:cNvGraphicFramePr>
          <p:nvPr>
            <p:extLst>
              <p:ext uri="{D42A27DB-BD31-4B8C-83A1-F6EECF244321}">
                <p14:modId xmlns:p14="http://schemas.microsoft.com/office/powerpoint/2010/main" val="686484700"/>
              </p:ext>
            </p:extLst>
          </p:nvPr>
        </p:nvGraphicFramePr>
        <p:xfrm>
          <a:off x="8146889" y="1263761"/>
          <a:ext cx="4234078" cy="1871431"/>
        </p:xfrm>
        <a:graphic>
          <a:graphicData uri="http://schemas.openxmlformats.org/drawingml/2006/table">
            <a:tbl>
              <a:tblPr>
                <a:tableStyleId>{D7AC3CCA-C797-4891-BE02-D94E43425B78}</a:tableStyleId>
              </a:tblPr>
              <a:tblGrid>
                <a:gridCol w="1311198">
                  <a:extLst>
                    <a:ext uri="{9D8B030D-6E8A-4147-A177-3AD203B41FA5}">
                      <a16:colId xmlns:a16="http://schemas.microsoft.com/office/drawing/2014/main" val="1413921452"/>
                    </a:ext>
                  </a:extLst>
                </a:gridCol>
                <a:gridCol w="2922880">
                  <a:extLst>
                    <a:ext uri="{9D8B030D-6E8A-4147-A177-3AD203B41FA5}">
                      <a16:colId xmlns:a16="http://schemas.microsoft.com/office/drawing/2014/main" val="1673845009"/>
                    </a:ext>
                  </a:extLst>
                </a:gridCol>
              </a:tblGrid>
              <a:tr h="568411">
                <a:tc>
                  <a:txBody>
                    <a:bodyPr/>
                    <a:lstStyle/>
                    <a:p>
                      <a:pPr algn="ctr" fontAlgn="ctr">
                        <a:buNone/>
                      </a:pPr>
                      <a:r>
                        <a:rPr lang="en-IN" sz="2800" b="1" u="none" strike="noStrike" dirty="0">
                          <a:effectLst/>
                          <a:latin typeface="Gill Sans MT" panose="020B0502020104020203" pitchFamily="34" charset="0"/>
                        </a:rPr>
                        <a:t>Branch</a:t>
                      </a:r>
                      <a:endParaRPr lang="en-IN" sz="2800" b="1" i="0" u="none" strike="noStrike" dirty="0">
                        <a:solidFill>
                          <a:srgbClr val="000000"/>
                        </a:solidFill>
                        <a:effectLst/>
                        <a:latin typeface="Gill Sans MT" panose="020B0502020104020203" pitchFamily="34" charset="0"/>
                      </a:endParaRPr>
                    </a:p>
                  </a:txBody>
                  <a:tcPr marL="7620" marR="7620" marT="7620" marB="0" anchor="ctr">
                    <a:solidFill>
                      <a:srgbClr val="FFC000"/>
                    </a:solidFill>
                  </a:tcPr>
                </a:tc>
                <a:tc>
                  <a:txBody>
                    <a:bodyPr/>
                    <a:lstStyle/>
                    <a:p>
                      <a:pPr algn="ctr" fontAlgn="ctr">
                        <a:buNone/>
                      </a:pPr>
                      <a:r>
                        <a:rPr lang="en-IN" sz="2800" b="1" u="none" strike="noStrike" dirty="0">
                          <a:effectLst/>
                          <a:latin typeface="Gill Sans MT" panose="020B0502020104020203" pitchFamily="34" charset="0"/>
                        </a:rPr>
                        <a:t>Complaints</a:t>
                      </a:r>
                      <a:endParaRPr lang="en-IN" sz="2800" b="1" i="0" u="none" strike="noStrike" dirty="0">
                        <a:solidFill>
                          <a:srgbClr val="000000"/>
                        </a:solidFill>
                        <a:effectLst/>
                        <a:latin typeface="Gill Sans MT" panose="020B0502020104020203" pitchFamily="34" charset="0"/>
                      </a:endParaRPr>
                    </a:p>
                  </a:txBody>
                  <a:tcPr marL="7620" marR="7620" marT="7620" marB="0" anchor="ctr">
                    <a:solidFill>
                      <a:srgbClr val="FFC000"/>
                    </a:solidFill>
                  </a:tcPr>
                </a:tc>
                <a:extLst>
                  <a:ext uri="{0D108BD9-81ED-4DB2-BD59-A6C34878D82A}">
                    <a16:rowId xmlns:a16="http://schemas.microsoft.com/office/drawing/2014/main" val="1852638810"/>
                  </a:ext>
                </a:extLst>
              </a:tr>
              <a:tr h="284205">
                <a:tc>
                  <a:txBody>
                    <a:bodyPr/>
                    <a:lstStyle/>
                    <a:p>
                      <a:pPr algn="ctr" fontAlgn="ctr">
                        <a:buNone/>
                      </a:pPr>
                      <a:r>
                        <a:rPr lang="en-IN" sz="2800" u="none" strike="noStrike" dirty="0">
                          <a:effectLst/>
                          <a:latin typeface="Gill Sans MT" panose="020B0502020104020203" pitchFamily="34" charset="0"/>
                        </a:rPr>
                        <a:t>A</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120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20100717"/>
                  </a:ext>
                </a:extLst>
              </a:tr>
              <a:tr h="284205">
                <a:tc>
                  <a:txBody>
                    <a:bodyPr/>
                    <a:lstStyle/>
                    <a:p>
                      <a:pPr algn="ctr" fontAlgn="ctr">
                        <a:buNone/>
                      </a:pPr>
                      <a:r>
                        <a:rPr lang="en-IN" sz="2800" u="none" strike="noStrike" dirty="0">
                          <a:effectLst/>
                          <a:latin typeface="Gill Sans MT" panose="020B0502020104020203" pitchFamily="34" charset="0"/>
                        </a:rPr>
                        <a:t>B</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60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231833298"/>
                  </a:ext>
                </a:extLst>
              </a:tr>
              <a:tr h="284205">
                <a:tc>
                  <a:txBody>
                    <a:bodyPr/>
                    <a:lstStyle/>
                    <a:p>
                      <a:pPr algn="ctr" fontAlgn="ctr">
                        <a:buNone/>
                      </a:pPr>
                      <a:r>
                        <a:rPr lang="en-IN" sz="2800" u="none" strike="noStrike" dirty="0">
                          <a:effectLst/>
                          <a:latin typeface="Gill Sans MT" panose="020B0502020104020203" pitchFamily="34" charset="0"/>
                        </a:rPr>
                        <a:t>C</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30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2517693991"/>
                  </a:ext>
                </a:extLst>
              </a:tr>
            </a:tbl>
          </a:graphicData>
        </a:graphic>
      </p:graphicFrame>
      <p:sp>
        <p:nvSpPr>
          <p:cNvPr id="15" name="TextBox 14">
            <a:extLst>
              <a:ext uri="{FF2B5EF4-FFF2-40B4-BE49-F238E27FC236}">
                <a16:creationId xmlns:a16="http://schemas.microsoft.com/office/drawing/2014/main" id="{4587D628-057B-5E75-5EC9-B6F9031C3E69}"/>
              </a:ext>
            </a:extLst>
          </p:cNvPr>
          <p:cNvSpPr txBox="1"/>
          <p:nvPr/>
        </p:nvSpPr>
        <p:spPr>
          <a:xfrm>
            <a:off x="7460458" y="1216413"/>
            <a:ext cx="451022" cy="523220"/>
          </a:xfrm>
          <a:prstGeom prst="rect">
            <a:avLst/>
          </a:prstGeom>
          <a:noFill/>
        </p:spPr>
        <p:txBody>
          <a:bodyPr wrap="square" rtlCol="0">
            <a:spAutoFit/>
          </a:bodyPr>
          <a:lstStyle/>
          <a:p>
            <a:r>
              <a:rPr lang="en-US" sz="2800" b="1" dirty="0">
                <a:latin typeface="Gill Sans MT" panose="020B0502020104020203" pitchFamily="34" charset="0"/>
              </a:rPr>
              <a:t>2</a:t>
            </a:r>
            <a:endParaRPr lang="en-IN" sz="2800" b="1" dirty="0">
              <a:latin typeface="Gill Sans MT" panose="020B0502020104020203" pitchFamily="34" charset="0"/>
            </a:endParaRPr>
          </a:p>
        </p:txBody>
      </p:sp>
      <p:sp>
        <p:nvSpPr>
          <p:cNvPr id="18" name="TextBox 17">
            <a:extLst>
              <a:ext uri="{FF2B5EF4-FFF2-40B4-BE49-F238E27FC236}">
                <a16:creationId xmlns:a16="http://schemas.microsoft.com/office/drawing/2014/main" id="{693C91B4-2CF1-F337-C6AA-114053AF8775}"/>
              </a:ext>
            </a:extLst>
          </p:cNvPr>
          <p:cNvSpPr txBox="1"/>
          <p:nvPr/>
        </p:nvSpPr>
        <p:spPr>
          <a:xfrm>
            <a:off x="8117547" y="3160693"/>
            <a:ext cx="5981512" cy="1384995"/>
          </a:xfrm>
          <a:prstGeom prst="rect">
            <a:avLst/>
          </a:prstGeom>
          <a:noFill/>
        </p:spPr>
        <p:txBody>
          <a:bodyPr wrap="square">
            <a:spAutoFit/>
          </a:bodyPr>
          <a:lstStyle/>
          <a:p>
            <a:r>
              <a:rPr lang="en-IN" sz="2800" b="1" dirty="0">
                <a:latin typeface="Gill Sans MT" panose="020B0502020104020203" pitchFamily="34" charset="0"/>
              </a:rPr>
              <a:t>Management conclusion: </a:t>
            </a:r>
          </a:p>
          <a:p>
            <a:r>
              <a:rPr lang="en-IN" sz="2800" b="1" i="1" dirty="0">
                <a:latin typeface="Gill Sans MT" panose="020B0502020104020203" pitchFamily="34" charset="0"/>
              </a:rPr>
              <a:t>“Branch A provides the poorest service.”</a:t>
            </a:r>
          </a:p>
        </p:txBody>
      </p:sp>
      <p:sp>
        <p:nvSpPr>
          <p:cNvPr id="22" name="TextBox 21">
            <a:extLst>
              <a:ext uri="{FF2B5EF4-FFF2-40B4-BE49-F238E27FC236}">
                <a16:creationId xmlns:a16="http://schemas.microsoft.com/office/drawing/2014/main" id="{C6B2E2E3-3492-2C0A-BB8F-144CA2A04E41}"/>
              </a:ext>
            </a:extLst>
          </p:cNvPr>
          <p:cNvSpPr txBox="1"/>
          <p:nvPr/>
        </p:nvSpPr>
        <p:spPr>
          <a:xfrm>
            <a:off x="8146889" y="4571189"/>
            <a:ext cx="5824816" cy="1815882"/>
          </a:xfrm>
          <a:prstGeom prst="rect">
            <a:avLst/>
          </a:prstGeom>
          <a:noFill/>
        </p:spPr>
        <p:txBody>
          <a:bodyPr wrap="square">
            <a:spAutoFit/>
          </a:bodyPr>
          <a:lstStyle/>
          <a:p>
            <a:r>
              <a:rPr lang="en-IN" sz="2800" b="1" dirty="0">
                <a:latin typeface="Gill Sans MT" panose="020B0502020104020203" pitchFamily="34" charset="0"/>
              </a:rPr>
              <a:t>Issue</a:t>
            </a:r>
          </a:p>
          <a:p>
            <a:r>
              <a:rPr lang="en-IN" sz="2800" dirty="0">
                <a:latin typeface="Gill Sans MT" panose="020B0502020104020203" pitchFamily="34" charset="0"/>
              </a:rPr>
              <a:t>Customer or transaction totals are missing, so complaint rates cannot be compared.</a:t>
            </a:r>
          </a:p>
        </p:txBody>
      </p:sp>
    </p:spTree>
    <p:extLst>
      <p:ext uri="{BB962C8B-B14F-4D97-AF65-F5344CB8AC3E}">
        <p14:creationId xmlns:p14="http://schemas.microsoft.com/office/powerpoint/2010/main" val="3853404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5" grpId="0"/>
      <p:bldP spid="18" grpId="0"/>
      <p:bldP spid="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C431-B7B6-A3C6-ADD5-0DC7B566084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63677F2-F27D-AB03-4DAD-8DE091D033E3}"/>
              </a:ext>
            </a:extLst>
          </p:cNvPr>
          <p:cNvSpPr txBox="1"/>
          <p:nvPr/>
        </p:nvSpPr>
        <p:spPr>
          <a:xfrm>
            <a:off x="228669" y="1109221"/>
            <a:ext cx="451022" cy="523220"/>
          </a:xfrm>
          <a:prstGeom prst="rect">
            <a:avLst/>
          </a:prstGeom>
          <a:noFill/>
        </p:spPr>
        <p:txBody>
          <a:bodyPr wrap="square" rtlCol="0">
            <a:spAutoFit/>
          </a:bodyPr>
          <a:lstStyle/>
          <a:p>
            <a:r>
              <a:rPr lang="en-US" sz="2800" b="1" dirty="0">
                <a:latin typeface="Gill Sans MT" panose="020B0502020104020203" pitchFamily="34" charset="0"/>
              </a:rPr>
              <a:t>3</a:t>
            </a:r>
            <a:endParaRPr lang="en-IN" sz="2800" b="1" dirty="0">
              <a:latin typeface="Gill Sans MT" panose="020B0502020104020203" pitchFamily="34" charset="0"/>
            </a:endParaRPr>
          </a:p>
        </p:txBody>
      </p:sp>
      <p:sp>
        <p:nvSpPr>
          <p:cNvPr id="10" name="TextBox 9">
            <a:extLst>
              <a:ext uri="{FF2B5EF4-FFF2-40B4-BE49-F238E27FC236}">
                <a16:creationId xmlns:a16="http://schemas.microsoft.com/office/drawing/2014/main" id="{E42B51D5-6995-1844-3CE8-3A7B7E726083}"/>
              </a:ext>
            </a:extLst>
          </p:cNvPr>
          <p:cNvSpPr txBox="1"/>
          <p:nvPr/>
        </p:nvSpPr>
        <p:spPr>
          <a:xfrm>
            <a:off x="5548182" y="1155388"/>
            <a:ext cx="8266671" cy="954107"/>
          </a:xfrm>
          <a:prstGeom prst="rect">
            <a:avLst/>
          </a:prstGeom>
          <a:noFill/>
        </p:spPr>
        <p:txBody>
          <a:bodyPr wrap="square">
            <a:spAutoFit/>
          </a:bodyPr>
          <a:lstStyle/>
          <a:p>
            <a:r>
              <a:rPr lang="en-IN" sz="2800" dirty="0">
                <a:latin typeface="Gill Sans MT" panose="020B0502020104020203" pitchFamily="34" charset="0"/>
              </a:rPr>
              <a:t>A campaign ran for eight weeks. The conclusion is</a:t>
            </a:r>
          </a:p>
          <a:p>
            <a:r>
              <a:rPr lang="en-IN" sz="2800" b="1" i="1" dirty="0">
                <a:latin typeface="Gill Sans MT" panose="020B0502020104020203" pitchFamily="34" charset="0"/>
              </a:rPr>
              <a:t>“Sales are consistently growing.”</a:t>
            </a:r>
          </a:p>
        </p:txBody>
      </p:sp>
      <p:sp>
        <p:nvSpPr>
          <p:cNvPr id="3" name="TextBox 2">
            <a:extLst>
              <a:ext uri="{FF2B5EF4-FFF2-40B4-BE49-F238E27FC236}">
                <a16:creationId xmlns:a16="http://schemas.microsoft.com/office/drawing/2014/main" id="{89544CC0-DB72-AFB8-1DE2-909BA5B480B8}"/>
              </a:ext>
            </a:extLst>
          </p:cNvPr>
          <p:cNvSpPr txBox="1"/>
          <p:nvPr/>
        </p:nvSpPr>
        <p:spPr>
          <a:xfrm>
            <a:off x="5548182" y="2162183"/>
            <a:ext cx="8628038" cy="1384995"/>
          </a:xfrm>
          <a:prstGeom prst="rect">
            <a:avLst/>
          </a:prstGeom>
          <a:noFill/>
        </p:spPr>
        <p:txBody>
          <a:bodyPr wrap="square">
            <a:spAutoFit/>
          </a:bodyPr>
          <a:lstStyle/>
          <a:p>
            <a:r>
              <a:rPr lang="en-IN" sz="2800" b="1" dirty="0">
                <a:latin typeface="Gill Sans MT" panose="020B0502020104020203" pitchFamily="34" charset="0"/>
              </a:rPr>
              <a:t>Issue</a:t>
            </a:r>
          </a:p>
          <a:p>
            <a:r>
              <a:rPr lang="en-IN" sz="2800" dirty="0"/>
              <a:t>Showing only the final three weeks may conceal an earlier decline.</a:t>
            </a:r>
            <a:endParaRPr lang="en-IN" sz="2800" dirty="0">
              <a:latin typeface="Gill Sans MT" panose="020B0502020104020203" pitchFamily="34" charset="0"/>
            </a:endParaRPr>
          </a:p>
        </p:txBody>
      </p:sp>
      <p:pic>
        <p:nvPicPr>
          <p:cNvPr id="7" name="Picture 6">
            <a:extLst>
              <a:ext uri="{FF2B5EF4-FFF2-40B4-BE49-F238E27FC236}">
                <a16:creationId xmlns:a16="http://schemas.microsoft.com/office/drawing/2014/main" id="{C06E4A8D-D7BE-1A8D-CB59-1E880E33834B}"/>
              </a:ext>
            </a:extLst>
          </p:cNvPr>
          <p:cNvPicPr>
            <a:picLocks noChangeAspect="1"/>
          </p:cNvPicPr>
          <p:nvPr/>
        </p:nvPicPr>
        <p:blipFill>
          <a:blip r:embed="rId3"/>
          <a:stretch>
            <a:fillRect/>
          </a:stretch>
        </p:blipFill>
        <p:spPr>
          <a:xfrm>
            <a:off x="905202" y="1155388"/>
            <a:ext cx="4511431" cy="2720576"/>
          </a:xfrm>
          <a:prstGeom prst="rect">
            <a:avLst/>
          </a:prstGeom>
          <a:ln>
            <a:solidFill>
              <a:schemeClr val="tx1"/>
            </a:solidFill>
          </a:ln>
        </p:spPr>
      </p:pic>
      <p:graphicFrame>
        <p:nvGraphicFramePr>
          <p:cNvPr id="8" name="Table 7">
            <a:extLst>
              <a:ext uri="{FF2B5EF4-FFF2-40B4-BE49-F238E27FC236}">
                <a16:creationId xmlns:a16="http://schemas.microsoft.com/office/drawing/2014/main" id="{50D1355E-6C86-603A-A2AA-52C88A5F7971}"/>
              </a:ext>
            </a:extLst>
          </p:cNvPr>
          <p:cNvGraphicFramePr>
            <a:graphicFrameLocks noGrp="1"/>
          </p:cNvGraphicFramePr>
          <p:nvPr>
            <p:extLst>
              <p:ext uri="{D42A27DB-BD31-4B8C-83A1-F6EECF244321}">
                <p14:modId xmlns:p14="http://schemas.microsoft.com/office/powerpoint/2010/main" val="977903409"/>
              </p:ext>
            </p:extLst>
          </p:nvPr>
        </p:nvGraphicFramePr>
        <p:xfrm>
          <a:off x="905202" y="4568461"/>
          <a:ext cx="4822444" cy="1676400"/>
        </p:xfrm>
        <a:graphic>
          <a:graphicData uri="http://schemas.openxmlformats.org/drawingml/2006/table">
            <a:tbl>
              <a:tblPr>
                <a:tableStyleId>{D7AC3CCA-C797-4891-BE02-D94E43425B78}</a:tableStyleId>
              </a:tblPr>
              <a:tblGrid>
                <a:gridCol w="1136333">
                  <a:extLst>
                    <a:ext uri="{9D8B030D-6E8A-4147-A177-3AD203B41FA5}">
                      <a16:colId xmlns:a16="http://schemas.microsoft.com/office/drawing/2014/main" val="3516336283"/>
                    </a:ext>
                  </a:extLst>
                </a:gridCol>
                <a:gridCol w="933640">
                  <a:extLst>
                    <a:ext uri="{9D8B030D-6E8A-4147-A177-3AD203B41FA5}">
                      <a16:colId xmlns:a16="http://schemas.microsoft.com/office/drawing/2014/main" val="2441077535"/>
                    </a:ext>
                  </a:extLst>
                </a:gridCol>
                <a:gridCol w="2752471">
                  <a:extLst>
                    <a:ext uri="{9D8B030D-6E8A-4147-A177-3AD203B41FA5}">
                      <a16:colId xmlns:a16="http://schemas.microsoft.com/office/drawing/2014/main" val="1856060018"/>
                    </a:ext>
                  </a:extLst>
                </a:gridCol>
              </a:tblGrid>
              <a:tr h="182880">
                <a:tc>
                  <a:txBody>
                    <a:bodyPr/>
                    <a:lstStyle/>
                    <a:p>
                      <a:pPr algn="ctr" fontAlgn="ctr">
                        <a:buNone/>
                      </a:pPr>
                      <a:r>
                        <a:rPr lang="en-IN" sz="2400" b="1" u="none" strike="noStrike" dirty="0">
                          <a:effectLst/>
                          <a:latin typeface="Gill Sans MT" panose="020B0502020104020203" pitchFamily="34" charset="0"/>
                        </a:rPr>
                        <a:t>Project</a:t>
                      </a:r>
                      <a:endParaRPr lang="en-IN" sz="2400" b="1" i="0" u="none" strike="noStrike" dirty="0">
                        <a:solidFill>
                          <a:srgbClr val="000000"/>
                        </a:solidFill>
                        <a:effectLst/>
                        <a:latin typeface="Gill Sans MT" panose="020B0502020104020203" pitchFamily="34" charset="0"/>
                      </a:endParaRPr>
                    </a:p>
                  </a:txBody>
                  <a:tcPr marL="7620" marR="7620" marT="7620" marB="0" anchor="ctr">
                    <a:solidFill>
                      <a:srgbClr val="FFC000"/>
                    </a:solidFill>
                  </a:tcPr>
                </a:tc>
                <a:tc>
                  <a:txBody>
                    <a:bodyPr/>
                    <a:lstStyle/>
                    <a:p>
                      <a:pPr algn="r" fontAlgn="ctr">
                        <a:buNone/>
                      </a:pPr>
                      <a:r>
                        <a:rPr lang="en-IN" sz="2400" b="1" u="none" strike="noStrike" dirty="0">
                          <a:effectLst/>
                          <a:latin typeface="Gill Sans MT" panose="020B0502020104020203" pitchFamily="34" charset="0"/>
                        </a:rPr>
                        <a:t>Score</a:t>
                      </a:r>
                      <a:endParaRPr lang="en-IN" sz="2400" b="1" i="0" u="none" strike="noStrike" dirty="0">
                        <a:solidFill>
                          <a:srgbClr val="000000"/>
                        </a:solidFill>
                        <a:effectLst/>
                        <a:latin typeface="Gill Sans MT" panose="020B0502020104020203" pitchFamily="34" charset="0"/>
                      </a:endParaRPr>
                    </a:p>
                  </a:txBody>
                  <a:tcPr marL="7620" marR="7620" marT="7620" marB="0" anchor="ctr">
                    <a:solidFill>
                      <a:srgbClr val="FFC000"/>
                    </a:solidFill>
                  </a:tcPr>
                </a:tc>
                <a:tc>
                  <a:txBody>
                    <a:bodyPr/>
                    <a:lstStyle/>
                    <a:p>
                      <a:pPr algn="r" fontAlgn="ctr">
                        <a:buNone/>
                      </a:pPr>
                      <a:r>
                        <a:rPr lang="en-IN" sz="2400" b="1" u="none" strike="noStrike" dirty="0">
                          <a:effectLst/>
                          <a:latin typeface="Gill Sans MT" panose="020B0502020104020203" pitchFamily="34" charset="0"/>
                        </a:rPr>
                        <a:t>Maximum possible</a:t>
                      </a:r>
                      <a:endParaRPr lang="en-IN" sz="2400" b="1" i="0" u="none" strike="noStrike" dirty="0">
                        <a:solidFill>
                          <a:srgbClr val="000000"/>
                        </a:solidFill>
                        <a:effectLst/>
                        <a:latin typeface="Gill Sans MT" panose="020B0502020104020203" pitchFamily="34" charset="0"/>
                      </a:endParaRPr>
                    </a:p>
                  </a:txBody>
                  <a:tcPr marL="7620" marR="7620" marT="7620" marB="0" anchor="ctr">
                    <a:solidFill>
                      <a:srgbClr val="FFC000"/>
                    </a:solidFill>
                  </a:tcPr>
                </a:tc>
                <a:extLst>
                  <a:ext uri="{0D108BD9-81ED-4DB2-BD59-A6C34878D82A}">
                    <a16:rowId xmlns:a16="http://schemas.microsoft.com/office/drawing/2014/main" val="4217609732"/>
                  </a:ext>
                </a:extLst>
              </a:tr>
              <a:tr h="182880">
                <a:tc>
                  <a:txBody>
                    <a:bodyPr/>
                    <a:lstStyle/>
                    <a:p>
                      <a:pPr algn="ctr" fontAlgn="ctr">
                        <a:buNone/>
                      </a:pPr>
                      <a:r>
                        <a:rPr lang="en-IN" sz="2800" u="none" strike="noStrike" dirty="0">
                          <a:effectLst/>
                          <a:latin typeface="Gill Sans MT" panose="020B0502020104020203" pitchFamily="34" charset="0"/>
                        </a:rPr>
                        <a:t>A</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8</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10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149558875"/>
                  </a:ext>
                </a:extLst>
              </a:tr>
              <a:tr h="182880">
                <a:tc>
                  <a:txBody>
                    <a:bodyPr/>
                    <a:lstStyle/>
                    <a:p>
                      <a:pPr algn="ctr" fontAlgn="ctr">
                        <a:buNone/>
                      </a:pPr>
                      <a:r>
                        <a:rPr lang="en-IN" sz="2800" u="none" strike="noStrike" dirty="0">
                          <a:effectLst/>
                          <a:latin typeface="Gill Sans MT" panose="020B0502020104020203" pitchFamily="34" charset="0"/>
                        </a:rPr>
                        <a:t>B</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40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50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2635312836"/>
                  </a:ext>
                </a:extLst>
              </a:tr>
              <a:tr h="182880">
                <a:tc>
                  <a:txBody>
                    <a:bodyPr/>
                    <a:lstStyle/>
                    <a:p>
                      <a:pPr algn="ctr" fontAlgn="ctr">
                        <a:buNone/>
                      </a:pPr>
                      <a:r>
                        <a:rPr lang="en-IN" sz="2800" u="none" strike="noStrike" dirty="0">
                          <a:effectLst/>
                          <a:latin typeface="Gill Sans MT" panose="020B0502020104020203" pitchFamily="34" charset="0"/>
                        </a:rPr>
                        <a:t>C</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80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100</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1008529426"/>
                  </a:ext>
                </a:extLst>
              </a:tr>
            </a:tbl>
          </a:graphicData>
        </a:graphic>
      </p:graphicFrame>
      <p:sp>
        <p:nvSpPr>
          <p:cNvPr id="9" name="TextBox 8">
            <a:extLst>
              <a:ext uri="{FF2B5EF4-FFF2-40B4-BE49-F238E27FC236}">
                <a16:creationId xmlns:a16="http://schemas.microsoft.com/office/drawing/2014/main" id="{D26A42F6-F1E0-743E-387F-C663C244077A}"/>
              </a:ext>
            </a:extLst>
          </p:cNvPr>
          <p:cNvSpPr txBox="1"/>
          <p:nvPr/>
        </p:nvSpPr>
        <p:spPr>
          <a:xfrm>
            <a:off x="228738" y="4568461"/>
            <a:ext cx="451022" cy="523220"/>
          </a:xfrm>
          <a:prstGeom prst="rect">
            <a:avLst/>
          </a:prstGeom>
          <a:noFill/>
        </p:spPr>
        <p:txBody>
          <a:bodyPr wrap="square" rtlCol="0">
            <a:spAutoFit/>
          </a:bodyPr>
          <a:lstStyle/>
          <a:p>
            <a:r>
              <a:rPr lang="en-US" sz="2800" b="1" dirty="0">
                <a:latin typeface="Gill Sans MT" panose="020B0502020104020203" pitchFamily="34" charset="0"/>
              </a:rPr>
              <a:t>4</a:t>
            </a:r>
            <a:endParaRPr lang="en-IN" sz="2800" b="1" dirty="0">
              <a:latin typeface="Gill Sans MT" panose="020B0502020104020203" pitchFamily="34" charset="0"/>
            </a:endParaRPr>
          </a:p>
        </p:txBody>
      </p:sp>
      <p:sp>
        <p:nvSpPr>
          <p:cNvPr id="13" name="TextBox 12">
            <a:extLst>
              <a:ext uri="{FF2B5EF4-FFF2-40B4-BE49-F238E27FC236}">
                <a16:creationId xmlns:a16="http://schemas.microsoft.com/office/drawing/2014/main" id="{1D31551F-8024-DCA0-6DC1-AA19B2B50476}"/>
              </a:ext>
            </a:extLst>
          </p:cNvPr>
          <p:cNvSpPr txBox="1"/>
          <p:nvPr/>
        </p:nvSpPr>
        <p:spPr>
          <a:xfrm>
            <a:off x="5847834" y="4568461"/>
            <a:ext cx="8328385" cy="954107"/>
          </a:xfrm>
          <a:prstGeom prst="rect">
            <a:avLst/>
          </a:prstGeom>
          <a:noFill/>
        </p:spPr>
        <p:txBody>
          <a:bodyPr wrap="square">
            <a:spAutoFit/>
          </a:bodyPr>
          <a:lstStyle/>
          <a:p>
            <a:r>
              <a:rPr lang="en-IN" sz="2800" b="1" dirty="0">
                <a:latin typeface="Gill Sans MT" panose="020B0502020104020203" pitchFamily="34" charset="0"/>
              </a:rPr>
              <a:t>Presentation headline: </a:t>
            </a:r>
          </a:p>
          <a:p>
            <a:r>
              <a:rPr lang="en-IN" sz="2800" dirty="0">
                <a:latin typeface="Gill Sans MT" panose="020B0502020104020203" pitchFamily="34" charset="0"/>
              </a:rPr>
              <a:t>“Project C performs ten times better than Team A.”</a:t>
            </a:r>
          </a:p>
        </p:txBody>
      </p:sp>
      <p:sp>
        <p:nvSpPr>
          <p:cNvPr id="16" name="TextBox 15">
            <a:extLst>
              <a:ext uri="{FF2B5EF4-FFF2-40B4-BE49-F238E27FC236}">
                <a16:creationId xmlns:a16="http://schemas.microsoft.com/office/drawing/2014/main" id="{9983BAF1-441A-67A5-6D7F-7021ACF9AAEF}"/>
              </a:ext>
            </a:extLst>
          </p:cNvPr>
          <p:cNvSpPr txBox="1"/>
          <p:nvPr/>
        </p:nvSpPr>
        <p:spPr>
          <a:xfrm>
            <a:off x="5847834" y="5589744"/>
            <a:ext cx="8226511" cy="1384995"/>
          </a:xfrm>
          <a:prstGeom prst="rect">
            <a:avLst/>
          </a:prstGeom>
          <a:noFill/>
        </p:spPr>
        <p:txBody>
          <a:bodyPr wrap="square">
            <a:spAutoFit/>
          </a:bodyPr>
          <a:lstStyle/>
          <a:p>
            <a:r>
              <a:rPr lang="en-IN" sz="2800" b="1" dirty="0">
                <a:latin typeface="Gill Sans MT" panose="020B0502020104020203" pitchFamily="34" charset="0"/>
              </a:rPr>
              <a:t>Issue</a:t>
            </a:r>
          </a:p>
          <a:p>
            <a:r>
              <a:rPr lang="en-IN" sz="2800" dirty="0">
                <a:latin typeface="Gill Sans MT" panose="020B0502020104020203" pitchFamily="34" charset="0"/>
              </a:rPr>
              <a:t>The scores use different scales; all three teams actually achieved 80%</a:t>
            </a:r>
          </a:p>
        </p:txBody>
      </p:sp>
    </p:spTree>
    <p:extLst>
      <p:ext uri="{BB962C8B-B14F-4D97-AF65-F5344CB8AC3E}">
        <p14:creationId xmlns:p14="http://schemas.microsoft.com/office/powerpoint/2010/main" val="80566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3" grpId="0"/>
      <p:bldP spid="9" grpId="0"/>
      <p:bldP spid="13"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9AF75-D551-1E14-22A0-43E5AE13FD8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63BD5CE-ECDA-696F-DAF4-CECF126462E7}"/>
              </a:ext>
            </a:extLst>
          </p:cNvPr>
          <p:cNvSpPr txBox="1"/>
          <p:nvPr/>
        </p:nvSpPr>
        <p:spPr>
          <a:xfrm>
            <a:off x="228669" y="1109221"/>
            <a:ext cx="451022" cy="523220"/>
          </a:xfrm>
          <a:prstGeom prst="rect">
            <a:avLst/>
          </a:prstGeom>
          <a:noFill/>
        </p:spPr>
        <p:txBody>
          <a:bodyPr wrap="square" rtlCol="0">
            <a:spAutoFit/>
          </a:bodyPr>
          <a:lstStyle/>
          <a:p>
            <a:r>
              <a:rPr lang="en-US" sz="2800" b="1" dirty="0">
                <a:latin typeface="Gill Sans MT" panose="020B0502020104020203" pitchFamily="34" charset="0"/>
              </a:rPr>
              <a:t>5</a:t>
            </a:r>
            <a:endParaRPr lang="en-IN" sz="2800" b="1" dirty="0">
              <a:latin typeface="Gill Sans MT" panose="020B0502020104020203" pitchFamily="34" charset="0"/>
            </a:endParaRPr>
          </a:p>
        </p:txBody>
      </p:sp>
      <p:sp>
        <p:nvSpPr>
          <p:cNvPr id="9" name="TextBox 8">
            <a:extLst>
              <a:ext uri="{FF2B5EF4-FFF2-40B4-BE49-F238E27FC236}">
                <a16:creationId xmlns:a16="http://schemas.microsoft.com/office/drawing/2014/main" id="{8162EDEF-D4FB-5DBF-C89E-DDEE63A7AC00}"/>
              </a:ext>
            </a:extLst>
          </p:cNvPr>
          <p:cNvSpPr txBox="1"/>
          <p:nvPr/>
        </p:nvSpPr>
        <p:spPr>
          <a:xfrm>
            <a:off x="228738" y="4568461"/>
            <a:ext cx="451022" cy="523220"/>
          </a:xfrm>
          <a:prstGeom prst="rect">
            <a:avLst/>
          </a:prstGeom>
          <a:noFill/>
        </p:spPr>
        <p:txBody>
          <a:bodyPr wrap="square" rtlCol="0">
            <a:spAutoFit/>
          </a:bodyPr>
          <a:lstStyle/>
          <a:p>
            <a:r>
              <a:rPr lang="en-US" sz="2800" b="1" dirty="0">
                <a:latin typeface="Gill Sans MT" panose="020B0502020104020203" pitchFamily="34" charset="0"/>
              </a:rPr>
              <a:t>6</a:t>
            </a:r>
            <a:endParaRPr lang="en-IN" sz="2800" b="1" dirty="0">
              <a:latin typeface="Gill Sans MT" panose="020B0502020104020203" pitchFamily="34" charset="0"/>
            </a:endParaRPr>
          </a:p>
        </p:txBody>
      </p:sp>
      <p:graphicFrame>
        <p:nvGraphicFramePr>
          <p:cNvPr id="5" name="Table 4">
            <a:extLst>
              <a:ext uri="{FF2B5EF4-FFF2-40B4-BE49-F238E27FC236}">
                <a16:creationId xmlns:a16="http://schemas.microsoft.com/office/drawing/2014/main" id="{CACC4574-F7F0-D8D5-7CDC-BFFF6340EAD4}"/>
              </a:ext>
            </a:extLst>
          </p:cNvPr>
          <p:cNvGraphicFramePr>
            <a:graphicFrameLocks noGrp="1"/>
          </p:cNvGraphicFramePr>
          <p:nvPr>
            <p:extLst>
              <p:ext uri="{D42A27DB-BD31-4B8C-83A1-F6EECF244321}">
                <p14:modId xmlns:p14="http://schemas.microsoft.com/office/powerpoint/2010/main" val="1027791755"/>
              </p:ext>
            </p:extLst>
          </p:nvPr>
        </p:nvGraphicFramePr>
        <p:xfrm>
          <a:off x="905202" y="1163021"/>
          <a:ext cx="4822444" cy="1303020"/>
        </p:xfrm>
        <a:graphic>
          <a:graphicData uri="http://schemas.openxmlformats.org/drawingml/2006/table">
            <a:tbl>
              <a:tblPr>
                <a:tableStyleId>{D7AC3CCA-C797-4891-BE02-D94E43425B78}</a:tableStyleId>
              </a:tblPr>
              <a:tblGrid>
                <a:gridCol w="2384725">
                  <a:extLst>
                    <a:ext uri="{9D8B030D-6E8A-4147-A177-3AD203B41FA5}">
                      <a16:colId xmlns:a16="http://schemas.microsoft.com/office/drawing/2014/main" val="2931641447"/>
                    </a:ext>
                  </a:extLst>
                </a:gridCol>
                <a:gridCol w="2437719">
                  <a:extLst>
                    <a:ext uri="{9D8B030D-6E8A-4147-A177-3AD203B41FA5}">
                      <a16:colId xmlns:a16="http://schemas.microsoft.com/office/drawing/2014/main" val="587335159"/>
                    </a:ext>
                  </a:extLst>
                </a:gridCol>
              </a:tblGrid>
              <a:tr h="182880">
                <a:tc>
                  <a:txBody>
                    <a:bodyPr/>
                    <a:lstStyle/>
                    <a:p>
                      <a:pPr algn="ctr" fontAlgn="ctr">
                        <a:buNone/>
                      </a:pPr>
                      <a:r>
                        <a:rPr lang="en-IN" sz="2800" b="1" u="none" strike="noStrike" dirty="0">
                          <a:effectLst/>
                          <a:latin typeface="Gill Sans MT" panose="020B0502020104020203" pitchFamily="34" charset="0"/>
                        </a:rPr>
                        <a:t>Rating</a:t>
                      </a:r>
                      <a:endParaRPr lang="en-IN" sz="2800" b="1" i="0" u="none" strike="noStrike" dirty="0">
                        <a:solidFill>
                          <a:srgbClr val="000000"/>
                        </a:solidFill>
                        <a:effectLst/>
                        <a:latin typeface="Gill Sans MT" panose="020B0502020104020203" pitchFamily="34" charset="0"/>
                      </a:endParaRPr>
                    </a:p>
                  </a:txBody>
                  <a:tcPr marL="7620" marR="7620" marT="7620" marB="0" anchor="ctr">
                    <a:solidFill>
                      <a:srgbClr val="FFC000"/>
                    </a:solidFill>
                  </a:tcPr>
                </a:tc>
                <a:tc>
                  <a:txBody>
                    <a:bodyPr/>
                    <a:lstStyle/>
                    <a:p>
                      <a:pPr algn="ctr" fontAlgn="ctr">
                        <a:buNone/>
                      </a:pPr>
                      <a:r>
                        <a:rPr lang="en-IN" sz="2800" b="1" u="none" strike="noStrike" dirty="0">
                          <a:effectLst/>
                          <a:latin typeface="Gill Sans MT" panose="020B0502020104020203" pitchFamily="34" charset="0"/>
                        </a:rPr>
                        <a:t>Responses</a:t>
                      </a:r>
                      <a:endParaRPr lang="en-IN" sz="2800" b="1" i="0" u="none" strike="noStrike" dirty="0">
                        <a:solidFill>
                          <a:srgbClr val="000000"/>
                        </a:solidFill>
                        <a:effectLst/>
                        <a:latin typeface="Gill Sans MT" panose="020B0502020104020203" pitchFamily="34" charset="0"/>
                      </a:endParaRPr>
                    </a:p>
                  </a:txBody>
                  <a:tcPr marL="7620" marR="7620" marT="7620" marB="0" anchor="ctr">
                    <a:solidFill>
                      <a:srgbClr val="FFC000"/>
                    </a:solidFill>
                  </a:tcPr>
                </a:tc>
                <a:extLst>
                  <a:ext uri="{0D108BD9-81ED-4DB2-BD59-A6C34878D82A}">
                    <a16:rowId xmlns:a16="http://schemas.microsoft.com/office/drawing/2014/main" val="4250127063"/>
                  </a:ext>
                </a:extLst>
              </a:tr>
              <a:tr h="182880">
                <a:tc>
                  <a:txBody>
                    <a:bodyPr/>
                    <a:lstStyle/>
                    <a:p>
                      <a:pPr algn="ctr" fontAlgn="ctr">
                        <a:buNone/>
                      </a:pPr>
                      <a:r>
                        <a:rPr lang="en-IN" sz="2800" u="none" strike="noStrike" dirty="0">
                          <a:effectLst/>
                          <a:latin typeface="Gill Sans MT" panose="020B0502020104020203" pitchFamily="34" charset="0"/>
                        </a:rPr>
                        <a:t>Satisfied</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a:effectLst/>
                          <a:latin typeface="Gill Sans MT" panose="020B0502020104020203" pitchFamily="34" charset="0"/>
                        </a:rPr>
                        <a:t>9</a:t>
                      </a:r>
                      <a:endParaRPr lang="en-IN" sz="2800" b="0" i="0" u="none" strike="noStrike">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666596577"/>
                  </a:ext>
                </a:extLst>
              </a:tr>
              <a:tr h="182880">
                <a:tc>
                  <a:txBody>
                    <a:bodyPr/>
                    <a:lstStyle/>
                    <a:p>
                      <a:pPr algn="ctr" fontAlgn="ctr">
                        <a:buNone/>
                      </a:pPr>
                      <a:r>
                        <a:rPr lang="en-IN" sz="2800" u="none" strike="noStrike" dirty="0">
                          <a:effectLst/>
                          <a:latin typeface="Gill Sans MT" panose="020B0502020104020203" pitchFamily="34" charset="0"/>
                        </a:rPr>
                        <a:t>Not satisfied</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tc>
                  <a:txBody>
                    <a:bodyPr/>
                    <a:lstStyle/>
                    <a:p>
                      <a:pPr algn="ctr" fontAlgn="ctr">
                        <a:buNone/>
                      </a:pPr>
                      <a:r>
                        <a:rPr lang="en-IN" sz="2800" u="none" strike="noStrike" dirty="0">
                          <a:effectLst/>
                          <a:latin typeface="Gill Sans MT" panose="020B0502020104020203" pitchFamily="34" charset="0"/>
                        </a:rPr>
                        <a:t>1</a:t>
                      </a:r>
                      <a:endParaRPr lang="en-IN" sz="2800" b="0" i="0" u="none" strike="noStrike" dirty="0">
                        <a:solidFill>
                          <a:srgbClr val="000000"/>
                        </a:solidFill>
                        <a:effectLst/>
                        <a:latin typeface="Gill Sans MT" panose="020B0502020104020203" pitchFamily="34" charset="0"/>
                      </a:endParaRPr>
                    </a:p>
                  </a:txBody>
                  <a:tcPr marL="7620" marR="7620" marT="7620" marB="0" anchor="ctr">
                    <a:solidFill>
                      <a:schemeClr val="bg1"/>
                    </a:solidFill>
                  </a:tcPr>
                </a:tc>
                <a:extLst>
                  <a:ext uri="{0D108BD9-81ED-4DB2-BD59-A6C34878D82A}">
                    <a16:rowId xmlns:a16="http://schemas.microsoft.com/office/drawing/2014/main" val="3619174237"/>
                  </a:ext>
                </a:extLst>
              </a:tr>
            </a:tbl>
          </a:graphicData>
        </a:graphic>
      </p:graphicFrame>
      <p:sp>
        <p:nvSpPr>
          <p:cNvPr id="12" name="TextBox 11">
            <a:extLst>
              <a:ext uri="{FF2B5EF4-FFF2-40B4-BE49-F238E27FC236}">
                <a16:creationId xmlns:a16="http://schemas.microsoft.com/office/drawing/2014/main" id="{31F6E916-6DA8-D9D5-E157-1C54036FECCD}"/>
              </a:ext>
            </a:extLst>
          </p:cNvPr>
          <p:cNvSpPr txBox="1"/>
          <p:nvPr/>
        </p:nvSpPr>
        <p:spPr>
          <a:xfrm>
            <a:off x="5953157" y="1163021"/>
            <a:ext cx="8133546" cy="954107"/>
          </a:xfrm>
          <a:prstGeom prst="rect">
            <a:avLst/>
          </a:prstGeom>
          <a:noFill/>
        </p:spPr>
        <p:txBody>
          <a:bodyPr wrap="square">
            <a:spAutoFit/>
          </a:bodyPr>
          <a:lstStyle/>
          <a:p>
            <a:r>
              <a:rPr lang="en-IN" sz="2800" dirty="0">
                <a:latin typeface="Gill Sans MT" panose="020B0502020104020203" pitchFamily="34" charset="0"/>
              </a:rPr>
              <a:t>Product team conclusion on Customer Satisfaction: </a:t>
            </a:r>
          </a:p>
          <a:p>
            <a:r>
              <a:rPr lang="en-IN" sz="2800" b="1" i="1" dirty="0">
                <a:latin typeface="Gill Sans MT" panose="020B0502020104020203" pitchFamily="34" charset="0"/>
              </a:rPr>
              <a:t>“Customers overwhelmingly love the redesign.”</a:t>
            </a:r>
          </a:p>
        </p:txBody>
      </p:sp>
      <p:sp>
        <p:nvSpPr>
          <p:cNvPr id="15" name="TextBox 14">
            <a:extLst>
              <a:ext uri="{FF2B5EF4-FFF2-40B4-BE49-F238E27FC236}">
                <a16:creationId xmlns:a16="http://schemas.microsoft.com/office/drawing/2014/main" id="{9EEEA1AF-8892-6037-7820-345931223D06}"/>
              </a:ext>
            </a:extLst>
          </p:cNvPr>
          <p:cNvSpPr txBox="1"/>
          <p:nvPr/>
        </p:nvSpPr>
        <p:spPr>
          <a:xfrm>
            <a:off x="5953157" y="2148888"/>
            <a:ext cx="8034692" cy="1384995"/>
          </a:xfrm>
          <a:prstGeom prst="rect">
            <a:avLst/>
          </a:prstGeom>
          <a:noFill/>
        </p:spPr>
        <p:txBody>
          <a:bodyPr wrap="square">
            <a:spAutoFit/>
          </a:bodyPr>
          <a:lstStyle/>
          <a:p>
            <a:r>
              <a:rPr lang="en-IN" sz="2800" b="1" dirty="0">
                <a:latin typeface="Gill Sans MT" panose="020B0502020104020203" pitchFamily="34" charset="0"/>
              </a:rPr>
              <a:t>Issue</a:t>
            </a:r>
          </a:p>
          <a:p>
            <a:r>
              <a:rPr lang="en-IN" sz="2800" dirty="0">
                <a:latin typeface="Gill Sans MT" panose="020B0502020104020203" pitchFamily="34" charset="0"/>
              </a:rPr>
              <a:t>A sample of ten customers is too small to confidently represent the customer base.</a:t>
            </a:r>
          </a:p>
        </p:txBody>
      </p:sp>
      <p:pic>
        <p:nvPicPr>
          <p:cNvPr id="18" name="Picture 17">
            <a:extLst>
              <a:ext uri="{FF2B5EF4-FFF2-40B4-BE49-F238E27FC236}">
                <a16:creationId xmlns:a16="http://schemas.microsoft.com/office/drawing/2014/main" id="{2D15591C-6FD3-3494-9C13-CCD1E1BF5215}"/>
              </a:ext>
            </a:extLst>
          </p:cNvPr>
          <p:cNvPicPr>
            <a:picLocks noChangeAspect="1"/>
          </p:cNvPicPr>
          <p:nvPr/>
        </p:nvPicPr>
        <p:blipFill>
          <a:blip r:embed="rId3"/>
          <a:stretch>
            <a:fillRect/>
          </a:stretch>
        </p:blipFill>
        <p:spPr>
          <a:xfrm>
            <a:off x="905202" y="4016502"/>
            <a:ext cx="4534292" cy="2701524"/>
          </a:xfrm>
          <a:prstGeom prst="rect">
            <a:avLst/>
          </a:prstGeom>
          <a:ln>
            <a:solidFill>
              <a:schemeClr val="tx1"/>
            </a:solidFill>
          </a:ln>
        </p:spPr>
      </p:pic>
      <p:sp>
        <p:nvSpPr>
          <p:cNvPr id="20" name="TextBox 19">
            <a:extLst>
              <a:ext uri="{FF2B5EF4-FFF2-40B4-BE49-F238E27FC236}">
                <a16:creationId xmlns:a16="http://schemas.microsoft.com/office/drawing/2014/main" id="{6AC21567-4FFB-49C0-BE88-516B0B426270}"/>
              </a:ext>
            </a:extLst>
          </p:cNvPr>
          <p:cNvSpPr txBox="1"/>
          <p:nvPr/>
        </p:nvSpPr>
        <p:spPr>
          <a:xfrm>
            <a:off x="5953157" y="3982269"/>
            <a:ext cx="8034692" cy="1384995"/>
          </a:xfrm>
          <a:prstGeom prst="rect">
            <a:avLst/>
          </a:prstGeom>
          <a:noFill/>
        </p:spPr>
        <p:txBody>
          <a:bodyPr wrap="square">
            <a:spAutoFit/>
          </a:bodyPr>
          <a:lstStyle/>
          <a:p>
            <a:pPr>
              <a:buNone/>
            </a:pPr>
            <a:r>
              <a:rPr lang="en-IN" sz="2800" dirty="0">
                <a:latin typeface="Gill Sans MT" panose="020B0502020104020203" pitchFamily="34" charset="0"/>
              </a:rPr>
              <a:t>Office Attendance and Productivity across 3 departments. The l</a:t>
            </a:r>
            <a:r>
              <a:rPr lang="en-IN" sz="2800" i="1" dirty="0">
                <a:latin typeface="Gill Sans MT" panose="020B0502020104020203" pitchFamily="34" charset="0"/>
              </a:rPr>
              <a:t>eadership conclusion is</a:t>
            </a:r>
          </a:p>
          <a:p>
            <a:pPr>
              <a:buNone/>
            </a:pPr>
            <a:r>
              <a:rPr lang="en-IN" sz="2800" b="1" i="1" dirty="0">
                <a:latin typeface="Gill Sans MT" panose="020B0502020104020203" pitchFamily="34" charset="0"/>
              </a:rPr>
              <a:t>“More office attendance increases productivity.”</a:t>
            </a:r>
            <a:endParaRPr lang="en-IN" sz="2800" b="1" dirty="0">
              <a:latin typeface="Gill Sans MT" panose="020B0502020104020203" pitchFamily="34" charset="0"/>
            </a:endParaRPr>
          </a:p>
        </p:txBody>
      </p:sp>
      <p:sp>
        <p:nvSpPr>
          <p:cNvPr id="22" name="TextBox 21">
            <a:extLst>
              <a:ext uri="{FF2B5EF4-FFF2-40B4-BE49-F238E27FC236}">
                <a16:creationId xmlns:a16="http://schemas.microsoft.com/office/drawing/2014/main" id="{BE4895DF-8EFC-4FED-0101-CDB6F7F12163}"/>
              </a:ext>
            </a:extLst>
          </p:cNvPr>
          <p:cNvSpPr txBox="1"/>
          <p:nvPr/>
        </p:nvSpPr>
        <p:spPr>
          <a:xfrm>
            <a:off x="5953156" y="5492484"/>
            <a:ext cx="8454821" cy="1384995"/>
          </a:xfrm>
          <a:prstGeom prst="rect">
            <a:avLst/>
          </a:prstGeom>
          <a:noFill/>
        </p:spPr>
        <p:txBody>
          <a:bodyPr wrap="square">
            <a:spAutoFit/>
          </a:bodyPr>
          <a:lstStyle/>
          <a:p>
            <a:r>
              <a:rPr lang="en-IN" sz="2800" b="1" dirty="0">
                <a:latin typeface="Gill Sans MT" panose="020B0502020104020203" pitchFamily="34" charset="0"/>
              </a:rPr>
              <a:t>Issue</a:t>
            </a:r>
          </a:p>
          <a:p>
            <a:r>
              <a:rPr lang="en-IN" sz="2800" dirty="0">
                <a:latin typeface="Gill Sans MT" panose="020B0502020104020203" pitchFamily="34" charset="0"/>
              </a:rPr>
              <a:t>The association does not prove causation; team size, task complexity and experience could explain the difference.</a:t>
            </a:r>
          </a:p>
        </p:txBody>
      </p:sp>
    </p:spTree>
    <p:extLst>
      <p:ext uri="{BB962C8B-B14F-4D97-AF65-F5344CB8AC3E}">
        <p14:creationId xmlns:p14="http://schemas.microsoft.com/office/powerpoint/2010/main" val="129084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P spid="15" grpId="0"/>
      <p:bldP spid="20" grpId="0"/>
      <p:bldP spid="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19A2-0B8A-E891-0BED-D236A4529231}"/>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B8953730-E061-426A-1D01-677A84AF6CFF}"/>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4:  Decisions Under Uncertainty</a:t>
            </a:r>
          </a:p>
        </p:txBody>
      </p:sp>
      <p:sp>
        <p:nvSpPr>
          <p:cNvPr id="8" name="TextBox 7">
            <a:extLst>
              <a:ext uri="{FF2B5EF4-FFF2-40B4-BE49-F238E27FC236}">
                <a16:creationId xmlns:a16="http://schemas.microsoft.com/office/drawing/2014/main" id="{BB4BAD4E-3CB7-737D-33E2-E36D59219AE7}"/>
              </a:ext>
            </a:extLst>
          </p:cNvPr>
          <p:cNvSpPr txBox="1"/>
          <p:nvPr/>
        </p:nvSpPr>
        <p:spPr>
          <a:xfrm>
            <a:off x="232890" y="2106254"/>
            <a:ext cx="9825508" cy="4401205"/>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Gill Sans MT" panose="020B0502020104020203" pitchFamily="34" charset="0"/>
              </a:rPr>
              <a:t>Taking a decision is a combination of</a:t>
            </a:r>
          </a:p>
          <a:p>
            <a:pPr marL="914400" lvl="1" indent="-457200">
              <a:buFont typeface="Wingdings" panose="05000000000000000000" pitchFamily="2" charset="2"/>
              <a:buChar char="ü"/>
            </a:pPr>
            <a:r>
              <a:rPr lang="en-IN" sz="2800" dirty="0">
                <a:latin typeface="Gill Sans MT" panose="020B0502020104020203" pitchFamily="34" charset="0"/>
              </a:rPr>
              <a:t>Judgement</a:t>
            </a:r>
          </a:p>
          <a:p>
            <a:pPr marL="914400" lvl="1" indent="-457200">
              <a:buFont typeface="Wingdings" panose="05000000000000000000" pitchFamily="2" charset="2"/>
              <a:buChar char="ü"/>
            </a:pPr>
            <a:r>
              <a:rPr lang="en-IN" sz="2800" dirty="0">
                <a:latin typeface="Gill Sans MT" panose="020B0502020104020203" pitchFamily="34" charset="0"/>
              </a:rPr>
              <a:t>Evidence</a:t>
            </a:r>
          </a:p>
          <a:p>
            <a:pPr marL="914400" lvl="1" indent="-457200">
              <a:buFont typeface="Wingdings" panose="05000000000000000000" pitchFamily="2" charset="2"/>
              <a:buChar char="ü"/>
            </a:pPr>
            <a:r>
              <a:rPr lang="en-IN" sz="2800" dirty="0">
                <a:latin typeface="Gill Sans MT" panose="020B0502020104020203" pitchFamily="34" charset="0"/>
              </a:rPr>
              <a:t>Risk awareness</a:t>
            </a:r>
          </a:p>
          <a:p>
            <a:pPr lvl="1"/>
            <a:endParaRPr lang="en-IN" sz="2800" dirty="0">
              <a:latin typeface="Gill Sans MT" panose="020B0502020104020203" pitchFamily="34" charset="0"/>
            </a:endParaRPr>
          </a:p>
          <a:p>
            <a:pPr marL="457200" indent="-457200">
              <a:buFont typeface="Arial" panose="020B0604020202020204" pitchFamily="34" charset="0"/>
              <a:buChar char="•"/>
            </a:pPr>
            <a:r>
              <a:rPr lang="en-IN" sz="2800" dirty="0">
                <a:latin typeface="Gill Sans MT" panose="020B0502020104020203" pitchFamily="34" charset="0"/>
              </a:rPr>
              <a:t>Analyse the following Business scenario and decide whether to </a:t>
            </a:r>
          </a:p>
          <a:p>
            <a:pPr marL="914400" lvl="1" indent="-457200">
              <a:buFont typeface="Wingdings" panose="05000000000000000000" pitchFamily="2" charset="2"/>
              <a:buChar char="ü"/>
            </a:pPr>
            <a:r>
              <a:rPr lang="en-IN" sz="2800" dirty="0">
                <a:latin typeface="Gill Sans MT" panose="020B0502020104020203" pitchFamily="34" charset="0"/>
              </a:rPr>
              <a:t>L</a:t>
            </a:r>
            <a:r>
              <a:rPr lang="en-IN" sz="2800" dirty="0"/>
              <a:t>aunch</a:t>
            </a:r>
          </a:p>
          <a:p>
            <a:pPr marL="914400" lvl="1" indent="-457200">
              <a:buFont typeface="Wingdings" panose="05000000000000000000" pitchFamily="2" charset="2"/>
              <a:buChar char="ü"/>
            </a:pPr>
            <a:r>
              <a:rPr lang="en-IN" sz="2800" dirty="0"/>
              <a:t>Pause</a:t>
            </a:r>
          </a:p>
          <a:p>
            <a:pPr marL="914400" lvl="1" indent="-457200">
              <a:buFont typeface="Wingdings" panose="05000000000000000000" pitchFamily="2" charset="2"/>
              <a:buChar char="ü"/>
            </a:pPr>
            <a:r>
              <a:rPr lang="en-IN" sz="2800" dirty="0"/>
              <a:t>Escalate</a:t>
            </a:r>
          </a:p>
          <a:p>
            <a:pPr marL="914400" lvl="1" indent="-457200">
              <a:buFont typeface="Wingdings" panose="05000000000000000000" pitchFamily="2" charset="2"/>
              <a:buChar char="ü"/>
            </a:pPr>
            <a:r>
              <a:rPr lang="en-IN" sz="2800" dirty="0"/>
              <a:t>Investigate</a:t>
            </a:r>
          </a:p>
        </p:txBody>
      </p:sp>
      <p:pic>
        <p:nvPicPr>
          <p:cNvPr id="10" name="Picture 9">
            <a:extLst>
              <a:ext uri="{FF2B5EF4-FFF2-40B4-BE49-F238E27FC236}">
                <a16:creationId xmlns:a16="http://schemas.microsoft.com/office/drawing/2014/main" id="{FEA70440-1265-864D-E47B-9686B3BF728A}"/>
              </a:ext>
            </a:extLst>
          </p:cNvPr>
          <p:cNvPicPr>
            <a:picLocks noChangeAspect="1"/>
          </p:cNvPicPr>
          <p:nvPr/>
        </p:nvPicPr>
        <p:blipFill>
          <a:blip r:embed="rId3"/>
          <a:stretch>
            <a:fillRect/>
          </a:stretch>
        </p:blipFill>
        <p:spPr>
          <a:xfrm>
            <a:off x="10674820" y="1574228"/>
            <a:ext cx="3039858" cy="1923695"/>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TextBox 2">
            <a:extLst>
              <a:ext uri="{FF2B5EF4-FFF2-40B4-BE49-F238E27FC236}">
                <a16:creationId xmlns:a16="http://schemas.microsoft.com/office/drawing/2014/main" id="{D276B547-5CDF-BD8A-D6A5-75F6F9ACA401}"/>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US" sz="3200" dirty="0">
                <a:latin typeface="Gill Sans MT" panose="020B0502020104020203" pitchFamily="34" charset="0"/>
              </a:rPr>
              <a:t>Making Sound decisions</a:t>
            </a:r>
            <a:endParaRPr lang="en-IN" sz="3200" dirty="0">
              <a:latin typeface="Gill Sans MT" panose="020B0502020104020203" pitchFamily="34" charset="0"/>
            </a:endParaRPr>
          </a:p>
        </p:txBody>
      </p:sp>
    </p:spTree>
    <p:extLst>
      <p:ext uri="{BB962C8B-B14F-4D97-AF65-F5344CB8AC3E}">
        <p14:creationId xmlns:p14="http://schemas.microsoft.com/office/powerpoint/2010/main" val="2228781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52724-D483-737F-2F70-791D37C3CB2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67C5741-3926-FA48-0424-A37DE7B97D42}"/>
              </a:ext>
            </a:extLst>
          </p:cNvPr>
          <p:cNvSpPr txBox="1"/>
          <p:nvPr/>
        </p:nvSpPr>
        <p:spPr>
          <a:xfrm>
            <a:off x="287294" y="1381624"/>
            <a:ext cx="5384457" cy="5693866"/>
          </a:xfrm>
          <a:prstGeom prst="rect">
            <a:avLst/>
          </a:prstGeom>
          <a:noFill/>
          <a:ln>
            <a:solidFill>
              <a:schemeClr val="tx1"/>
            </a:solidFill>
          </a:ln>
        </p:spPr>
        <p:txBody>
          <a:bodyPr wrap="square">
            <a:spAutoFit/>
          </a:bodyPr>
          <a:lstStyle/>
          <a:p>
            <a:pPr>
              <a:buNone/>
            </a:pPr>
            <a:r>
              <a:rPr lang="en-IN" sz="2800" dirty="0">
                <a:latin typeface="Gill Sans MT" panose="020B0502020104020203" pitchFamily="34" charset="0"/>
              </a:rPr>
              <a:t>Your company plans to launch a customer ordering app tomorrow.</a:t>
            </a:r>
          </a:p>
          <a:p>
            <a:pPr>
              <a:buNone/>
            </a:pPr>
            <a:endParaRPr lang="en-IN" sz="2800" dirty="0">
              <a:latin typeface="Gill Sans MT" panose="020B0502020104020203" pitchFamily="34" charset="0"/>
            </a:endParaRPr>
          </a:p>
          <a:p>
            <a:pPr marL="342900" lvl="0" indent="-342900">
              <a:buFont typeface="Arial" panose="020B0604020202020204" pitchFamily="34" charset="0"/>
              <a:buChar char="•"/>
            </a:pPr>
            <a:r>
              <a:rPr lang="en-IN" sz="2800" b="1" dirty="0">
                <a:latin typeface="Gill Sans MT" panose="020B0502020104020203" pitchFamily="34" charset="0"/>
              </a:rPr>
              <a:t>95 out of 100 test orders</a:t>
            </a:r>
            <a:r>
              <a:rPr lang="en-IN" sz="2800" dirty="0">
                <a:latin typeface="Gill Sans MT" panose="020B0502020104020203" pitchFamily="34" charset="0"/>
              </a:rPr>
              <a:t> were completed successfully.</a:t>
            </a:r>
          </a:p>
          <a:p>
            <a:pPr marL="342900" lvl="0" indent="-342900">
              <a:buFont typeface="Arial" panose="020B0604020202020204" pitchFamily="34" charset="0"/>
              <a:buChar char="•"/>
            </a:pPr>
            <a:r>
              <a:rPr lang="en-IN" sz="2800" b="1" dirty="0">
                <a:latin typeface="Gill Sans MT" panose="020B0502020104020203" pitchFamily="34" charset="0"/>
              </a:rPr>
              <a:t>5 orders failed</a:t>
            </a:r>
            <a:r>
              <a:rPr lang="en-IN" sz="2800" dirty="0">
                <a:latin typeface="Gill Sans MT" panose="020B0502020104020203" pitchFamily="34" charset="0"/>
              </a:rPr>
              <a:t>, but the cause is still unknown.</a:t>
            </a:r>
          </a:p>
          <a:p>
            <a:pPr marL="342900" lvl="0" indent="-342900">
              <a:buFont typeface="Arial" panose="020B0604020202020204" pitchFamily="34" charset="0"/>
              <a:buChar char="•"/>
            </a:pPr>
            <a:r>
              <a:rPr lang="en-IN" sz="2800" dirty="0">
                <a:latin typeface="Gill Sans MT" panose="020B0502020104020203" pitchFamily="34" charset="0"/>
              </a:rPr>
              <a:t>Marketing has already announced the launch.</a:t>
            </a:r>
          </a:p>
          <a:p>
            <a:pPr marL="342900" lvl="0" indent="-342900">
              <a:buFont typeface="Arial" panose="020B0604020202020204" pitchFamily="34" charset="0"/>
              <a:buChar char="•"/>
            </a:pPr>
            <a:endParaRPr lang="en-IN" sz="2800" dirty="0">
              <a:latin typeface="Gill Sans MT" panose="020B0502020104020203" pitchFamily="34" charset="0"/>
            </a:endParaRPr>
          </a:p>
          <a:p>
            <a:pPr marL="342900" lvl="0" indent="-342900">
              <a:buFont typeface="Arial" panose="020B0604020202020204" pitchFamily="34" charset="0"/>
              <a:buChar char="•"/>
            </a:pPr>
            <a:r>
              <a:rPr lang="en-IN" sz="2800" dirty="0">
                <a:latin typeface="Gill Sans MT" panose="020B0502020104020203" pitchFamily="34" charset="0"/>
              </a:rPr>
              <a:t>The project manager says</a:t>
            </a:r>
          </a:p>
          <a:p>
            <a:pPr lvl="0"/>
            <a:r>
              <a:rPr lang="en-IN" sz="2800" b="1" i="1" dirty="0">
                <a:latin typeface="Gill Sans MT" panose="020B0502020104020203" pitchFamily="34" charset="0"/>
              </a:rPr>
              <a:t>“We can fix any remaining issues after launch.”</a:t>
            </a:r>
          </a:p>
        </p:txBody>
      </p:sp>
      <p:sp>
        <p:nvSpPr>
          <p:cNvPr id="7" name="TextBox 6">
            <a:extLst>
              <a:ext uri="{FF2B5EF4-FFF2-40B4-BE49-F238E27FC236}">
                <a16:creationId xmlns:a16="http://schemas.microsoft.com/office/drawing/2014/main" id="{727BBA56-DADB-DF95-D9A7-B65FBA78509A}"/>
              </a:ext>
            </a:extLst>
          </p:cNvPr>
          <p:cNvSpPr txBox="1"/>
          <p:nvPr/>
        </p:nvSpPr>
        <p:spPr>
          <a:xfrm>
            <a:off x="7812559" y="858404"/>
            <a:ext cx="4247636" cy="523220"/>
          </a:xfrm>
          <a:prstGeom prst="rect">
            <a:avLst/>
          </a:prstGeom>
          <a:noFill/>
        </p:spPr>
        <p:txBody>
          <a:bodyPr wrap="square">
            <a:spAutoFit/>
          </a:bodyPr>
          <a:lstStyle/>
          <a:p>
            <a:pPr algn="ctr">
              <a:buNone/>
            </a:pPr>
            <a:r>
              <a:rPr lang="en-IN" sz="2800" dirty="0">
                <a:latin typeface="Gill Sans MT" panose="020B0502020104020203" pitchFamily="34" charset="0"/>
              </a:rPr>
              <a:t>Your team must decide</a:t>
            </a:r>
          </a:p>
        </p:txBody>
      </p:sp>
      <p:graphicFrame>
        <p:nvGraphicFramePr>
          <p:cNvPr id="9" name="Table 8">
            <a:extLst>
              <a:ext uri="{FF2B5EF4-FFF2-40B4-BE49-F238E27FC236}">
                <a16:creationId xmlns:a16="http://schemas.microsoft.com/office/drawing/2014/main" id="{BD1E0EBC-02FF-25D7-01AC-70F987C5F19F}"/>
              </a:ext>
            </a:extLst>
          </p:cNvPr>
          <p:cNvGraphicFramePr>
            <a:graphicFrameLocks noGrp="1"/>
          </p:cNvGraphicFramePr>
          <p:nvPr>
            <p:extLst>
              <p:ext uri="{D42A27DB-BD31-4B8C-83A1-F6EECF244321}">
                <p14:modId xmlns:p14="http://schemas.microsoft.com/office/powerpoint/2010/main" val="2221047046"/>
              </p:ext>
            </p:extLst>
          </p:nvPr>
        </p:nvGraphicFramePr>
        <p:xfrm>
          <a:off x="6120234" y="1381624"/>
          <a:ext cx="8222872" cy="3017520"/>
        </p:xfrm>
        <a:graphic>
          <a:graphicData uri="http://schemas.openxmlformats.org/drawingml/2006/table">
            <a:tbl>
              <a:tblPr>
                <a:tableStyleId>{D7AC3CCA-C797-4891-BE02-D94E43425B78}</a:tableStyleId>
              </a:tblPr>
              <a:tblGrid>
                <a:gridCol w="1558036">
                  <a:extLst>
                    <a:ext uri="{9D8B030D-6E8A-4147-A177-3AD203B41FA5}">
                      <a16:colId xmlns:a16="http://schemas.microsoft.com/office/drawing/2014/main" val="2978881232"/>
                    </a:ext>
                  </a:extLst>
                </a:gridCol>
                <a:gridCol w="6664836">
                  <a:extLst>
                    <a:ext uri="{9D8B030D-6E8A-4147-A177-3AD203B41FA5}">
                      <a16:colId xmlns:a16="http://schemas.microsoft.com/office/drawing/2014/main" val="4267204622"/>
                    </a:ext>
                  </a:extLst>
                </a:gridCol>
              </a:tblGrid>
              <a:tr h="0">
                <a:tc>
                  <a:txBody>
                    <a:bodyPr/>
                    <a:lstStyle/>
                    <a:p>
                      <a:pPr algn="ctr">
                        <a:buNone/>
                      </a:pPr>
                      <a:r>
                        <a:rPr lang="en-IN" sz="2400" b="1" dirty="0">
                          <a:latin typeface="Gill Sans MT" panose="020B0502020104020203" pitchFamily="34" charset="0"/>
                        </a:rPr>
                        <a:t>Option</a:t>
                      </a:r>
                    </a:p>
                  </a:txBody>
                  <a:tcPr anchor="ctr">
                    <a:solidFill>
                      <a:srgbClr val="FFC000"/>
                    </a:solidFill>
                  </a:tcPr>
                </a:tc>
                <a:tc>
                  <a:txBody>
                    <a:bodyPr/>
                    <a:lstStyle/>
                    <a:p>
                      <a:pPr algn="ctr">
                        <a:buNone/>
                      </a:pPr>
                      <a:r>
                        <a:rPr lang="en-IN" sz="2400" b="1" dirty="0">
                          <a:latin typeface="Gill Sans MT" panose="020B0502020104020203" pitchFamily="34" charset="0"/>
                        </a:rPr>
                        <a:t>Action</a:t>
                      </a:r>
                    </a:p>
                  </a:txBody>
                  <a:tcPr anchor="ctr">
                    <a:solidFill>
                      <a:srgbClr val="FFC000"/>
                    </a:solidFill>
                  </a:tcPr>
                </a:tc>
                <a:extLst>
                  <a:ext uri="{0D108BD9-81ED-4DB2-BD59-A6C34878D82A}">
                    <a16:rowId xmlns:a16="http://schemas.microsoft.com/office/drawing/2014/main" val="1156652680"/>
                  </a:ext>
                </a:extLst>
              </a:tr>
              <a:tr h="0">
                <a:tc>
                  <a:txBody>
                    <a:bodyPr/>
                    <a:lstStyle/>
                    <a:p>
                      <a:pPr algn="ctr">
                        <a:buNone/>
                      </a:pPr>
                      <a:r>
                        <a:rPr lang="en-IN" sz="2400" dirty="0">
                          <a:latin typeface="Gill Sans MT" panose="020B0502020104020203" pitchFamily="34" charset="0"/>
                        </a:rPr>
                        <a:t>Launch</a:t>
                      </a:r>
                    </a:p>
                  </a:txBody>
                  <a:tcPr anchor="ctr">
                    <a:solidFill>
                      <a:schemeClr val="bg1"/>
                    </a:solidFill>
                  </a:tcPr>
                </a:tc>
                <a:tc>
                  <a:txBody>
                    <a:bodyPr/>
                    <a:lstStyle/>
                    <a:p>
                      <a:pPr>
                        <a:buNone/>
                      </a:pPr>
                      <a:r>
                        <a:rPr lang="en-IN" sz="2400">
                          <a:latin typeface="Gill Sans MT" panose="020B0502020104020203" pitchFamily="34" charset="0"/>
                        </a:rPr>
                        <a:t>Release the app tomorrow as planned.</a:t>
                      </a:r>
                    </a:p>
                  </a:txBody>
                  <a:tcPr anchor="ctr">
                    <a:solidFill>
                      <a:schemeClr val="bg1"/>
                    </a:solidFill>
                  </a:tcPr>
                </a:tc>
                <a:extLst>
                  <a:ext uri="{0D108BD9-81ED-4DB2-BD59-A6C34878D82A}">
                    <a16:rowId xmlns:a16="http://schemas.microsoft.com/office/drawing/2014/main" val="3283642268"/>
                  </a:ext>
                </a:extLst>
              </a:tr>
              <a:tr h="0">
                <a:tc>
                  <a:txBody>
                    <a:bodyPr/>
                    <a:lstStyle/>
                    <a:p>
                      <a:pPr algn="ctr">
                        <a:buNone/>
                      </a:pPr>
                      <a:r>
                        <a:rPr lang="en-IN" sz="2400" dirty="0">
                          <a:latin typeface="Gill Sans MT" panose="020B0502020104020203" pitchFamily="34" charset="0"/>
                        </a:rPr>
                        <a:t>Pause</a:t>
                      </a:r>
                    </a:p>
                  </a:txBody>
                  <a:tcPr anchor="ctr">
                    <a:solidFill>
                      <a:schemeClr val="bg1"/>
                    </a:solidFill>
                  </a:tcPr>
                </a:tc>
                <a:tc>
                  <a:txBody>
                    <a:bodyPr/>
                    <a:lstStyle/>
                    <a:p>
                      <a:pPr>
                        <a:buNone/>
                      </a:pPr>
                      <a:r>
                        <a:rPr lang="en-IN" sz="2400">
                          <a:latin typeface="Gill Sans MT" panose="020B0502020104020203" pitchFamily="34" charset="0"/>
                        </a:rPr>
                        <a:t>Delay the release until the failures are resolved.</a:t>
                      </a:r>
                    </a:p>
                  </a:txBody>
                  <a:tcPr anchor="ctr">
                    <a:solidFill>
                      <a:schemeClr val="bg1"/>
                    </a:solidFill>
                  </a:tcPr>
                </a:tc>
                <a:extLst>
                  <a:ext uri="{0D108BD9-81ED-4DB2-BD59-A6C34878D82A}">
                    <a16:rowId xmlns:a16="http://schemas.microsoft.com/office/drawing/2014/main" val="2339492313"/>
                  </a:ext>
                </a:extLst>
              </a:tr>
              <a:tr h="0">
                <a:tc>
                  <a:txBody>
                    <a:bodyPr/>
                    <a:lstStyle/>
                    <a:p>
                      <a:pPr algn="ctr">
                        <a:buNone/>
                      </a:pPr>
                      <a:r>
                        <a:rPr lang="en-IN" sz="2400" dirty="0">
                          <a:latin typeface="Gill Sans MT" panose="020B0502020104020203" pitchFamily="34" charset="0"/>
                        </a:rPr>
                        <a:t>Escalate</a:t>
                      </a:r>
                    </a:p>
                  </a:txBody>
                  <a:tcPr anchor="ctr">
                    <a:solidFill>
                      <a:schemeClr val="bg1"/>
                    </a:solidFill>
                  </a:tcPr>
                </a:tc>
                <a:tc>
                  <a:txBody>
                    <a:bodyPr/>
                    <a:lstStyle/>
                    <a:p>
                      <a:pPr>
                        <a:buNone/>
                      </a:pPr>
                      <a:r>
                        <a:rPr lang="en-IN" sz="2400" dirty="0">
                          <a:latin typeface="Gill Sans MT" panose="020B0502020104020203" pitchFamily="34" charset="0"/>
                        </a:rPr>
                        <a:t>Ask the business head to decide whether to accept the risk.</a:t>
                      </a:r>
                    </a:p>
                  </a:txBody>
                  <a:tcPr anchor="ctr">
                    <a:solidFill>
                      <a:schemeClr val="bg1"/>
                    </a:solidFill>
                  </a:tcPr>
                </a:tc>
                <a:extLst>
                  <a:ext uri="{0D108BD9-81ED-4DB2-BD59-A6C34878D82A}">
                    <a16:rowId xmlns:a16="http://schemas.microsoft.com/office/drawing/2014/main" val="1745823164"/>
                  </a:ext>
                </a:extLst>
              </a:tr>
              <a:tr h="0">
                <a:tc>
                  <a:txBody>
                    <a:bodyPr/>
                    <a:lstStyle/>
                    <a:p>
                      <a:pPr algn="ctr">
                        <a:buNone/>
                      </a:pPr>
                      <a:r>
                        <a:rPr lang="en-IN" sz="2400" dirty="0">
                          <a:latin typeface="Gill Sans MT" panose="020B0502020104020203" pitchFamily="34" charset="0"/>
                        </a:rPr>
                        <a:t>Investigate</a:t>
                      </a:r>
                    </a:p>
                  </a:txBody>
                  <a:tcPr anchor="ctr">
                    <a:solidFill>
                      <a:schemeClr val="bg1"/>
                    </a:solidFill>
                  </a:tcPr>
                </a:tc>
                <a:tc>
                  <a:txBody>
                    <a:bodyPr/>
                    <a:lstStyle/>
                    <a:p>
                      <a:pPr>
                        <a:buNone/>
                      </a:pPr>
                      <a:r>
                        <a:rPr lang="en-IN" sz="2400" dirty="0">
                          <a:latin typeface="Gill Sans MT" panose="020B0502020104020203" pitchFamily="34" charset="0"/>
                        </a:rPr>
                        <a:t>Run targeted checks before making the launch decision.</a:t>
                      </a:r>
                    </a:p>
                  </a:txBody>
                  <a:tcPr anchor="ctr">
                    <a:solidFill>
                      <a:schemeClr val="bg1"/>
                    </a:solidFill>
                  </a:tcPr>
                </a:tc>
                <a:extLst>
                  <a:ext uri="{0D108BD9-81ED-4DB2-BD59-A6C34878D82A}">
                    <a16:rowId xmlns:a16="http://schemas.microsoft.com/office/drawing/2014/main" val="3610311163"/>
                  </a:ext>
                </a:extLst>
              </a:tr>
            </a:tbl>
          </a:graphicData>
        </a:graphic>
      </p:graphicFrame>
      <p:sp>
        <p:nvSpPr>
          <p:cNvPr id="11" name="TextBox 10">
            <a:extLst>
              <a:ext uri="{FF2B5EF4-FFF2-40B4-BE49-F238E27FC236}">
                <a16:creationId xmlns:a16="http://schemas.microsoft.com/office/drawing/2014/main" id="{DCF5796F-DC81-8E1B-05F5-64C1F97727F3}"/>
              </a:ext>
            </a:extLst>
          </p:cNvPr>
          <p:cNvSpPr txBox="1"/>
          <p:nvPr/>
        </p:nvSpPr>
        <p:spPr>
          <a:xfrm>
            <a:off x="6120233" y="4514586"/>
            <a:ext cx="8222872" cy="2677656"/>
          </a:xfrm>
          <a:prstGeom prst="rect">
            <a:avLst/>
          </a:prstGeom>
          <a:noFill/>
          <a:ln>
            <a:solidFill>
              <a:schemeClr val="tx1"/>
            </a:solidFill>
          </a:ln>
        </p:spPr>
        <p:txBody>
          <a:bodyPr wrap="square">
            <a:spAutoFit/>
          </a:bodyPr>
          <a:lstStyle/>
          <a:p>
            <a:pPr>
              <a:buNone/>
            </a:pPr>
            <a:r>
              <a:rPr lang="en-IN" sz="2800" b="1" dirty="0">
                <a:latin typeface="Gill Sans MT" panose="020B0502020104020203" pitchFamily="34" charset="0"/>
              </a:rPr>
              <a:t>Prepare a 30-second response</a:t>
            </a:r>
          </a:p>
          <a:p>
            <a:pPr>
              <a:buNone/>
            </a:pPr>
            <a:endParaRPr lang="en-IN" sz="2800" dirty="0">
              <a:latin typeface="Gill Sans MT" panose="020B0502020104020203" pitchFamily="34" charset="0"/>
            </a:endParaRPr>
          </a:p>
          <a:p>
            <a:pPr marL="514350" lvl="0" indent="-514350">
              <a:buFont typeface="+mj-lt"/>
              <a:buAutoNum type="arabicPeriod"/>
            </a:pPr>
            <a:r>
              <a:rPr lang="en-IN" sz="2800" dirty="0">
                <a:latin typeface="Gill Sans MT" panose="020B0502020104020203" pitchFamily="34" charset="0"/>
              </a:rPr>
              <a:t>What is your decision, and why?</a:t>
            </a:r>
          </a:p>
          <a:p>
            <a:pPr marL="514350" lvl="0" indent="-514350">
              <a:buFont typeface="+mj-lt"/>
              <a:buAutoNum type="arabicPeriod"/>
            </a:pPr>
            <a:r>
              <a:rPr lang="en-IN" sz="2800" dirty="0">
                <a:latin typeface="Gill Sans MT" panose="020B0502020104020203" pitchFamily="34" charset="0"/>
              </a:rPr>
              <a:t>Is your confidence </a:t>
            </a:r>
            <a:r>
              <a:rPr lang="en-IN" sz="2800" b="1" dirty="0">
                <a:latin typeface="Gill Sans MT" panose="020B0502020104020203" pitchFamily="34" charset="0"/>
              </a:rPr>
              <a:t>high, medium, or low</a:t>
            </a:r>
            <a:r>
              <a:rPr lang="en-IN" sz="2800" dirty="0">
                <a:latin typeface="Gill Sans MT" panose="020B0502020104020203" pitchFamily="34" charset="0"/>
              </a:rPr>
              <a:t>?</a:t>
            </a:r>
          </a:p>
          <a:p>
            <a:pPr marL="514350" lvl="0" indent="-514350">
              <a:buFont typeface="+mj-lt"/>
              <a:buAutoNum type="arabicPeriod"/>
            </a:pPr>
            <a:r>
              <a:rPr lang="en-IN" sz="2800" dirty="0">
                <a:latin typeface="Gill Sans MT" panose="020B0502020104020203" pitchFamily="34" charset="0"/>
              </a:rPr>
              <a:t>What </a:t>
            </a:r>
            <a:r>
              <a:rPr lang="en-IN" sz="2800" b="1" dirty="0">
                <a:latin typeface="Gill Sans MT" panose="020B0502020104020203" pitchFamily="34" charset="0"/>
              </a:rPr>
              <a:t>one missing piece of information</a:t>
            </a:r>
            <a:r>
              <a:rPr lang="en-IN" sz="2800" dirty="0">
                <a:latin typeface="Gill Sans MT" panose="020B0502020104020203" pitchFamily="34" charset="0"/>
              </a:rPr>
              <a:t> could change your decision?</a:t>
            </a:r>
          </a:p>
        </p:txBody>
      </p:sp>
    </p:spTree>
    <p:extLst>
      <p:ext uri="{BB962C8B-B14F-4D97-AF65-F5344CB8AC3E}">
        <p14:creationId xmlns:p14="http://schemas.microsoft.com/office/powerpoint/2010/main" val="41995858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453D6-D3ED-4F27-1BA0-F7C05BF09B6E}"/>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35FB1F5D-53BA-C8B6-C1E7-324AE0DA3F6E}"/>
              </a:ext>
            </a:extLst>
          </p:cNvPr>
          <p:cNvSpPr txBox="1">
            <a:spLocks/>
          </p:cNvSpPr>
          <p:nvPr/>
        </p:nvSpPr>
        <p:spPr>
          <a:xfrm>
            <a:off x="331746" y="109232"/>
            <a:ext cx="10356849" cy="646331"/>
          </a:xfrm>
          <a:prstGeom prst="rect">
            <a:avLst/>
          </a:prstGeom>
        </p:spPr>
        <p:txBody>
          <a:bodyPr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FFFF00"/>
                </a:solidFill>
                <a:latin typeface="Gill Sans MT" panose="020B0502020104020203" pitchFamily="34" charset="0"/>
              </a:rPr>
              <a:t>Activity 5:  One Minute Judgement Rule</a:t>
            </a:r>
          </a:p>
        </p:txBody>
      </p:sp>
      <p:sp>
        <p:nvSpPr>
          <p:cNvPr id="8" name="TextBox 7">
            <a:extLst>
              <a:ext uri="{FF2B5EF4-FFF2-40B4-BE49-F238E27FC236}">
                <a16:creationId xmlns:a16="http://schemas.microsoft.com/office/drawing/2014/main" id="{1FC5028A-9952-3B85-0F06-43EF02401712}"/>
              </a:ext>
            </a:extLst>
          </p:cNvPr>
          <p:cNvSpPr txBox="1"/>
          <p:nvPr/>
        </p:nvSpPr>
        <p:spPr>
          <a:xfrm>
            <a:off x="331746" y="2081541"/>
            <a:ext cx="9825508" cy="523220"/>
          </a:xfrm>
          <a:prstGeom prst="rect">
            <a:avLst/>
          </a:prstGeom>
          <a:noFill/>
        </p:spPr>
        <p:txBody>
          <a:bodyPr wrap="square">
            <a:spAutoFit/>
          </a:bodyPr>
          <a:lstStyle/>
          <a:p>
            <a:pPr marL="457200" indent="-457200">
              <a:buFont typeface="Arial" panose="020B0604020202020204" pitchFamily="34" charset="0"/>
              <a:buChar char="•"/>
            </a:pPr>
            <a:r>
              <a:rPr lang="en-IN" sz="2800" dirty="0"/>
              <a:t>What is your strategy to trust Data? List 1-2 points.</a:t>
            </a:r>
          </a:p>
        </p:txBody>
      </p:sp>
      <p:pic>
        <p:nvPicPr>
          <p:cNvPr id="3" name="Picture 2">
            <a:extLst>
              <a:ext uri="{FF2B5EF4-FFF2-40B4-BE49-F238E27FC236}">
                <a16:creationId xmlns:a16="http://schemas.microsoft.com/office/drawing/2014/main" id="{9922E03E-07B0-AB55-154E-7DF844E489BC}"/>
              </a:ext>
            </a:extLst>
          </p:cNvPr>
          <p:cNvPicPr>
            <a:picLocks noChangeAspect="1"/>
          </p:cNvPicPr>
          <p:nvPr/>
        </p:nvPicPr>
        <p:blipFill>
          <a:blip r:embed="rId3"/>
          <a:stretch>
            <a:fillRect/>
          </a:stretch>
        </p:blipFill>
        <p:spPr>
          <a:xfrm>
            <a:off x="10674820" y="1574228"/>
            <a:ext cx="3039858" cy="2540572"/>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extBox 6">
            <a:extLst>
              <a:ext uri="{FF2B5EF4-FFF2-40B4-BE49-F238E27FC236}">
                <a16:creationId xmlns:a16="http://schemas.microsoft.com/office/drawing/2014/main" id="{9FD8AD9F-0D8E-18F4-F0B5-037BAB87C0AC}"/>
              </a:ext>
            </a:extLst>
          </p:cNvPr>
          <p:cNvSpPr txBox="1"/>
          <p:nvPr/>
        </p:nvSpPr>
        <p:spPr>
          <a:xfrm>
            <a:off x="223185" y="845131"/>
            <a:ext cx="8845893" cy="646986"/>
          </a:xfrm>
          <a:prstGeom prst="roundRect">
            <a:avLst/>
          </a:prstGeom>
          <a:solidFill>
            <a:srgbClr val="FFC000"/>
          </a:solidFill>
          <a:ln>
            <a:solidFill>
              <a:schemeClr val="tx1"/>
            </a:solidFill>
          </a:ln>
        </p:spPr>
        <p:txBody>
          <a:bodyPr wrap="square">
            <a:spAutoFit/>
          </a:bodyPr>
          <a:lstStyle/>
          <a:p>
            <a:r>
              <a:rPr lang="en-US" sz="3200" dirty="0">
                <a:latin typeface="Gill Sans MT" panose="020B0502020104020203" pitchFamily="34" charset="0"/>
              </a:rPr>
              <a:t>Convert Learning into a Workplace </a:t>
            </a:r>
            <a:r>
              <a:rPr lang="en-US" sz="3200" dirty="0" err="1">
                <a:latin typeface="Gill Sans MT" panose="020B0502020104020203" pitchFamily="34" charset="0"/>
              </a:rPr>
              <a:t>Behaviour</a:t>
            </a:r>
            <a:endParaRPr lang="en-IN" sz="3200" dirty="0">
              <a:latin typeface="Gill Sans MT" panose="020B0502020104020203" pitchFamily="34" charset="0"/>
            </a:endParaRPr>
          </a:p>
        </p:txBody>
      </p:sp>
    </p:spTree>
    <p:extLst>
      <p:ext uri="{BB962C8B-B14F-4D97-AF65-F5344CB8AC3E}">
        <p14:creationId xmlns:p14="http://schemas.microsoft.com/office/powerpoint/2010/main" val="4688230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FB63B-4051-496B-B432-E9094A2AB8E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0B7A825-51AE-55B1-BF92-609EA0B2EB97}"/>
              </a:ext>
            </a:extLst>
          </p:cNvPr>
          <p:cNvSpPr/>
          <p:nvPr/>
        </p:nvSpPr>
        <p:spPr>
          <a:xfrm>
            <a:off x="1063806" y="205989"/>
            <a:ext cx="3620530" cy="457548"/>
          </a:xfrm>
          <a:prstGeom prst="roundRect">
            <a:avLst/>
          </a:prstGeom>
          <a:solidFill>
            <a:srgbClr val="00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Gill Sans MT" panose="020B0502020104020203" pitchFamily="34" charset="0"/>
              </a:rPr>
              <a:t>5. Your First Month</a:t>
            </a:r>
            <a:endParaRPr lang="en-IN" sz="2000" b="1" dirty="0">
              <a:solidFill>
                <a:srgbClr val="FFFF00"/>
              </a:solidFill>
              <a:latin typeface="Gill Sans MT" panose="020B0502020104020203" pitchFamily="34" charset="0"/>
            </a:endParaRPr>
          </a:p>
        </p:txBody>
      </p:sp>
      <p:sp>
        <p:nvSpPr>
          <p:cNvPr id="9" name="TextBox 8">
            <a:extLst>
              <a:ext uri="{FF2B5EF4-FFF2-40B4-BE49-F238E27FC236}">
                <a16:creationId xmlns:a16="http://schemas.microsoft.com/office/drawing/2014/main" id="{28514C29-3321-07DB-3AEC-4485D5198E5F}"/>
              </a:ext>
            </a:extLst>
          </p:cNvPr>
          <p:cNvSpPr txBox="1"/>
          <p:nvPr/>
        </p:nvSpPr>
        <p:spPr>
          <a:xfrm>
            <a:off x="353305" y="1574228"/>
            <a:ext cx="9070161" cy="4832092"/>
          </a:xfrm>
          <a:prstGeom prst="rect">
            <a:avLst/>
          </a:prstGeom>
          <a:noFill/>
        </p:spPr>
        <p:txBody>
          <a:bodyPr wrap="square">
            <a:spAutoFit/>
          </a:bodyPr>
          <a:lstStyle/>
          <a:p>
            <a:pPr marL="514350" indent="-514350">
              <a:buFont typeface="+mj-lt"/>
              <a:buAutoNum type="arabicPeriod"/>
            </a:pPr>
            <a:r>
              <a:rPr lang="en-IN" sz="2800" dirty="0">
                <a:latin typeface="Gill Sans MT" panose="020B0502020104020203" pitchFamily="34" charset="0"/>
              </a:rPr>
              <a:t>List </a:t>
            </a:r>
            <a:r>
              <a:rPr lang="en-IN" sz="2800" b="1" dirty="0">
                <a:latin typeface="Gill Sans MT" panose="020B0502020104020203" pitchFamily="34" charset="0"/>
              </a:rPr>
              <a:t>three professional tasks </a:t>
            </a:r>
            <a:r>
              <a:rPr lang="en-IN" sz="2800" dirty="0">
                <a:latin typeface="Gill Sans MT" panose="020B0502020104020203" pitchFamily="34" charset="0"/>
              </a:rPr>
              <a:t>where AI could help. Choose one and explain the expected benefit.</a:t>
            </a:r>
          </a:p>
          <a:p>
            <a:pPr marL="514350" indent="-514350">
              <a:buFont typeface="+mj-lt"/>
              <a:buAutoNum type="arabicPeriod"/>
            </a:pPr>
            <a:endParaRPr lang="en-IN" sz="2800" dirty="0">
              <a:latin typeface="Gill Sans MT" panose="020B0502020104020203" pitchFamily="34" charset="0"/>
            </a:endParaRPr>
          </a:p>
          <a:p>
            <a:pPr marL="514350" indent="-514350">
              <a:buFont typeface="+mj-lt"/>
              <a:buAutoNum type="arabicPeriod"/>
            </a:pPr>
            <a:r>
              <a:rPr lang="en-IN" sz="2800" dirty="0">
                <a:latin typeface="Gill Sans MT" panose="020B0502020104020203" pitchFamily="34" charset="0"/>
              </a:rPr>
              <a:t>List down the skills that you need to learn and practice to use AI effectively</a:t>
            </a:r>
          </a:p>
          <a:p>
            <a:pPr marL="514350" indent="-514350">
              <a:buFont typeface="+mj-lt"/>
              <a:buAutoNum type="arabicPeriod"/>
            </a:pPr>
            <a:endParaRPr lang="en-IN" sz="2800" dirty="0">
              <a:latin typeface="Gill Sans MT" panose="020B0502020104020203" pitchFamily="34" charset="0"/>
            </a:endParaRPr>
          </a:p>
          <a:p>
            <a:pPr marL="514350" indent="-514350">
              <a:buFont typeface="+mj-lt"/>
              <a:buAutoNum type="arabicPeriod"/>
            </a:pPr>
            <a:r>
              <a:rPr lang="en-IN" sz="2800" dirty="0">
                <a:latin typeface="Gill Sans MT" panose="020B0502020104020203" pitchFamily="34" charset="0"/>
              </a:rPr>
              <a:t>Randomly select a </a:t>
            </a:r>
            <a:r>
              <a:rPr lang="en-IN" sz="2800" b="1" dirty="0">
                <a:latin typeface="Gill Sans MT" panose="020B0502020104020203" pitchFamily="34" charset="0"/>
              </a:rPr>
              <a:t>workplace challenge statement</a:t>
            </a:r>
            <a:r>
              <a:rPr lang="en-IN" sz="2800" dirty="0">
                <a:latin typeface="Gill Sans MT" panose="020B0502020104020203" pitchFamily="34" charset="0"/>
              </a:rPr>
              <a:t>. Prepare an AI-assisted solution and exchange it with another team for peer review. </a:t>
            </a:r>
          </a:p>
          <a:p>
            <a:r>
              <a:rPr lang="en-IN" sz="2800" dirty="0">
                <a:latin typeface="Gill Sans MT" panose="020B0502020104020203" pitchFamily="34" charset="0"/>
              </a:rPr>
              <a:t>     Review for </a:t>
            </a:r>
            <a:r>
              <a:rPr lang="en-IN" sz="2800" b="1" dirty="0">
                <a:latin typeface="Gill Sans MT" panose="020B0502020104020203" pitchFamily="34" charset="0"/>
              </a:rPr>
              <a:t>accuracy, practicality, risks and human </a:t>
            </a:r>
          </a:p>
          <a:p>
            <a:r>
              <a:rPr lang="en-IN" sz="2800" b="1" dirty="0">
                <a:latin typeface="Gill Sans MT" panose="020B0502020104020203" pitchFamily="34" charset="0"/>
              </a:rPr>
              <a:t>     judgement</a:t>
            </a:r>
            <a:r>
              <a:rPr lang="en-IN" sz="2800" dirty="0">
                <a:latin typeface="Gill Sans MT" panose="020B0502020104020203" pitchFamily="34" charset="0"/>
              </a:rPr>
              <a:t>, then improve your solution.</a:t>
            </a:r>
          </a:p>
        </p:txBody>
      </p:sp>
      <p:pic>
        <p:nvPicPr>
          <p:cNvPr id="5" name="Picture 4">
            <a:extLst>
              <a:ext uri="{FF2B5EF4-FFF2-40B4-BE49-F238E27FC236}">
                <a16:creationId xmlns:a16="http://schemas.microsoft.com/office/drawing/2014/main" id="{7722DA5C-912A-4F9D-A6F2-8B205948FD12}"/>
              </a:ext>
            </a:extLst>
          </p:cNvPr>
          <p:cNvPicPr>
            <a:picLocks noChangeAspect="1"/>
          </p:cNvPicPr>
          <p:nvPr/>
        </p:nvPicPr>
        <p:blipFill>
          <a:blip r:embed="rId3"/>
          <a:stretch>
            <a:fillRect/>
          </a:stretch>
        </p:blipFill>
        <p:spPr>
          <a:xfrm>
            <a:off x="92616" y="24714"/>
            <a:ext cx="857843" cy="79200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6201ABB1-881E-6C1F-4B0C-122E5414BD32}"/>
              </a:ext>
            </a:extLst>
          </p:cNvPr>
          <p:cNvPicPr>
            <a:picLocks noChangeAspect="1"/>
          </p:cNvPicPr>
          <p:nvPr/>
        </p:nvPicPr>
        <p:blipFill>
          <a:blip r:embed="rId4"/>
          <a:stretch>
            <a:fillRect/>
          </a:stretch>
        </p:blipFill>
        <p:spPr>
          <a:xfrm>
            <a:off x="9742015" y="1574228"/>
            <a:ext cx="4438650" cy="1162050"/>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a:contourClr>
              <a:srgbClr val="969696"/>
            </a:contourClr>
          </a:sp3d>
        </p:spPr>
      </p:pic>
    </p:spTree>
    <p:extLst>
      <p:ext uri="{BB962C8B-B14F-4D97-AF65-F5344CB8AC3E}">
        <p14:creationId xmlns:p14="http://schemas.microsoft.com/office/powerpoint/2010/main" val="24039922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951EF-93B7-D867-E3CC-620F522800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5547070-48B9-1461-F785-CC3A9501865F}"/>
              </a:ext>
            </a:extLst>
          </p:cNvPr>
          <p:cNvSpPr txBox="1"/>
          <p:nvPr/>
        </p:nvSpPr>
        <p:spPr>
          <a:xfrm>
            <a:off x="2421924" y="3183776"/>
            <a:ext cx="9205784" cy="1862048"/>
          </a:xfrm>
          <a:prstGeom prst="rect">
            <a:avLst/>
          </a:prstGeom>
          <a:noFill/>
        </p:spPr>
        <p:txBody>
          <a:bodyPr wrap="square">
            <a:spAutoFit/>
          </a:bodyPr>
          <a:lstStyle/>
          <a:p>
            <a:pPr algn="ctr">
              <a:buNone/>
            </a:pPr>
            <a:r>
              <a:rPr lang="en-IN" sz="11500" b="1" dirty="0">
                <a:effectLst>
                  <a:outerShdw blurRad="38100" dist="38100" dir="2700000" algn="tl">
                    <a:srgbClr val="000000">
                      <a:alpha val="43137"/>
                    </a:srgbClr>
                  </a:outerShdw>
                </a:effectLst>
                <a:latin typeface="Gill Sans MT" panose="020B0502020104020203" pitchFamily="34" charset="0"/>
              </a:rPr>
              <a:t>Thank You !!!</a:t>
            </a:r>
          </a:p>
        </p:txBody>
      </p:sp>
    </p:spTree>
    <p:extLst>
      <p:ext uri="{BB962C8B-B14F-4D97-AF65-F5344CB8AC3E}">
        <p14:creationId xmlns:p14="http://schemas.microsoft.com/office/powerpoint/2010/main" val="582956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1580</TotalTime>
  <Words>2804</Words>
  <Application>Microsoft Office PowerPoint</Application>
  <PresentationFormat>Custom</PresentationFormat>
  <Paragraphs>531</Paragraphs>
  <Slides>46</Slides>
  <Notes>46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Wingdings</vt:lpstr>
      <vt:lpstr>Tw Cen MT</vt:lpstr>
      <vt:lpstr>Aptos</vt:lpstr>
      <vt:lpstr>Arial</vt:lpstr>
      <vt:lpstr>Gill Sans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Sriraman Rajagopalan</cp:lastModifiedBy>
  <cp:revision>412</cp:revision>
  <dcterms:created xsi:type="dcterms:W3CDTF">2026-05-04T10:43:53Z</dcterms:created>
  <dcterms:modified xsi:type="dcterms:W3CDTF">2026-10-22T08:37:19Z</dcterms:modified>
</cp:coreProperties>
</file>